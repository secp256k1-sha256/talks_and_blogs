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6"/>
  </p:notesMasterIdLst>
  <p:sldIdLst>
    <p:sldId id="256" r:id="rId2"/>
    <p:sldId id="345" r:id="rId3"/>
    <p:sldId id="258" r:id="rId4"/>
    <p:sldId id="488" r:id="rId5"/>
    <p:sldId id="259" r:id="rId6"/>
    <p:sldId id="340" r:id="rId7"/>
    <p:sldId id="492" r:id="rId8"/>
    <p:sldId id="343" r:id="rId9"/>
    <p:sldId id="439" r:id="rId10"/>
    <p:sldId id="494" r:id="rId11"/>
    <p:sldId id="526" r:id="rId12"/>
    <p:sldId id="511" r:id="rId13"/>
    <p:sldId id="505" r:id="rId14"/>
    <p:sldId id="347" r:id="rId15"/>
    <p:sldId id="349" r:id="rId16"/>
    <p:sldId id="264" r:id="rId17"/>
    <p:sldId id="351" r:id="rId18"/>
    <p:sldId id="360" r:id="rId19"/>
    <p:sldId id="267" r:id="rId20"/>
    <p:sldId id="441" r:id="rId21"/>
    <p:sldId id="364" r:id="rId22"/>
    <p:sldId id="447" r:id="rId23"/>
    <p:sldId id="449" r:id="rId24"/>
    <p:sldId id="366" r:id="rId25"/>
    <p:sldId id="368" r:id="rId26"/>
    <p:sldId id="458" r:id="rId27"/>
    <p:sldId id="416" r:id="rId28"/>
    <p:sldId id="436" r:id="rId29"/>
    <p:sldId id="461" r:id="rId30"/>
    <p:sldId id="435" r:id="rId31"/>
    <p:sldId id="273" r:id="rId32"/>
    <p:sldId id="371" r:id="rId33"/>
    <p:sldId id="473" r:id="rId34"/>
    <p:sldId id="475" r:id="rId35"/>
    <p:sldId id="433" r:id="rId36"/>
    <p:sldId id="434" r:id="rId37"/>
    <p:sldId id="477" r:id="rId38"/>
    <p:sldId id="451" r:id="rId39"/>
    <p:sldId id="480" r:id="rId40"/>
    <p:sldId id="281" r:id="rId41"/>
    <p:sldId id="274" r:id="rId42"/>
    <p:sldId id="282" r:id="rId43"/>
    <p:sldId id="430" r:id="rId44"/>
    <p:sldId id="432" r:id="rId45"/>
    <p:sldId id="285" r:id="rId46"/>
    <p:sldId id="429" r:id="rId47"/>
    <p:sldId id="470" r:id="rId48"/>
    <p:sldId id="287" r:id="rId49"/>
    <p:sldId id="483" r:id="rId50"/>
    <p:sldId id="334" r:id="rId51"/>
    <p:sldId id="335" r:id="rId52"/>
    <p:sldId id="336" r:id="rId53"/>
    <p:sldId id="516" r:id="rId54"/>
    <p:sldId id="293" r:id="rId55"/>
    <p:sldId id="484" r:id="rId56"/>
    <p:sldId id="485" r:id="rId57"/>
    <p:sldId id="327" r:id="rId58"/>
    <p:sldId id="383" r:id="rId59"/>
    <p:sldId id="384" r:id="rId60"/>
    <p:sldId id="428" r:id="rId61"/>
    <p:sldId id="427" r:id="rId62"/>
    <p:sldId id="491" r:id="rId63"/>
    <p:sldId id="486" r:id="rId64"/>
    <p:sldId id="468" r:id="rId6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6EDC3B-20EF-473C-A5A0-5038DE5C2562}" v="5" dt="2026-10-13T06:35:59.8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44" d="100"/>
          <a:sy n="44" d="100"/>
        </p:scale>
        <p:origin x="14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yuresh Bagayatkar" userId="be8c369d-5329-4623-9262-d433756438f0" providerId="ADAL" clId="{FA696344-5978-414C-8921-572C426A0115}"/>
    <pc:docChg chg="undo redo custSel addSld delSld modSld sldOrd">
      <pc:chgData name="Mayuresh Bagayatkar" userId="be8c369d-5329-4623-9262-d433756438f0" providerId="ADAL" clId="{FA696344-5978-414C-8921-572C426A0115}" dt="2026-10-13T07:10:21.211" v="195" actId="2696"/>
      <pc:docMkLst>
        <pc:docMk/>
      </pc:docMkLst>
      <pc:sldChg chg="modSp mod">
        <pc:chgData name="Mayuresh Bagayatkar" userId="be8c369d-5329-4623-9262-d433756438f0" providerId="ADAL" clId="{FA696344-5978-414C-8921-572C426A0115}" dt="2026-10-11T23:03:58.287" v="14" actId="14100"/>
        <pc:sldMkLst>
          <pc:docMk/>
          <pc:sldMk cId="0" sldId="259"/>
        </pc:sldMkLst>
        <pc:spChg chg="mod">
          <ac:chgData name="Mayuresh Bagayatkar" userId="be8c369d-5329-4623-9262-d433756438f0" providerId="ADAL" clId="{FA696344-5978-414C-8921-572C426A0115}" dt="2026-10-11T23:03:58.287" v="14" actId="14100"/>
          <ac:spMkLst>
            <pc:docMk/>
            <pc:sldMk cId="0" sldId="259"/>
            <ac:spMk id="3" creationId="{00000000-0000-0000-0000-000000000000}"/>
          </ac:spMkLst>
        </pc:spChg>
      </pc:sldChg>
      <pc:sldChg chg="ord">
        <pc:chgData name="Mayuresh Bagayatkar" userId="be8c369d-5329-4623-9262-d433756438f0" providerId="ADAL" clId="{FA696344-5978-414C-8921-572C426A0115}" dt="2026-10-11T22:57:27.955" v="7"/>
        <pc:sldMkLst>
          <pc:docMk/>
          <pc:sldMk cId="0" sldId="293"/>
        </pc:sldMkLst>
      </pc:sldChg>
      <pc:sldChg chg="ord">
        <pc:chgData name="Mayuresh Bagayatkar" userId="be8c369d-5329-4623-9262-d433756438f0" providerId="ADAL" clId="{FA696344-5978-414C-8921-572C426A0115}" dt="2026-10-11T23:49:09.925" v="99"/>
        <pc:sldMkLst>
          <pc:docMk/>
          <pc:sldMk cId="1260785829" sldId="327"/>
        </pc:sldMkLst>
      </pc:sldChg>
      <pc:sldChg chg="ord">
        <pc:chgData name="Mayuresh Bagayatkar" userId="be8c369d-5329-4623-9262-d433756438f0" providerId="ADAL" clId="{FA696344-5978-414C-8921-572C426A0115}" dt="2026-10-11T22:57:01.848" v="1"/>
        <pc:sldMkLst>
          <pc:docMk/>
          <pc:sldMk cId="1390395644" sldId="334"/>
        </pc:sldMkLst>
      </pc:sldChg>
      <pc:sldChg chg="ord">
        <pc:chgData name="Mayuresh Bagayatkar" userId="be8c369d-5329-4623-9262-d433756438f0" providerId="ADAL" clId="{FA696344-5978-414C-8921-572C426A0115}" dt="2026-10-11T22:57:01.848" v="1"/>
        <pc:sldMkLst>
          <pc:docMk/>
          <pc:sldMk cId="3813951" sldId="335"/>
        </pc:sldMkLst>
      </pc:sldChg>
      <pc:sldChg chg="ord">
        <pc:chgData name="Mayuresh Bagayatkar" userId="be8c369d-5329-4623-9262-d433756438f0" providerId="ADAL" clId="{FA696344-5978-414C-8921-572C426A0115}" dt="2026-10-11T22:57:01.848" v="1"/>
        <pc:sldMkLst>
          <pc:docMk/>
          <pc:sldMk cId="82933736" sldId="336"/>
        </pc:sldMkLst>
      </pc:sldChg>
      <pc:sldChg chg="modSp mod">
        <pc:chgData name="Mayuresh Bagayatkar" userId="be8c369d-5329-4623-9262-d433756438f0" providerId="ADAL" clId="{FA696344-5978-414C-8921-572C426A0115}" dt="2026-10-11T23:46:45.758" v="95" actId="20577"/>
        <pc:sldMkLst>
          <pc:docMk/>
          <pc:sldMk cId="1930001162" sldId="449"/>
        </pc:sldMkLst>
        <pc:spChg chg="mod">
          <ac:chgData name="Mayuresh Bagayatkar" userId="be8c369d-5329-4623-9262-d433756438f0" providerId="ADAL" clId="{FA696344-5978-414C-8921-572C426A0115}" dt="2026-10-11T23:46:45.758" v="95" actId="20577"/>
          <ac:spMkLst>
            <pc:docMk/>
            <pc:sldMk cId="1930001162" sldId="449"/>
            <ac:spMk id="12" creationId="{00000000-0000-0000-0000-000000000000}"/>
          </ac:spMkLst>
        </pc:spChg>
        <pc:spChg chg="mod">
          <ac:chgData name="Mayuresh Bagayatkar" userId="be8c369d-5329-4623-9262-d433756438f0" providerId="ADAL" clId="{FA696344-5978-414C-8921-572C426A0115}" dt="2026-10-11T23:29:58.759" v="94" actId="20577"/>
          <ac:spMkLst>
            <pc:docMk/>
            <pc:sldMk cId="1930001162" sldId="449"/>
            <ac:spMk id="21" creationId="{00000000-0000-0000-0000-000000000000}"/>
          </ac:spMkLst>
        </pc:spChg>
      </pc:sldChg>
      <pc:sldChg chg="modSp add mod">
        <pc:chgData name="Mayuresh Bagayatkar" userId="be8c369d-5329-4623-9262-d433756438f0" providerId="ADAL" clId="{FA696344-5978-414C-8921-572C426A0115}" dt="2026-10-11T23:05:47.230" v="16" actId="1036"/>
        <pc:sldMkLst>
          <pc:docMk/>
          <pc:sldMk cId="2117283580" sldId="488"/>
        </pc:sldMkLst>
        <pc:spChg chg="mod">
          <ac:chgData name="Mayuresh Bagayatkar" userId="be8c369d-5329-4623-9262-d433756438f0" providerId="ADAL" clId="{FA696344-5978-414C-8921-572C426A0115}" dt="2026-10-11T23:03:50.698" v="13"/>
          <ac:spMkLst>
            <pc:docMk/>
            <pc:sldMk cId="2117283580" sldId="488"/>
            <ac:spMk id="10" creationId="{00000000-0000-0000-0000-000000000000}"/>
          </ac:spMkLst>
        </pc:spChg>
        <pc:picChg chg="mod">
          <ac:chgData name="Mayuresh Bagayatkar" userId="be8c369d-5329-4623-9262-d433756438f0" providerId="ADAL" clId="{FA696344-5978-414C-8921-572C426A0115}" dt="2026-10-11T23:05:47.230" v="16" actId="1036"/>
          <ac:picMkLst>
            <pc:docMk/>
            <pc:sldMk cId="2117283580" sldId="488"/>
            <ac:picMk id="2" creationId="{23A09A5B-DC51-E893-A051-A80DC87A53C9}"/>
          </ac:picMkLst>
        </pc:picChg>
      </pc:sldChg>
      <pc:sldChg chg="addSp delSp modSp add mod">
        <pc:chgData name="Mayuresh Bagayatkar" userId="be8c369d-5329-4623-9262-d433756438f0" providerId="ADAL" clId="{FA696344-5978-414C-8921-572C426A0115}" dt="2026-10-13T06:11:44.904" v="105"/>
        <pc:sldMkLst>
          <pc:docMk/>
          <pc:sldMk cId="1051289360" sldId="491"/>
        </pc:sldMkLst>
        <pc:spChg chg="add del mod">
          <ac:chgData name="Mayuresh Bagayatkar" userId="be8c369d-5329-4623-9262-d433756438f0" providerId="ADAL" clId="{FA696344-5978-414C-8921-572C426A0115}" dt="2026-10-13T06:11:44.904" v="105"/>
          <ac:spMkLst>
            <pc:docMk/>
            <pc:sldMk cId="1051289360" sldId="491"/>
            <ac:spMk id="2" creationId="{8899DAF3-556E-C591-D0CE-6DB5DC25B6BB}"/>
          </ac:spMkLst>
        </pc:spChg>
        <pc:spChg chg="mod">
          <ac:chgData name="Mayuresh Bagayatkar" userId="be8c369d-5329-4623-9262-d433756438f0" providerId="ADAL" clId="{FA696344-5978-414C-8921-572C426A0115}" dt="2026-10-11T23:21:16.972" v="54"/>
          <ac:spMkLst>
            <pc:docMk/>
            <pc:sldMk cId="1051289360" sldId="491"/>
            <ac:spMk id="24" creationId="{00000000-0000-0000-0000-000000000000}"/>
          </ac:spMkLst>
        </pc:spChg>
        <pc:spChg chg="mod">
          <ac:chgData name="Mayuresh Bagayatkar" userId="be8c369d-5329-4623-9262-d433756438f0" providerId="ADAL" clId="{FA696344-5978-414C-8921-572C426A0115}" dt="2026-10-11T23:21:16.972" v="55"/>
          <ac:spMkLst>
            <pc:docMk/>
            <pc:sldMk cId="1051289360" sldId="491"/>
            <ac:spMk id="25" creationId="{00000000-0000-0000-0000-000000000000}"/>
          </ac:spMkLst>
        </pc:spChg>
        <pc:spChg chg="mod">
          <ac:chgData name="Mayuresh Bagayatkar" userId="be8c369d-5329-4623-9262-d433756438f0" providerId="ADAL" clId="{FA696344-5978-414C-8921-572C426A0115}" dt="2026-10-13T06:11:38.613" v="102" actId="1035"/>
          <ac:spMkLst>
            <pc:docMk/>
            <pc:sldMk cId="1051289360" sldId="491"/>
            <ac:spMk id="26" creationId="{00000000-0000-0000-0000-000000000000}"/>
          </ac:spMkLst>
        </pc:spChg>
        <pc:spChg chg="mod">
          <ac:chgData name="Mayuresh Bagayatkar" userId="be8c369d-5329-4623-9262-d433756438f0" providerId="ADAL" clId="{FA696344-5978-414C-8921-572C426A0115}" dt="2026-10-11T23:21:16.978" v="57"/>
          <ac:spMkLst>
            <pc:docMk/>
            <pc:sldMk cId="1051289360" sldId="491"/>
            <ac:spMk id="27" creationId="{00000000-0000-0000-0000-000000000000}"/>
          </ac:spMkLst>
        </pc:spChg>
        <pc:spChg chg="mod">
          <ac:chgData name="Mayuresh Bagayatkar" userId="be8c369d-5329-4623-9262-d433756438f0" providerId="ADAL" clId="{FA696344-5978-414C-8921-572C426A0115}" dt="2026-10-11T23:21:16.978" v="58"/>
          <ac:spMkLst>
            <pc:docMk/>
            <pc:sldMk cId="1051289360" sldId="491"/>
            <ac:spMk id="28" creationId="{00000000-0000-0000-0000-000000000000}"/>
          </ac:spMkLst>
        </pc:spChg>
        <pc:spChg chg="mod">
          <ac:chgData name="Mayuresh Bagayatkar" userId="be8c369d-5329-4623-9262-d433756438f0" providerId="ADAL" clId="{FA696344-5978-414C-8921-572C426A0115}" dt="2026-10-11T23:21:16.978" v="59"/>
          <ac:spMkLst>
            <pc:docMk/>
            <pc:sldMk cId="1051289360" sldId="491"/>
            <ac:spMk id="29" creationId="{00000000-0000-0000-0000-000000000000}"/>
          </ac:spMkLst>
        </pc:spChg>
      </pc:sldChg>
      <pc:sldChg chg="addSp modSp new mod setBg">
        <pc:chgData name="Mayuresh Bagayatkar" userId="be8c369d-5329-4623-9262-d433756438f0" providerId="ADAL" clId="{FA696344-5978-414C-8921-572C426A0115}" dt="2026-10-11T23:26:47.420" v="62" actId="26606"/>
        <pc:sldMkLst>
          <pc:docMk/>
          <pc:sldMk cId="27181255" sldId="492"/>
        </pc:sldMkLst>
        <pc:spChg chg="add">
          <ac:chgData name="Mayuresh Bagayatkar" userId="be8c369d-5329-4623-9262-d433756438f0" providerId="ADAL" clId="{FA696344-5978-414C-8921-572C426A0115}" dt="2026-10-11T23:26:47.420" v="62" actId="26606"/>
          <ac:spMkLst>
            <pc:docMk/>
            <pc:sldMk cId="27181255" sldId="492"/>
            <ac:spMk id="8" creationId="{42A4FC2C-047E-45A5-965D-8E1E3BF09BC6}"/>
          </ac:spMkLst>
        </pc:spChg>
        <pc:picChg chg="add mod">
          <ac:chgData name="Mayuresh Bagayatkar" userId="be8c369d-5329-4623-9262-d433756438f0" providerId="ADAL" clId="{FA696344-5978-414C-8921-572C426A0115}" dt="2026-10-11T23:26:47.420" v="62" actId="26606"/>
          <ac:picMkLst>
            <pc:docMk/>
            <pc:sldMk cId="27181255" sldId="492"/>
            <ac:picMk id="3" creationId="{8AD475E1-8450-E258-2E49-81E58A26385F}"/>
          </ac:picMkLst>
        </pc:picChg>
      </pc:sldChg>
      <pc:sldChg chg="addSp delSp new add del mod modNotesTx">
        <pc:chgData name="Mayuresh Bagayatkar" userId="be8c369d-5329-4623-9262-d433756438f0" providerId="ADAL" clId="{FA696344-5978-414C-8921-572C426A0115}" dt="2026-10-13T06:36:50.401" v="146"/>
        <pc:sldMkLst>
          <pc:docMk/>
          <pc:sldMk cId="3575069687" sldId="493"/>
        </pc:sldMkLst>
        <pc:picChg chg="add del">
          <ac:chgData name="Mayuresh Bagayatkar" userId="be8c369d-5329-4623-9262-d433756438f0" providerId="ADAL" clId="{FA696344-5978-414C-8921-572C426A0115}" dt="2026-10-13T06:29:25.806" v="143" actId="22"/>
          <ac:picMkLst>
            <pc:docMk/>
            <pc:sldMk cId="3575069687" sldId="493"/>
            <ac:picMk id="3" creationId="{C71A32BD-EBF2-3830-3181-3E2000A326B1}"/>
          </ac:picMkLst>
        </pc:picChg>
      </pc:sldChg>
      <pc:sldChg chg="delSp modSp add mod">
        <pc:chgData name="Mayuresh Bagayatkar" userId="be8c369d-5329-4623-9262-d433756438f0" providerId="ADAL" clId="{FA696344-5978-414C-8921-572C426A0115}" dt="2026-10-13T06:38:02.910" v="148" actId="21"/>
        <pc:sldMkLst>
          <pc:docMk/>
          <pc:sldMk cId="1379134215" sldId="494"/>
        </pc:sldMkLst>
        <pc:spChg chg="del mod">
          <ac:chgData name="Mayuresh Bagayatkar" userId="be8c369d-5329-4623-9262-d433756438f0" providerId="ADAL" clId="{FA696344-5978-414C-8921-572C426A0115}" dt="2026-10-13T06:38:02.910" v="148" actId="21"/>
          <ac:spMkLst>
            <pc:docMk/>
            <pc:sldMk cId="1379134215" sldId="494"/>
            <ac:spMk id="12" creationId="{00000000-0000-0000-0000-000000000000}"/>
          </ac:spMkLst>
        </pc:spChg>
      </pc:sldChg>
      <pc:sldChg chg="add del">
        <pc:chgData name="Mayuresh Bagayatkar" userId="be8c369d-5329-4623-9262-d433756438f0" providerId="ADAL" clId="{FA696344-5978-414C-8921-572C426A0115}" dt="2026-10-13T06:29:21.821" v="141"/>
        <pc:sldMkLst>
          <pc:docMk/>
          <pc:sldMk cId="1442814879" sldId="494"/>
        </pc:sldMkLst>
      </pc:sldChg>
      <pc:sldChg chg="addSp delSp new del mod">
        <pc:chgData name="Mayuresh Bagayatkar" userId="be8c369d-5329-4623-9262-d433756438f0" providerId="ADAL" clId="{FA696344-5978-414C-8921-572C426A0115}" dt="2026-10-13T06:56:21.909" v="154" actId="2696"/>
        <pc:sldMkLst>
          <pc:docMk/>
          <pc:sldMk cId="2601602431" sldId="495"/>
        </pc:sldMkLst>
        <pc:picChg chg="add del">
          <ac:chgData name="Mayuresh Bagayatkar" userId="be8c369d-5329-4623-9262-d433756438f0" providerId="ADAL" clId="{FA696344-5978-414C-8921-572C426A0115}" dt="2026-10-13T06:56:15.147" v="153" actId="478"/>
          <ac:picMkLst>
            <pc:docMk/>
            <pc:sldMk cId="2601602431" sldId="495"/>
            <ac:picMk id="3" creationId="{049D7373-2AEA-9177-5C75-AE87CCFFA05B}"/>
          </ac:picMkLst>
        </pc:picChg>
      </pc:sldChg>
      <pc:sldChg chg="modSp add del mod">
        <pc:chgData name="Mayuresh Bagayatkar" userId="be8c369d-5329-4623-9262-d433756438f0" providerId="ADAL" clId="{FA696344-5978-414C-8921-572C426A0115}" dt="2026-10-13T06:29:12.431" v="136"/>
        <pc:sldMkLst>
          <pc:docMk/>
          <pc:sldMk cId="3046290467" sldId="495"/>
        </pc:sldMkLst>
        <pc:spChg chg="mod">
          <ac:chgData name="Mayuresh Bagayatkar" userId="be8c369d-5329-4623-9262-d433756438f0" providerId="ADAL" clId="{FA696344-5978-414C-8921-572C426A0115}" dt="2026-10-13T06:25:11.658" v="110"/>
          <ac:spMkLst>
            <pc:docMk/>
            <pc:sldMk cId="3046290467" sldId="495"/>
            <ac:spMk id="20" creationId="{00000000-0000-0000-0000-000000000000}"/>
          </ac:spMkLst>
        </pc:spChg>
        <pc:spChg chg="mod">
          <ac:chgData name="Mayuresh Bagayatkar" userId="be8c369d-5329-4623-9262-d433756438f0" providerId="ADAL" clId="{FA696344-5978-414C-8921-572C426A0115}" dt="2026-10-13T06:25:11.663" v="111"/>
          <ac:spMkLst>
            <pc:docMk/>
            <pc:sldMk cId="3046290467" sldId="495"/>
            <ac:spMk id="21" creationId="{00000000-0000-0000-0000-000000000000}"/>
          </ac:spMkLst>
        </pc:spChg>
        <pc:spChg chg="mod">
          <ac:chgData name="Mayuresh Bagayatkar" userId="be8c369d-5329-4623-9262-d433756438f0" providerId="ADAL" clId="{FA696344-5978-414C-8921-572C426A0115}" dt="2026-10-13T06:29:11.580" v="135"/>
          <ac:spMkLst>
            <pc:docMk/>
            <pc:sldMk cId="3046290467" sldId="495"/>
            <ac:spMk id="22" creationId="{00000000-0000-0000-0000-000000000000}"/>
          </ac:spMkLst>
        </pc:spChg>
        <pc:spChg chg="mod">
          <ac:chgData name="Mayuresh Bagayatkar" userId="be8c369d-5329-4623-9262-d433756438f0" providerId="ADAL" clId="{FA696344-5978-414C-8921-572C426A0115}" dt="2026-10-13T06:29:11.580" v="135"/>
          <ac:spMkLst>
            <pc:docMk/>
            <pc:sldMk cId="3046290467" sldId="495"/>
            <ac:spMk id="23" creationId="{00000000-0000-0000-0000-000000000000}"/>
          </ac:spMkLst>
        </pc:spChg>
        <pc:spChg chg="mod">
          <ac:chgData name="Mayuresh Bagayatkar" userId="be8c369d-5329-4623-9262-d433756438f0" providerId="ADAL" clId="{FA696344-5978-414C-8921-572C426A0115}" dt="2026-10-13T06:25:11.682" v="116"/>
          <ac:spMkLst>
            <pc:docMk/>
            <pc:sldMk cId="3046290467" sldId="495"/>
            <ac:spMk id="24" creationId="{00000000-0000-0000-0000-000000000000}"/>
          </ac:spMkLst>
        </pc:spChg>
        <pc:spChg chg="mod">
          <ac:chgData name="Mayuresh Bagayatkar" userId="be8c369d-5329-4623-9262-d433756438f0" providerId="ADAL" clId="{FA696344-5978-414C-8921-572C426A0115}" dt="2026-10-13T06:29:11.580" v="135"/>
          <ac:spMkLst>
            <pc:docMk/>
            <pc:sldMk cId="3046290467" sldId="495"/>
            <ac:spMk id="25" creationId="{00000000-0000-0000-0000-000000000000}"/>
          </ac:spMkLst>
        </pc:spChg>
        <pc:spChg chg="mod">
          <ac:chgData name="Mayuresh Bagayatkar" userId="be8c369d-5329-4623-9262-d433756438f0" providerId="ADAL" clId="{FA696344-5978-414C-8921-572C426A0115}" dt="2026-10-13T06:25:11.686" v="119"/>
          <ac:spMkLst>
            <pc:docMk/>
            <pc:sldMk cId="3046290467" sldId="495"/>
            <ac:spMk id="26" creationId="{00000000-0000-0000-0000-000000000000}"/>
          </ac:spMkLst>
        </pc:spChg>
        <pc:spChg chg="mod">
          <ac:chgData name="Mayuresh Bagayatkar" userId="be8c369d-5329-4623-9262-d433756438f0" providerId="ADAL" clId="{FA696344-5978-414C-8921-572C426A0115}" dt="2026-10-13T06:29:11.580" v="135"/>
          <ac:spMkLst>
            <pc:docMk/>
            <pc:sldMk cId="3046290467" sldId="495"/>
            <ac:spMk id="27" creationId="{00000000-0000-0000-0000-000000000000}"/>
          </ac:spMkLst>
        </pc:spChg>
        <pc:spChg chg="mod">
          <ac:chgData name="Mayuresh Bagayatkar" userId="be8c369d-5329-4623-9262-d433756438f0" providerId="ADAL" clId="{FA696344-5978-414C-8921-572C426A0115}" dt="2026-10-13T06:29:11.580" v="135"/>
          <ac:spMkLst>
            <pc:docMk/>
            <pc:sldMk cId="3046290467" sldId="495"/>
            <ac:spMk id="28" creationId="{00000000-0000-0000-0000-000000000000}"/>
          </ac:spMkLst>
        </pc:spChg>
        <pc:spChg chg="mod">
          <ac:chgData name="Mayuresh Bagayatkar" userId="be8c369d-5329-4623-9262-d433756438f0" providerId="ADAL" clId="{FA696344-5978-414C-8921-572C426A0115}" dt="2026-10-13T06:25:11.690" v="122"/>
          <ac:spMkLst>
            <pc:docMk/>
            <pc:sldMk cId="3046290467" sldId="495"/>
            <ac:spMk id="29" creationId="{00000000-0000-0000-0000-000000000000}"/>
          </ac:spMkLst>
        </pc:spChg>
        <pc:spChg chg="mod">
          <ac:chgData name="Mayuresh Bagayatkar" userId="be8c369d-5329-4623-9262-d433756438f0" providerId="ADAL" clId="{FA696344-5978-414C-8921-572C426A0115}" dt="2026-10-13T06:29:11.580" v="135"/>
          <ac:spMkLst>
            <pc:docMk/>
            <pc:sldMk cId="3046290467" sldId="495"/>
            <ac:spMk id="30" creationId="{00000000-0000-0000-0000-000000000000}"/>
          </ac:spMkLst>
        </pc:spChg>
        <pc:spChg chg="mod">
          <ac:chgData name="Mayuresh Bagayatkar" userId="be8c369d-5329-4623-9262-d433756438f0" providerId="ADAL" clId="{FA696344-5978-414C-8921-572C426A0115}" dt="2026-10-13T06:29:11.580" v="135"/>
          <ac:spMkLst>
            <pc:docMk/>
            <pc:sldMk cId="3046290467" sldId="495"/>
            <ac:spMk id="31" creationId="{00000000-0000-0000-0000-000000000000}"/>
          </ac:spMkLst>
        </pc:spChg>
        <pc:spChg chg="mod">
          <ac:chgData name="Mayuresh Bagayatkar" userId="be8c369d-5329-4623-9262-d433756438f0" providerId="ADAL" clId="{FA696344-5978-414C-8921-572C426A0115}" dt="2026-10-13T06:29:11.580" v="135"/>
          <ac:spMkLst>
            <pc:docMk/>
            <pc:sldMk cId="3046290467" sldId="495"/>
            <ac:spMk id="32" creationId="{00000000-0000-0000-0000-000000000000}"/>
          </ac:spMkLst>
        </pc:spChg>
        <pc:spChg chg="mod">
          <ac:chgData name="Mayuresh Bagayatkar" userId="be8c369d-5329-4623-9262-d433756438f0" providerId="ADAL" clId="{FA696344-5978-414C-8921-572C426A0115}" dt="2026-10-13T06:29:11.580" v="135"/>
          <ac:spMkLst>
            <pc:docMk/>
            <pc:sldMk cId="3046290467" sldId="495"/>
            <ac:spMk id="33" creationId="{00000000-0000-0000-0000-000000000000}"/>
          </ac:spMkLst>
        </pc:spChg>
        <pc:spChg chg="mod">
          <ac:chgData name="Mayuresh Bagayatkar" userId="be8c369d-5329-4623-9262-d433756438f0" providerId="ADAL" clId="{FA696344-5978-414C-8921-572C426A0115}" dt="2026-10-13T06:25:11.694" v="127"/>
          <ac:spMkLst>
            <pc:docMk/>
            <pc:sldMk cId="3046290467" sldId="495"/>
            <ac:spMk id="34" creationId="{00000000-0000-0000-0000-000000000000}"/>
          </ac:spMkLst>
        </pc:spChg>
        <pc:spChg chg="mod">
          <ac:chgData name="Mayuresh Bagayatkar" userId="be8c369d-5329-4623-9262-d433756438f0" providerId="ADAL" clId="{FA696344-5978-414C-8921-572C426A0115}" dt="2026-10-13T06:29:11.580" v="135"/>
          <ac:spMkLst>
            <pc:docMk/>
            <pc:sldMk cId="3046290467" sldId="495"/>
            <ac:spMk id="35" creationId="{00000000-0000-0000-0000-000000000000}"/>
          </ac:spMkLst>
        </pc:spChg>
        <pc:spChg chg="mod">
          <ac:chgData name="Mayuresh Bagayatkar" userId="be8c369d-5329-4623-9262-d433756438f0" providerId="ADAL" clId="{FA696344-5978-414C-8921-572C426A0115}" dt="2026-10-13T06:25:11.698" v="129"/>
          <ac:spMkLst>
            <pc:docMk/>
            <pc:sldMk cId="3046290467" sldId="495"/>
            <ac:spMk id="36" creationId="{00000000-0000-0000-0000-000000000000}"/>
          </ac:spMkLst>
        </pc:spChg>
        <pc:spChg chg="mod">
          <ac:chgData name="Mayuresh Bagayatkar" userId="be8c369d-5329-4623-9262-d433756438f0" providerId="ADAL" clId="{FA696344-5978-414C-8921-572C426A0115}" dt="2026-10-13T06:25:11.698" v="130"/>
          <ac:spMkLst>
            <pc:docMk/>
            <pc:sldMk cId="3046290467" sldId="495"/>
            <ac:spMk id="37" creationId="{00000000-0000-0000-0000-000000000000}"/>
          </ac:spMkLst>
        </pc:spChg>
        <pc:spChg chg="mod">
          <ac:chgData name="Mayuresh Bagayatkar" userId="be8c369d-5329-4623-9262-d433756438f0" providerId="ADAL" clId="{FA696344-5978-414C-8921-572C426A0115}" dt="2026-10-13T06:25:11.700" v="131"/>
          <ac:spMkLst>
            <pc:docMk/>
            <pc:sldMk cId="3046290467" sldId="495"/>
            <ac:spMk id="38" creationId="{00000000-0000-0000-0000-000000000000}"/>
          </ac:spMkLst>
        </pc:spChg>
      </pc:sldChg>
      <pc:sldChg chg="addSp delSp new mod">
        <pc:chgData name="Mayuresh Bagayatkar" userId="be8c369d-5329-4623-9262-d433756438f0" providerId="ADAL" clId="{FA696344-5978-414C-8921-572C426A0115}" dt="2026-10-13T07:03:38.916" v="156" actId="22"/>
        <pc:sldMkLst>
          <pc:docMk/>
          <pc:sldMk cId="1823738739" sldId="496"/>
        </pc:sldMkLst>
        <pc:picChg chg="add del">
          <ac:chgData name="Mayuresh Bagayatkar" userId="be8c369d-5329-4623-9262-d433756438f0" providerId="ADAL" clId="{FA696344-5978-414C-8921-572C426A0115}" dt="2026-10-13T07:03:38.137" v="155" actId="478"/>
          <ac:picMkLst>
            <pc:docMk/>
            <pc:sldMk cId="1823738739" sldId="496"/>
            <ac:picMk id="3" creationId="{E94B39A0-F1F7-CD13-9A69-1226673AE4D9}"/>
          </ac:picMkLst>
        </pc:picChg>
        <pc:picChg chg="add">
          <ac:chgData name="Mayuresh Bagayatkar" userId="be8c369d-5329-4623-9262-d433756438f0" providerId="ADAL" clId="{FA696344-5978-414C-8921-572C426A0115}" dt="2026-10-13T07:03:38.916" v="156" actId="22"/>
          <ac:picMkLst>
            <pc:docMk/>
            <pc:sldMk cId="1823738739" sldId="496"/>
            <ac:picMk id="5" creationId="{EDC377A6-4A41-A756-C99B-0867F406B792}"/>
          </ac:picMkLst>
        </pc:picChg>
      </pc:sldChg>
      <pc:sldChg chg="add del">
        <pc:chgData name="Mayuresh Bagayatkar" userId="be8c369d-5329-4623-9262-d433756438f0" providerId="ADAL" clId="{FA696344-5978-414C-8921-572C426A0115}" dt="2026-10-13T06:29:01.837" v="134"/>
        <pc:sldMkLst>
          <pc:docMk/>
          <pc:sldMk cId="2335614079" sldId="496"/>
        </pc:sldMkLst>
      </pc:sldChg>
      <pc:sldChg chg="addSp new del mod">
        <pc:chgData name="Mayuresh Bagayatkar" userId="be8c369d-5329-4623-9262-d433756438f0" providerId="ADAL" clId="{FA696344-5978-414C-8921-572C426A0115}" dt="2026-10-13T07:09:19.082" v="193"/>
        <pc:sldMkLst>
          <pc:docMk/>
          <pc:sldMk cId="2164711537" sldId="497"/>
        </pc:sldMkLst>
        <pc:picChg chg="add">
          <ac:chgData name="Mayuresh Bagayatkar" userId="be8c369d-5329-4623-9262-d433756438f0" providerId="ADAL" clId="{FA696344-5978-414C-8921-572C426A0115}" dt="2026-10-13T07:04:39.334" v="158" actId="22"/>
          <ac:picMkLst>
            <pc:docMk/>
            <pc:sldMk cId="2164711537" sldId="497"/>
            <ac:picMk id="3" creationId="{8B9A797F-35CD-8F04-AB9C-CA8403FA77D3}"/>
          </ac:picMkLst>
        </pc:picChg>
      </pc:sldChg>
      <pc:sldChg chg="add del">
        <pc:chgData name="Mayuresh Bagayatkar" userId="be8c369d-5329-4623-9262-d433756438f0" providerId="ADAL" clId="{FA696344-5978-414C-8921-572C426A0115}" dt="2026-10-13T07:06:34.118" v="161"/>
        <pc:sldMkLst>
          <pc:docMk/>
          <pc:sldMk cId="2936491324" sldId="498"/>
        </pc:sldMkLst>
      </pc:sldChg>
      <pc:sldChg chg="add del ord">
        <pc:chgData name="Mayuresh Bagayatkar" userId="be8c369d-5329-4623-9262-d433756438f0" providerId="ADAL" clId="{FA696344-5978-414C-8921-572C426A0115}" dt="2026-10-13T07:08:11.608" v="181"/>
        <pc:sldMkLst>
          <pc:docMk/>
          <pc:sldMk cId="3780036750" sldId="499"/>
        </pc:sldMkLst>
      </pc:sldChg>
      <pc:sldChg chg="addSp new del mod">
        <pc:chgData name="Mayuresh Bagayatkar" userId="be8c369d-5329-4623-9262-d433756438f0" providerId="ADAL" clId="{FA696344-5978-414C-8921-572C426A0115}" dt="2026-10-13T07:06:42.076" v="165"/>
        <pc:sldMkLst>
          <pc:docMk/>
          <pc:sldMk cId="3172823232" sldId="500"/>
        </pc:sldMkLst>
        <pc:picChg chg="add">
          <ac:chgData name="Mayuresh Bagayatkar" userId="be8c369d-5329-4623-9262-d433756438f0" providerId="ADAL" clId="{FA696344-5978-414C-8921-572C426A0115}" dt="2026-10-13T07:06:38.629" v="163" actId="22"/>
          <ac:picMkLst>
            <pc:docMk/>
            <pc:sldMk cId="3172823232" sldId="500"/>
            <ac:picMk id="3" creationId="{D013358D-1F2C-B214-C410-0B6888102BA8}"/>
          </ac:picMkLst>
        </pc:picChg>
      </pc:sldChg>
      <pc:sldChg chg="add del">
        <pc:chgData name="Mayuresh Bagayatkar" userId="be8c369d-5329-4623-9262-d433756438f0" providerId="ADAL" clId="{FA696344-5978-414C-8921-572C426A0115}" dt="2026-10-13T07:06:52.104" v="167"/>
        <pc:sldMkLst>
          <pc:docMk/>
          <pc:sldMk cId="1757098995" sldId="501"/>
        </pc:sldMkLst>
      </pc:sldChg>
      <pc:sldChg chg="add del">
        <pc:chgData name="Mayuresh Bagayatkar" userId="be8c369d-5329-4623-9262-d433756438f0" providerId="ADAL" clId="{FA696344-5978-414C-8921-572C426A0115}" dt="2026-10-13T07:07:02.528" v="169"/>
        <pc:sldMkLst>
          <pc:docMk/>
          <pc:sldMk cId="2491106420" sldId="502"/>
        </pc:sldMkLst>
      </pc:sldChg>
      <pc:sldChg chg="add del">
        <pc:chgData name="Mayuresh Bagayatkar" userId="be8c369d-5329-4623-9262-d433756438f0" providerId="ADAL" clId="{FA696344-5978-414C-8921-572C426A0115}" dt="2026-10-13T07:07:11.488" v="171"/>
        <pc:sldMkLst>
          <pc:docMk/>
          <pc:sldMk cId="4178291125" sldId="503"/>
        </pc:sldMkLst>
      </pc:sldChg>
      <pc:sldChg chg="add del">
        <pc:chgData name="Mayuresh Bagayatkar" userId="be8c369d-5329-4623-9262-d433756438f0" providerId="ADAL" clId="{FA696344-5978-414C-8921-572C426A0115}" dt="2026-10-13T07:07:18.172" v="173"/>
        <pc:sldMkLst>
          <pc:docMk/>
          <pc:sldMk cId="2808112920" sldId="504"/>
        </pc:sldMkLst>
      </pc:sldChg>
      <pc:sldChg chg="delSp add mod">
        <pc:chgData name="Mayuresh Bagayatkar" userId="be8c369d-5329-4623-9262-d433756438f0" providerId="ADAL" clId="{FA696344-5978-414C-8921-572C426A0115}" dt="2026-10-13T07:07:59.853" v="178"/>
        <pc:sldMkLst>
          <pc:docMk/>
          <pc:sldMk cId="2171807520" sldId="505"/>
        </pc:sldMkLst>
        <pc:picChg chg="del">
          <ac:chgData name="Mayuresh Bagayatkar" userId="be8c369d-5329-4623-9262-d433756438f0" providerId="ADAL" clId="{FA696344-5978-414C-8921-572C426A0115}" dt="2026-10-13T07:07:59.850" v="174"/>
          <ac:picMkLst>
            <pc:docMk/>
            <pc:sldMk cId="2171807520" sldId="505"/>
            <ac:picMk id="4" creationId="{00000000-0000-0000-0000-000000000000}"/>
          </ac:picMkLst>
        </pc:picChg>
        <pc:picChg chg="del">
          <ac:chgData name="Mayuresh Bagayatkar" userId="be8c369d-5329-4623-9262-d433756438f0" providerId="ADAL" clId="{FA696344-5978-414C-8921-572C426A0115}" dt="2026-10-13T07:07:59.850" v="175"/>
          <ac:picMkLst>
            <pc:docMk/>
            <pc:sldMk cId="2171807520" sldId="505"/>
            <ac:picMk id="5" creationId="{00000000-0000-0000-0000-000000000000}"/>
          </ac:picMkLst>
        </pc:picChg>
        <pc:picChg chg="del">
          <ac:chgData name="Mayuresh Bagayatkar" userId="be8c369d-5329-4623-9262-d433756438f0" providerId="ADAL" clId="{FA696344-5978-414C-8921-572C426A0115}" dt="2026-10-13T07:07:59.852" v="176"/>
          <ac:picMkLst>
            <pc:docMk/>
            <pc:sldMk cId="2171807520" sldId="505"/>
            <ac:picMk id="6" creationId="{00000000-0000-0000-0000-000000000000}"/>
          </ac:picMkLst>
        </pc:picChg>
        <pc:picChg chg="del">
          <ac:chgData name="Mayuresh Bagayatkar" userId="be8c369d-5329-4623-9262-d433756438f0" providerId="ADAL" clId="{FA696344-5978-414C-8921-572C426A0115}" dt="2026-10-13T07:07:59.853" v="177"/>
          <ac:picMkLst>
            <pc:docMk/>
            <pc:sldMk cId="2171807520" sldId="505"/>
            <ac:picMk id="7" creationId="{00000000-0000-0000-0000-000000000000}"/>
          </ac:picMkLst>
        </pc:picChg>
        <pc:picChg chg="del">
          <ac:chgData name="Mayuresh Bagayatkar" userId="be8c369d-5329-4623-9262-d433756438f0" providerId="ADAL" clId="{FA696344-5978-414C-8921-572C426A0115}" dt="2026-10-13T07:07:59.853" v="178"/>
          <ac:picMkLst>
            <pc:docMk/>
            <pc:sldMk cId="2171807520" sldId="505"/>
            <ac:picMk id="8" creationId="{00000000-0000-0000-0000-000000000000}"/>
          </ac:picMkLst>
        </pc:picChg>
      </pc:sldChg>
      <pc:sldChg chg="add del">
        <pc:chgData name="Mayuresh Bagayatkar" userId="be8c369d-5329-4623-9262-d433756438f0" providerId="ADAL" clId="{FA696344-5978-414C-8921-572C426A0115}" dt="2026-10-13T07:08:19.202" v="183"/>
        <pc:sldMkLst>
          <pc:docMk/>
          <pc:sldMk cId="1156109286" sldId="506"/>
        </pc:sldMkLst>
      </pc:sldChg>
      <pc:sldChg chg="add del">
        <pc:chgData name="Mayuresh Bagayatkar" userId="be8c369d-5329-4623-9262-d433756438f0" providerId="ADAL" clId="{FA696344-5978-414C-8921-572C426A0115}" dt="2026-10-13T07:08:27.503" v="185"/>
        <pc:sldMkLst>
          <pc:docMk/>
          <pc:sldMk cId="1428935283" sldId="507"/>
        </pc:sldMkLst>
      </pc:sldChg>
      <pc:sldChg chg="add del">
        <pc:chgData name="Mayuresh Bagayatkar" userId="be8c369d-5329-4623-9262-d433756438f0" providerId="ADAL" clId="{FA696344-5978-414C-8921-572C426A0115}" dt="2026-10-13T07:08:33.055" v="187"/>
        <pc:sldMkLst>
          <pc:docMk/>
          <pc:sldMk cId="1302409302" sldId="508"/>
        </pc:sldMkLst>
      </pc:sldChg>
      <pc:sldChg chg="add del">
        <pc:chgData name="Mayuresh Bagayatkar" userId="be8c369d-5329-4623-9262-d433756438f0" providerId="ADAL" clId="{FA696344-5978-414C-8921-572C426A0115}" dt="2026-10-13T07:08:38.371" v="189"/>
        <pc:sldMkLst>
          <pc:docMk/>
          <pc:sldMk cId="923763754" sldId="509"/>
        </pc:sldMkLst>
      </pc:sldChg>
      <pc:sldChg chg="add del">
        <pc:chgData name="Mayuresh Bagayatkar" userId="be8c369d-5329-4623-9262-d433756438f0" providerId="ADAL" clId="{FA696344-5978-414C-8921-572C426A0115}" dt="2026-10-13T07:09:01.115" v="191"/>
        <pc:sldMkLst>
          <pc:docMk/>
          <pc:sldMk cId="4126867706" sldId="510"/>
        </pc:sldMkLst>
      </pc:sldChg>
      <pc:sldChg chg="modSp add mod">
        <pc:chgData name="Mayuresh Bagayatkar" userId="be8c369d-5329-4623-9262-d433756438f0" providerId="ADAL" clId="{FA696344-5978-414C-8921-572C426A0115}" dt="2026-10-13T07:10:01.101" v="194" actId="255"/>
        <pc:sldMkLst>
          <pc:docMk/>
          <pc:sldMk cId="1656436612" sldId="511"/>
        </pc:sldMkLst>
        <pc:spChg chg="mod">
          <ac:chgData name="Mayuresh Bagayatkar" userId="be8c369d-5329-4623-9262-d433756438f0" providerId="ADAL" clId="{FA696344-5978-414C-8921-572C426A0115}" dt="2026-10-13T07:10:01.101" v="194" actId="255"/>
          <ac:spMkLst>
            <pc:docMk/>
            <pc:sldMk cId="1656436612" sldId="511"/>
            <ac:spMk id="20" creationId="{00000000-0000-0000-0000-000000000000}"/>
          </ac:spMkLst>
        </pc:spChg>
      </pc:sldChg>
      <pc:sldChg chg="add del">
        <pc:chgData name="Mayuresh Bagayatkar" userId="be8c369d-5329-4623-9262-d433756438f0" providerId="ADAL" clId="{FA696344-5978-414C-8921-572C426A0115}" dt="2026-10-13T07:10:21.211" v="195" actId="2696"/>
        <pc:sldMkLst>
          <pc:docMk/>
          <pc:sldMk cId="142322943" sldId="512"/>
        </pc:sldMkLst>
      </pc:sldChg>
    </pc:docChg>
  </pc:docChgLst>
</pc:chgInfo>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Values</c:v>
          </c:tx>
          <c:spPr>
            <a:solidFill>
              <a:srgbClr val="6B6E78"/>
            </a:solidFill>
            <a:ln>
              <a:noFill/>
            </a:ln>
          </c:spPr>
          <c:invertIfNegative val="1"/>
          <c:dPt>
            <c:idx val="2"/>
            <c:invertIfNegative val="1"/>
            <c:bubble3D val="0"/>
            <c:spPr>
              <a:solidFill>
                <a:srgbClr val="F7C548"/>
              </a:solidFill>
              <a:ln>
                <a:noFill/>
              </a:ln>
            </c:spPr>
            <c:extLst>
              <c:ext xmlns:c16="http://schemas.microsoft.com/office/drawing/2014/chart" uri="{C3380CC4-5D6E-409C-BE32-E72D297353CC}">
                <c16:uniqueId val="{00000001-8F63-4A2A-8D66-7EC580F6A5E4}"/>
              </c:ext>
            </c:extLst>
          </c:dPt>
          <c:dLbls>
            <c:numFmt formatCode="0&quot; ms&quot;" sourceLinked="0"/>
            <c:spPr>
              <a:noFill/>
              <a:ln>
                <a:noFill/>
              </a:ln>
              <a:effectLst/>
            </c:spPr>
            <c:txPr>
              <a:bodyPr wrap="none"/>
              <a:lstStyle/>
              <a:p>
                <a:pPr>
                  <a:defRPr sz="1400" b="1">
                    <a:solidFill>
                      <a:srgbClr val="F2F2F2"/>
                    </a:solidFill>
                    <a:latin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Lit>
              <c:ptCount val="3"/>
              <c:pt idx="0">
                <c:v>HNSW · 512 GiB</c:v>
              </c:pt>
              <c:pt idx="1">
                <c:v>PRISM · 512 GiB</c:v>
              </c:pt>
              <c:pt idx="2">
                <c:v>PRISM · 128 GiB</c:v>
              </c:pt>
            </c:strLit>
          </c:cat>
          <c:val>
            <c:numLit>
              <c:formatCode>General</c:formatCode>
              <c:ptCount val="3"/>
              <c:pt idx="0">
                <c:v>8</c:v>
              </c:pt>
              <c:pt idx="1">
                <c:v>4</c:v>
              </c:pt>
              <c:pt idx="2">
                <c:v>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8F63-4A2A-8D66-7EC580F6A5E4}"/>
            </c:ext>
          </c:extLst>
        </c:ser>
        <c:dLbls>
          <c:showLegendKey val="0"/>
          <c:showVal val="0"/>
          <c:showCatName val="0"/>
          <c:showSerName val="0"/>
          <c:showPercent val="0"/>
          <c:showBubbleSize val="0"/>
        </c:dLbls>
        <c:gapWidth val="50"/>
        <c:axId val="1"/>
        <c:axId val="2"/>
      </c:barChart>
      <c:catAx>
        <c:axId val="1"/>
        <c:scaling>
          <c:orientation val="minMax"/>
        </c:scaling>
        <c:delete val="0"/>
        <c:axPos val="l"/>
        <c:numFmt formatCode="General" sourceLinked="0"/>
        <c:majorTickMark val="none"/>
        <c:minorTickMark val="none"/>
        <c:tickLblPos val="nextTo"/>
        <c:spPr>
          <a:ln w="9525">
            <a:solidFill>
              <a:srgbClr val="56575B"/>
            </a:solidFill>
          </a:ln>
        </c:spPr>
        <c:txPr>
          <a:bodyPr rot="0" vert="horz"/>
          <a:lstStyle/>
          <a:p>
            <a:pPr>
              <a:defRPr sz="1400" b="0">
                <a:solidFill>
                  <a:srgbClr val="F2F2F2"/>
                </a:solidFill>
                <a:latin typeface="Aptos"/>
              </a:defRPr>
            </a:pPr>
            <a:endParaRPr lang="en-US"/>
          </a:p>
        </c:txPr>
        <c:crossAx val="2"/>
        <c:crosses val="autoZero"/>
        <c:auto val="1"/>
        <c:lblAlgn val="ctr"/>
        <c:lblOffset val="100"/>
        <c:noMultiLvlLbl val="1"/>
      </c:catAx>
      <c:valAx>
        <c:axId val="2"/>
        <c:scaling>
          <c:orientation val="minMax"/>
          <c:min val="0"/>
        </c:scaling>
        <c:delete val="1"/>
        <c:axPos val="b"/>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Values</c:v>
          </c:tx>
          <c:spPr>
            <a:solidFill>
              <a:srgbClr val="6B6E78"/>
            </a:solidFill>
            <a:ln>
              <a:noFill/>
            </a:ln>
          </c:spPr>
          <c:invertIfNegative val="1"/>
          <c:dPt>
            <c:idx val="2"/>
            <c:invertIfNegative val="1"/>
            <c:bubble3D val="0"/>
            <c:spPr>
              <a:solidFill>
                <a:srgbClr val="F7C548"/>
              </a:solidFill>
              <a:ln>
                <a:noFill/>
              </a:ln>
            </c:spPr>
            <c:extLst>
              <c:ext xmlns:c16="http://schemas.microsoft.com/office/drawing/2014/chart" uri="{C3380CC4-5D6E-409C-BE32-E72D297353CC}">
                <c16:uniqueId val="{00000001-9284-4446-BA1A-B3C565840691}"/>
              </c:ext>
            </c:extLst>
          </c:dPt>
          <c:dLbls>
            <c:numFmt formatCode="0.0&quot; h&quot;" sourceLinked="0"/>
            <c:spPr>
              <a:noFill/>
              <a:ln>
                <a:noFill/>
              </a:ln>
              <a:effectLst/>
            </c:spPr>
            <c:txPr>
              <a:bodyPr wrap="none"/>
              <a:lstStyle/>
              <a:p>
                <a:pPr>
                  <a:defRPr sz="1400" b="1">
                    <a:solidFill>
                      <a:srgbClr val="F2F2F2"/>
                    </a:solidFill>
                    <a:latin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Lit>
              <c:ptCount val="3"/>
              <c:pt idx="0">
                <c:v>HNSW · 512 GiB</c:v>
              </c:pt>
              <c:pt idx="1">
                <c:v>PRISM · 512 GiB</c:v>
              </c:pt>
              <c:pt idx="2">
                <c:v>PRISM · 128 GiB</c:v>
              </c:pt>
            </c:strLit>
          </c:cat>
          <c:val>
            <c:numLit>
              <c:formatCode>General</c:formatCode>
              <c:ptCount val="3"/>
              <c:pt idx="0">
                <c:v>42</c:v>
              </c:pt>
              <c:pt idx="1">
                <c:v>0.8</c:v>
              </c:pt>
              <c:pt idx="2">
                <c:v>1.7</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9284-4446-BA1A-B3C565840691}"/>
            </c:ext>
          </c:extLst>
        </c:ser>
        <c:dLbls>
          <c:showLegendKey val="0"/>
          <c:showVal val="0"/>
          <c:showCatName val="0"/>
          <c:showSerName val="0"/>
          <c:showPercent val="0"/>
          <c:showBubbleSize val="0"/>
        </c:dLbls>
        <c:gapWidth val="50"/>
        <c:axId val="1"/>
        <c:axId val="2"/>
      </c:barChart>
      <c:catAx>
        <c:axId val="1"/>
        <c:scaling>
          <c:orientation val="minMax"/>
        </c:scaling>
        <c:delete val="0"/>
        <c:axPos val="l"/>
        <c:numFmt formatCode="General" sourceLinked="0"/>
        <c:majorTickMark val="none"/>
        <c:minorTickMark val="none"/>
        <c:tickLblPos val="nextTo"/>
        <c:spPr>
          <a:ln w="9525">
            <a:solidFill>
              <a:srgbClr val="56575B"/>
            </a:solidFill>
          </a:ln>
        </c:spPr>
        <c:txPr>
          <a:bodyPr rot="0" vert="horz"/>
          <a:lstStyle/>
          <a:p>
            <a:pPr>
              <a:defRPr sz="1400" b="0">
                <a:solidFill>
                  <a:srgbClr val="F2F2F2"/>
                </a:solidFill>
                <a:latin typeface="Aptos"/>
              </a:defRPr>
            </a:pPr>
            <a:endParaRPr lang="en-US"/>
          </a:p>
        </c:txPr>
        <c:crossAx val="2"/>
        <c:crosses val="autoZero"/>
        <c:auto val="1"/>
        <c:lblAlgn val="ctr"/>
        <c:lblOffset val="100"/>
        <c:noMultiLvlLbl val="1"/>
      </c:catAx>
      <c:valAx>
        <c:axId val="2"/>
        <c:scaling>
          <c:orientation val="minMax"/>
          <c:min val="0"/>
        </c:scaling>
        <c:delete val="1"/>
        <c:axPos val="b"/>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77BF45-47AA-4271-B81D-78DED1C29615}" type="datetimeFigureOut">
              <a:rPr lang="en-GB" smtClean="0"/>
              <a:t>14/10/2026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C192D1-95A1-4437-AC90-EA3BC4D10996}" type="slidenum">
              <a:rPr lang="en-GB" smtClean="0"/>
              <a:t>‹#›</a:t>
            </a:fld>
            <a:endParaRPr lang="en-GB"/>
          </a:p>
        </p:txBody>
      </p:sp>
    </p:spTree>
    <p:extLst>
      <p:ext uri="{BB962C8B-B14F-4D97-AF65-F5344CB8AC3E}">
        <p14:creationId xmlns:p14="http://schemas.microsoft.com/office/powerpoint/2010/main" val="4109965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Forty-three years ago, Bitton, DeWitt and Turbyfill had a radical idea: instead of every database vendor telling us how fast their database was, perhaps we could run the same tests.</a:t>
            </a:r>
          </a:p>
        </p:txBody>
      </p:sp>
      <p:sp>
        <p:nvSpPr>
          <p:cNvPr id="4" name="Slide Number Placeholder 3"/>
          <p:cNvSpPr>
            <a:spLocks noGrp="1"/>
          </p:cNvSpPr>
          <p:nvPr>
            <p:ph type="sldNum" sz="quarter" idx="5"/>
          </p:nvPr>
        </p:nvSpPr>
        <p:spPr/>
        <p:txBody>
          <a:bodyPr/>
          <a:lstStyle/>
          <a:p>
            <a:fld id="{4AC192D1-95A1-4437-AC90-EA3BC4D10996}" type="slidenum">
              <a:rPr lang="en-GB" smtClean="0"/>
              <a:t>5</a:t>
            </a:fld>
            <a:endParaRPr lang="en-GB"/>
          </a:p>
        </p:txBody>
      </p:sp>
    </p:spTree>
    <p:extLst>
      <p:ext uri="{BB962C8B-B14F-4D97-AF65-F5344CB8AC3E}">
        <p14:creationId xmlns:p14="http://schemas.microsoft.com/office/powerpoint/2010/main" val="17759189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Oracle performed poorly in the Wisconsin benchmarking and Larry Ellison objected strongly. Ellison even contacted the department chair demanding that DeWitt be fired. Oracle had temporary ban on hiring Wisconsin graduates.</a:t>
            </a:r>
          </a:p>
        </p:txBody>
      </p:sp>
      <p:sp>
        <p:nvSpPr>
          <p:cNvPr id="4" name="Slide Number Placeholder 3"/>
          <p:cNvSpPr>
            <a:spLocks noGrp="1"/>
          </p:cNvSpPr>
          <p:nvPr>
            <p:ph type="sldNum" sz="quarter" idx="5"/>
          </p:nvPr>
        </p:nvSpPr>
        <p:spPr/>
        <p:txBody>
          <a:bodyPr/>
          <a:lstStyle/>
          <a:p>
            <a:fld id="{4AC192D1-95A1-4437-AC90-EA3BC4D10996}" type="slidenum">
              <a:rPr lang="en-GB" smtClean="0"/>
              <a:t>6</a:t>
            </a:fld>
            <a:endParaRPr lang="en-GB"/>
          </a:p>
        </p:txBody>
      </p:sp>
    </p:spTree>
    <p:extLst>
      <p:ext uri="{BB962C8B-B14F-4D97-AF65-F5344CB8AC3E}">
        <p14:creationId xmlns:p14="http://schemas.microsoft.com/office/powerpoint/2010/main" val="17676271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In direct response to the Wisconsin Benchmark results, Oracle added a license provision (the original “DeWitt Clause”) that prohibits publishing benchmark results of Oracle software without prior written permission. </a:t>
            </a:r>
          </a:p>
          <a:p>
            <a:endParaRPr lang="en-GB" dirty="0"/>
          </a:p>
        </p:txBody>
      </p:sp>
      <p:sp>
        <p:nvSpPr>
          <p:cNvPr id="4" name="Slide Number Placeholder 3"/>
          <p:cNvSpPr>
            <a:spLocks noGrp="1"/>
          </p:cNvSpPr>
          <p:nvPr>
            <p:ph type="sldNum" sz="quarter" idx="5"/>
          </p:nvPr>
        </p:nvSpPr>
        <p:spPr/>
        <p:txBody>
          <a:bodyPr/>
          <a:lstStyle/>
          <a:p>
            <a:fld id="{4AC192D1-95A1-4437-AC90-EA3BC4D10996}" type="slidenum">
              <a:rPr lang="en-GB" smtClean="0"/>
              <a:t>8</a:t>
            </a:fld>
            <a:endParaRPr lang="en-GB"/>
          </a:p>
        </p:txBody>
      </p:sp>
    </p:spTree>
    <p:extLst>
      <p:ext uri="{BB962C8B-B14F-4D97-AF65-F5344CB8AC3E}">
        <p14:creationId xmlns:p14="http://schemas.microsoft.com/office/powerpoint/2010/main" val="40105977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 would think that after 40 years, the database industry might have learned to behave itself.</a:t>
            </a:r>
          </a:p>
          <a:p>
            <a:r>
              <a:rPr lang="en-GB" b="1" dirty="0"/>
              <a:t>Well... not quite.</a:t>
            </a:r>
            <a:endParaRPr lang="en-GB" dirty="0"/>
          </a:p>
          <a:p>
            <a:r>
              <a:rPr lang="en-GB" dirty="0"/>
              <a:t>Fast-forward to 2021.</a:t>
            </a:r>
          </a:p>
          <a:p>
            <a:r>
              <a:rPr lang="en-GB" dirty="0"/>
              <a:t>“Same war, new logos.”</a:t>
            </a:r>
            <a:br>
              <a:rPr lang="en-GB" dirty="0"/>
            </a:br>
            <a:r>
              <a:rPr lang="en-GB" dirty="0"/>
              <a:t>Databricks' official TPC-DS result was audited, whereas Snowflake disputed the separate comparative measurements attributed to Snowflake. </a:t>
            </a:r>
          </a:p>
        </p:txBody>
      </p:sp>
      <p:sp>
        <p:nvSpPr>
          <p:cNvPr id="4" name="Slide Number Placeholder 3"/>
          <p:cNvSpPr>
            <a:spLocks noGrp="1"/>
          </p:cNvSpPr>
          <p:nvPr>
            <p:ph type="sldNum" sz="quarter" idx="5"/>
          </p:nvPr>
        </p:nvSpPr>
        <p:spPr/>
        <p:txBody>
          <a:bodyPr/>
          <a:lstStyle/>
          <a:p>
            <a:fld id="{4AC192D1-95A1-4437-AC90-EA3BC4D10996}" type="slidenum">
              <a:rPr lang="en-GB" smtClean="0"/>
              <a:t>10</a:t>
            </a:fld>
            <a:endParaRPr lang="en-GB"/>
          </a:p>
        </p:txBody>
      </p:sp>
    </p:spTree>
    <p:extLst>
      <p:ext uri="{BB962C8B-B14F-4D97-AF65-F5344CB8AC3E}">
        <p14:creationId xmlns:p14="http://schemas.microsoft.com/office/powerpoint/2010/main" val="37031604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VMs have throttled IOPS/Bandwidth, Noisy neighbor may steal CPU and latency fluctuation is present. As a result, baseline on entry level Cloud VMs is at least 10 times slower than local desktop or laptop.</a:t>
            </a:r>
            <a:endParaRPr lang="en-GB" dirty="0"/>
          </a:p>
        </p:txBody>
      </p:sp>
      <p:sp>
        <p:nvSpPr>
          <p:cNvPr id="4" name="Slide Number Placeholder 3"/>
          <p:cNvSpPr>
            <a:spLocks noGrp="1"/>
          </p:cNvSpPr>
          <p:nvPr>
            <p:ph type="sldNum" sz="quarter" idx="5"/>
          </p:nvPr>
        </p:nvSpPr>
        <p:spPr/>
        <p:txBody>
          <a:bodyPr/>
          <a:lstStyle/>
          <a:p>
            <a:fld id="{4AC192D1-95A1-4437-AC90-EA3BC4D10996}" type="slidenum">
              <a:rPr lang="en-GB" smtClean="0"/>
              <a:t>26</a:t>
            </a:fld>
            <a:endParaRPr lang="en-GB"/>
          </a:p>
        </p:txBody>
      </p:sp>
    </p:spTree>
    <p:extLst>
      <p:ext uri="{BB962C8B-B14F-4D97-AF65-F5344CB8AC3E}">
        <p14:creationId xmlns:p14="http://schemas.microsoft.com/office/powerpoint/2010/main" val="7616460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Fast local </a:t>
            </a:r>
            <a:r>
              <a:rPr lang="en-GB" dirty="0" err="1"/>
              <a:t>NVMe</a:t>
            </a:r>
            <a:r>
              <a:rPr lang="en-GB" dirty="0"/>
              <a:t>, compressed WAL, a short period workload, single node and windows </a:t>
            </a:r>
            <a:r>
              <a:rPr lang="en-GB" dirty="0" err="1"/>
              <a:t>wal_sync_method</a:t>
            </a:r>
            <a:r>
              <a:rPr lang="en-GB" dirty="0"/>
              <a:t> made sure durability knobs did not play major role.</a:t>
            </a:r>
            <a:br>
              <a:rPr lang="en-GB" dirty="0"/>
            </a:br>
            <a:endParaRPr lang="en-GB" dirty="0"/>
          </a:p>
        </p:txBody>
      </p:sp>
      <p:sp>
        <p:nvSpPr>
          <p:cNvPr id="4" name="Slide Number Placeholder 3"/>
          <p:cNvSpPr>
            <a:spLocks noGrp="1"/>
          </p:cNvSpPr>
          <p:nvPr>
            <p:ph type="sldNum" sz="quarter" idx="5"/>
          </p:nvPr>
        </p:nvSpPr>
        <p:spPr/>
        <p:txBody>
          <a:bodyPr/>
          <a:lstStyle/>
          <a:p>
            <a:fld id="{4AC192D1-95A1-4437-AC90-EA3BC4D10996}" type="slidenum">
              <a:rPr lang="en-GB" smtClean="0"/>
              <a:t>33</a:t>
            </a:fld>
            <a:endParaRPr lang="en-GB"/>
          </a:p>
        </p:txBody>
      </p:sp>
    </p:spTree>
    <p:extLst>
      <p:ext uri="{BB962C8B-B14F-4D97-AF65-F5344CB8AC3E}">
        <p14:creationId xmlns:p14="http://schemas.microsoft.com/office/powerpoint/2010/main" val="13976688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Windows' default </a:t>
            </a:r>
            <a:r>
              <a:rPr lang="en-US" dirty="0" err="1"/>
              <a:t>wal_sync_method</a:t>
            </a:r>
            <a:r>
              <a:rPr lang="en-US" dirty="0"/>
              <a:t> = </a:t>
            </a:r>
            <a:r>
              <a:rPr lang="en-US" dirty="0" err="1"/>
              <a:t>open_datasync</a:t>
            </a:r>
            <a:r>
              <a:rPr lang="en-US" dirty="0"/>
              <a:t> doesn't wait for a real device flush (38µs).</a:t>
            </a:r>
            <a:br>
              <a:rPr lang="en-US" dirty="0"/>
            </a:br>
            <a:r>
              <a:rPr lang="en-GB" dirty="0"/>
              <a:t>“I turned off basically everything people tell you never to turn off... and PostgreSQL rewarded this recklessness with just nine percent.”</a:t>
            </a:r>
            <a:br>
              <a:rPr lang="en-GB" dirty="0"/>
            </a:br>
            <a:r>
              <a:rPr lang="en-GB" dirty="0"/>
              <a:t>“Apparently we're going to have to cheat harder.”</a:t>
            </a:r>
            <a:br>
              <a:rPr lang="en-GB" dirty="0"/>
            </a:br>
            <a:endParaRPr lang="en-GB" dirty="0"/>
          </a:p>
        </p:txBody>
      </p:sp>
      <p:sp>
        <p:nvSpPr>
          <p:cNvPr id="4" name="Slide Number Placeholder 3"/>
          <p:cNvSpPr>
            <a:spLocks noGrp="1"/>
          </p:cNvSpPr>
          <p:nvPr>
            <p:ph type="sldNum" sz="quarter" idx="5"/>
          </p:nvPr>
        </p:nvSpPr>
        <p:spPr/>
        <p:txBody>
          <a:bodyPr/>
          <a:lstStyle/>
          <a:p>
            <a:fld id="{4AC192D1-95A1-4437-AC90-EA3BC4D10996}" type="slidenum">
              <a:rPr lang="en-GB" smtClean="0"/>
              <a:t>34</a:t>
            </a:fld>
            <a:endParaRPr lang="en-GB"/>
          </a:p>
        </p:txBody>
      </p:sp>
    </p:spTree>
    <p:extLst>
      <p:ext uri="{BB962C8B-B14F-4D97-AF65-F5344CB8AC3E}">
        <p14:creationId xmlns:p14="http://schemas.microsoft.com/office/powerpoint/2010/main" val="17900825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AC192D1-95A1-4437-AC90-EA3BC4D10996}" type="slidenum">
              <a:rPr lang="en-GB" smtClean="0"/>
              <a:t>37</a:t>
            </a:fld>
            <a:endParaRPr lang="en-GB"/>
          </a:p>
        </p:txBody>
      </p:sp>
    </p:spTree>
    <p:extLst>
      <p:ext uri="{BB962C8B-B14F-4D97-AF65-F5344CB8AC3E}">
        <p14:creationId xmlns:p14="http://schemas.microsoft.com/office/powerpoint/2010/main" val="33234941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talk could end here. This is the benchmark I would publish if I were trying to learn something. Unfortunately, today we're trying to sell something.”</a:t>
            </a:r>
          </a:p>
        </p:txBody>
      </p:sp>
      <p:sp>
        <p:nvSpPr>
          <p:cNvPr id="4" name="Slide Number Placeholder 3"/>
          <p:cNvSpPr>
            <a:spLocks noGrp="1"/>
          </p:cNvSpPr>
          <p:nvPr>
            <p:ph type="sldNum" sz="quarter" idx="5"/>
          </p:nvPr>
        </p:nvSpPr>
        <p:spPr/>
        <p:txBody>
          <a:bodyPr/>
          <a:lstStyle/>
          <a:p>
            <a:fld id="{4AC192D1-95A1-4437-AC90-EA3BC4D10996}" type="slidenum">
              <a:rPr lang="en-GB" smtClean="0"/>
              <a:t>40</a:t>
            </a:fld>
            <a:endParaRPr lang="en-GB"/>
          </a:p>
        </p:txBody>
      </p:sp>
    </p:spTree>
    <p:extLst>
      <p:ext uri="{BB962C8B-B14F-4D97-AF65-F5344CB8AC3E}">
        <p14:creationId xmlns:p14="http://schemas.microsoft.com/office/powerpoint/2010/main" val="34038168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the cheating starts.</a:t>
            </a:r>
          </a:p>
        </p:txBody>
      </p:sp>
      <p:sp>
        <p:nvSpPr>
          <p:cNvPr id="4" name="Slide Number Placeholder 3"/>
          <p:cNvSpPr>
            <a:spLocks noGrp="1"/>
          </p:cNvSpPr>
          <p:nvPr>
            <p:ph type="sldNum" sz="quarter" idx="5"/>
          </p:nvPr>
        </p:nvSpPr>
        <p:spPr/>
        <p:txBody>
          <a:bodyPr/>
          <a:lstStyle/>
          <a:p>
            <a:fld id="{4AC192D1-95A1-4437-AC90-EA3BC4D10996}" type="slidenum">
              <a:rPr lang="en-GB" smtClean="0"/>
              <a:t>41</a:t>
            </a:fld>
            <a:endParaRPr lang="en-GB"/>
          </a:p>
        </p:txBody>
      </p:sp>
    </p:spTree>
    <p:extLst>
      <p:ext uri="{BB962C8B-B14F-4D97-AF65-F5344CB8AC3E}">
        <p14:creationId xmlns:p14="http://schemas.microsoft.com/office/powerpoint/2010/main" val="34208504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4AC192D1-95A1-4437-AC90-EA3BC4D10996}" type="slidenum">
              <a:rPr lang="en-GB" smtClean="0"/>
              <a:t>46</a:t>
            </a:fld>
            <a:endParaRPr lang="en-GB"/>
          </a:p>
        </p:txBody>
      </p:sp>
    </p:spTree>
    <p:extLst>
      <p:ext uri="{BB962C8B-B14F-4D97-AF65-F5344CB8AC3E}">
        <p14:creationId xmlns:p14="http://schemas.microsoft.com/office/powerpoint/2010/main" val="10140548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dirty="0"/>
              <a:t>“I promised you a 100× claim. Unfortunately, I cheated too successfully. We got 621×.”</a:t>
            </a:r>
          </a:p>
        </p:txBody>
      </p:sp>
      <p:sp>
        <p:nvSpPr>
          <p:cNvPr id="4" name="Slide Number Placeholder 3"/>
          <p:cNvSpPr>
            <a:spLocks noGrp="1"/>
          </p:cNvSpPr>
          <p:nvPr>
            <p:ph type="sldNum" sz="quarter" idx="5"/>
          </p:nvPr>
        </p:nvSpPr>
        <p:spPr/>
        <p:txBody>
          <a:bodyPr/>
          <a:lstStyle/>
          <a:p>
            <a:fld id="{4AC192D1-95A1-4437-AC90-EA3BC4D10996}" type="slidenum">
              <a:rPr lang="en-GB" smtClean="0"/>
              <a:t>48</a:t>
            </a:fld>
            <a:endParaRPr lang="en-GB"/>
          </a:p>
        </p:txBody>
      </p:sp>
    </p:spTree>
    <p:extLst>
      <p:ext uri="{BB962C8B-B14F-4D97-AF65-F5344CB8AC3E}">
        <p14:creationId xmlns:p14="http://schemas.microsoft.com/office/powerpoint/2010/main" val="13545972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https://github.com/secp256k1-sha256/talks_and_blogs/tree/main/dishonest_benchmark</a:t>
            </a:r>
          </a:p>
          <a:p>
            <a:endParaRPr lang="en-GB" dirty="0"/>
          </a:p>
        </p:txBody>
      </p:sp>
      <p:sp>
        <p:nvSpPr>
          <p:cNvPr id="4" name="Slide Number Placeholder 3"/>
          <p:cNvSpPr>
            <a:spLocks noGrp="1"/>
          </p:cNvSpPr>
          <p:nvPr>
            <p:ph type="sldNum" sz="quarter" idx="5"/>
          </p:nvPr>
        </p:nvSpPr>
        <p:spPr/>
        <p:txBody>
          <a:bodyPr/>
          <a:lstStyle/>
          <a:p>
            <a:fld id="{4AC192D1-95A1-4437-AC90-EA3BC4D10996}" type="slidenum">
              <a:rPr lang="en-GB" smtClean="0"/>
              <a:t>63</a:t>
            </a:fld>
            <a:endParaRPr lang="en-GB"/>
          </a:p>
        </p:txBody>
      </p:sp>
    </p:spTree>
    <p:extLst>
      <p:ext uri="{BB962C8B-B14F-4D97-AF65-F5344CB8AC3E}">
        <p14:creationId xmlns:p14="http://schemas.microsoft.com/office/powerpoint/2010/main" val="32910780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16.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hyperlink" Target="https://www.brentozar.com/archive/2018/05/the-dewitt-clause-why-you-rarely-see-database-benchmarks/" TargetMode="External"/><Relationship Id="rId2" Type="http://schemas.openxmlformats.org/officeDocument/2006/relationships/hyperlink" Target="https://danluu.com/anon-benchmark/" TargetMode="External"/><Relationship Id="rId1" Type="http://schemas.openxmlformats.org/officeDocument/2006/relationships/slideLayout" Target="../slideLayouts/slideLayout7.xml"/><Relationship Id="rId4" Type="http://schemas.openxmlformats.org/officeDocument/2006/relationships/hyperlink" Target="https://dwheeler.com/essays/dewitt-clause.html" TargetMode="External"/></Relationships>
</file>

<file path=ppt/slides/_rels/slide6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4" name="TextBox 3"/>
          <p:cNvSpPr txBox="1"/>
          <p:nvPr/>
        </p:nvSpPr>
        <p:spPr>
          <a:xfrm>
            <a:off x="658368" y="1417320"/>
            <a:ext cx="6858000" cy="2057400"/>
          </a:xfrm>
          <a:prstGeom prst="rect">
            <a:avLst/>
          </a:prstGeom>
          <a:noFill/>
        </p:spPr>
        <p:txBody>
          <a:bodyPr wrap="square" anchor="t">
            <a:spAutoFit/>
          </a:bodyPr>
          <a:lstStyle/>
          <a:p>
            <a:pPr algn="l">
              <a:defRPr sz="4800" b="1">
                <a:solidFill>
                  <a:srgbClr val="FFFFFF"/>
                </a:solidFill>
                <a:latin typeface="Aptos Display"/>
              </a:defRPr>
            </a:pPr>
            <a:r>
              <a:t>My Dishonest</a:t>
            </a:r>
            <a:br/>
            <a:r>
              <a:t>Benchmark</a:t>
            </a:r>
          </a:p>
        </p:txBody>
      </p:sp>
      <p:sp>
        <p:nvSpPr>
          <p:cNvPr id="5" name="TextBox 4"/>
          <p:cNvSpPr txBox="1"/>
          <p:nvPr/>
        </p:nvSpPr>
        <p:spPr>
          <a:xfrm>
            <a:off x="713232" y="3886200"/>
            <a:ext cx="8961120" cy="640080"/>
          </a:xfrm>
          <a:prstGeom prst="rect">
            <a:avLst/>
          </a:prstGeom>
          <a:noFill/>
        </p:spPr>
        <p:txBody>
          <a:bodyPr wrap="square" anchor="t">
            <a:spAutoFit/>
          </a:bodyPr>
          <a:lstStyle/>
          <a:p>
            <a:pPr algn="l">
              <a:defRPr sz="2200" b="0">
                <a:solidFill>
                  <a:srgbClr val="CECECE"/>
                </a:solidFill>
                <a:latin typeface="Aptos"/>
              </a:defRPr>
            </a:pPr>
            <a:r>
              <a:t>How to Manufacture a 100x PostgreSQL Performance Claim</a:t>
            </a:r>
          </a:p>
        </p:txBody>
      </p:sp>
      <p:sp>
        <p:nvSpPr>
          <p:cNvPr id="6" name="Rectangle 5"/>
          <p:cNvSpPr/>
          <p:nvPr/>
        </p:nvSpPr>
        <p:spPr>
          <a:xfrm>
            <a:off x="8641080" y="5029200"/>
            <a:ext cx="310896" cy="411480"/>
          </a:xfrm>
          <a:prstGeom prst="rect">
            <a:avLst/>
          </a:prstGeom>
          <a:solidFill>
            <a:srgbClr val="00C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125711" y="4709160"/>
            <a:ext cx="310896" cy="731520"/>
          </a:xfrm>
          <a:prstGeom prst="rect">
            <a:avLst/>
          </a:prstGeom>
          <a:solidFill>
            <a:srgbClr val="F6C5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9610344" y="4343400"/>
            <a:ext cx="310896" cy="1097280"/>
          </a:xfrm>
          <a:prstGeom prst="rect">
            <a:avLst/>
          </a:prstGeom>
          <a:solidFill>
            <a:srgbClr val="FF6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094976" y="3749039"/>
            <a:ext cx="310896" cy="1691640"/>
          </a:xfrm>
          <a:prstGeom prst="rect">
            <a:avLst/>
          </a:prstGeom>
          <a:solidFill>
            <a:srgbClr val="AEE0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0579608" y="2971800"/>
            <a:ext cx="310896" cy="2468880"/>
          </a:xfrm>
          <a:prstGeom prst="rect">
            <a:avLst/>
          </a:prstGeom>
          <a:solidFill>
            <a:srgbClr val="00C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5806440"/>
            <a:ext cx="3840480" cy="307777"/>
          </a:xfrm>
          <a:prstGeom prst="rect">
            <a:avLst/>
          </a:prstGeom>
          <a:noFill/>
        </p:spPr>
        <p:txBody>
          <a:bodyPr wrap="square" anchor="t">
            <a:spAutoFit/>
          </a:bodyPr>
          <a:lstStyle/>
          <a:p>
            <a:pPr algn="l">
              <a:defRPr sz="1400" b="1">
                <a:solidFill>
                  <a:srgbClr val="FFFFFF"/>
                </a:solidFill>
                <a:latin typeface="Aptos"/>
              </a:defRPr>
            </a:pPr>
            <a:r>
              <a:rPr dirty="0" err="1"/>
              <a:t>Mayur</a:t>
            </a:r>
            <a:r>
              <a:rPr lang="en-US" dirty="0" err="1"/>
              <a:t>@Veeam</a:t>
            </a:r>
            <a:endParaRPr dirty="0"/>
          </a:p>
        </p:txBody>
      </p:sp>
      <p:sp>
        <p:nvSpPr>
          <p:cNvPr id="13" name="TextBox 12"/>
          <p:cNvSpPr txBox="1"/>
          <p:nvPr/>
        </p:nvSpPr>
        <p:spPr>
          <a:xfrm>
            <a:off x="11155680" y="6473952"/>
            <a:ext cx="502920" cy="182880"/>
          </a:xfrm>
          <a:prstGeom prst="rect">
            <a:avLst/>
          </a:prstGeom>
          <a:noFill/>
        </p:spPr>
        <p:txBody>
          <a:bodyPr wrap="square" anchor="t">
            <a:spAutoFit/>
          </a:bodyPr>
          <a:lstStyle/>
          <a:p>
            <a:pPr algn="r">
              <a:defRPr sz="800" b="1">
                <a:solidFill>
                  <a:srgbClr val="AAAAAA"/>
                </a:solidFill>
                <a:latin typeface="Aptos"/>
              </a:defRPr>
            </a:pPr>
            <a: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 name="Tag"/>
          <p:cNvSpPr/>
          <p:nvPr/>
        </p:nvSpPr>
        <p:spPr>
          <a:xfrm>
            <a:off x="498347" y="594359"/>
            <a:ext cx="2286000" cy="460717"/>
          </a:xfrm>
          <a:prstGeom prst="roundRect">
            <a:avLst/>
          </a:prstGeom>
          <a:solidFill>
            <a:srgbClr val="FF655C"/>
          </a:solidFill>
          <a:ln>
            <a:noFill/>
          </a:ln>
        </p:spPr>
        <p:txBody>
          <a:bodyPr wrap="none" lIns="0" tIns="0" rIns="0" bIns="0" rtlCol="0" anchor="ctr">
            <a:noAutofit/>
          </a:bodyPr>
          <a:lstStyle/>
          <a:p>
            <a:pPr algn="ctr"/>
            <a:r>
              <a:rPr lang="en-US" sz="3200" b="1" dirty="0">
                <a:solidFill>
                  <a:srgbClr val="17181C"/>
                </a:solidFill>
                <a:latin typeface="Aptos"/>
              </a:rPr>
              <a:t>AGENDA</a:t>
            </a:r>
          </a:p>
        </p:txBody>
      </p:sp>
      <p:sp>
        <p:nvSpPr>
          <p:cNvPr id="3" name="Statement"/>
          <p:cNvSpPr txBox="1"/>
          <p:nvPr/>
        </p:nvSpPr>
        <p:spPr>
          <a:xfrm>
            <a:off x="498347" y="1417320"/>
            <a:ext cx="11195306" cy="731520"/>
          </a:xfrm>
          <a:prstGeom prst="rect">
            <a:avLst/>
          </a:prstGeom>
          <a:noFill/>
        </p:spPr>
        <p:txBody>
          <a:bodyPr wrap="square" lIns="0" tIns="0" rIns="0" bIns="0" rtlCol="0" anchor="t">
            <a:noAutofit/>
          </a:bodyPr>
          <a:lstStyle/>
          <a:p>
            <a:pPr algn="l"/>
            <a:r>
              <a:rPr lang="en-US" sz="4400" b="1" dirty="0">
                <a:solidFill>
                  <a:srgbClr val="FFFFFF"/>
                </a:solidFill>
                <a:latin typeface="Aptos Display"/>
              </a:rPr>
              <a:t>This is not a “look at my TPS” talk.</a:t>
            </a:r>
          </a:p>
        </p:txBody>
      </p:sp>
      <p:sp>
        <p:nvSpPr>
          <p:cNvPr id="4" name="Goal"/>
          <p:cNvSpPr txBox="1"/>
          <p:nvPr/>
        </p:nvSpPr>
        <p:spPr>
          <a:xfrm>
            <a:off x="498347" y="2286000"/>
            <a:ext cx="11195306" cy="457200"/>
          </a:xfrm>
          <a:prstGeom prst="rect">
            <a:avLst/>
          </a:prstGeom>
          <a:noFill/>
        </p:spPr>
        <p:txBody>
          <a:bodyPr wrap="square" lIns="0" tIns="0" rIns="0" bIns="0" rtlCol="0" anchor="t">
            <a:noAutofit/>
          </a:bodyPr>
          <a:lstStyle/>
          <a:p>
            <a:pPr algn="l"/>
            <a:r>
              <a:rPr lang="en-US" sz="2400" b="0" dirty="0">
                <a:solidFill>
                  <a:srgbClr val="BEBEBE"/>
                </a:solidFill>
                <a:latin typeface="Aptos"/>
              </a:rPr>
              <a:t>The goal: recognize where </a:t>
            </a:r>
            <a:r>
              <a:rPr lang="en-US" sz="2400" b="1" dirty="0">
                <a:solidFill>
                  <a:srgbClr val="00C2D6"/>
                </a:solidFill>
                <a:latin typeface="Aptos"/>
              </a:rPr>
              <a:t>benchmarking</a:t>
            </a:r>
            <a:r>
              <a:rPr lang="en-US" sz="2400" b="0" dirty="0">
                <a:solidFill>
                  <a:srgbClr val="BEBEBE"/>
                </a:solidFill>
                <a:latin typeface="Aptos"/>
              </a:rPr>
              <a:t> ends and </a:t>
            </a:r>
            <a:r>
              <a:rPr lang="en-US" sz="2400" b="1" dirty="0">
                <a:solidFill>
                  <a:srgbClr val="FF655C"/>
                </a:solidFill>
                <a:latin typeface="Aptos"/>
              </a:rPr>
              <a:t>benchmarketing</a:t>
            </a:r>
            <a:r>
              <a:rPr lang="en-US" sz="2400" b="0" dirty="0">
                <a:solidFill>
                  <a:srgbClr val="BEBEBE"/>
                </a:solidFill>
                <a:latin typeface="Aptos"/>
              </a:rPr>
              <a:t> begins.</a:t>
            </a:r>
          </a:p>
        </p:txBody>
      </p:sp>
      <p:sp>
        <p:nvSpPr>
          <p:cNvPr id="5" name="Label Left"/>
          <p:cNvSpPr txBox="1"/>
          <p:nvPr/>
        </p:nvSpPr>
        <p:spPr>
          <a:xfrm>
            <a:off x="498347" y="4206240"/>
            <a:ext cx="5000000" cy="411480"/>
          </a:xfrm>
          <a:prstGeom prst="rect">
            <a:avLst/>
          </a:prstGeom>
          <a:noFill/>
        </p:spPr>
        <p:txBody>
          <a:bodyPr wrap="square" lIns="0" tIns="0" rIns="0" bIns="0" rtlCol="0" anchor="b">
            <a:noAutofit/>
          </a:bodyPr>
          <a:lstStyle/>
          <a:p>
            <a:pPr algn="l"/>
            <a:r>
              <a:rPr lang="en-US" sz="2000" b="1" dirty="0">
                <a:solidFill>
                  <a:srgbClr val="00C2D6"/>
                </a:solidFill>
                <a:latin typeface="Aptos"/>
              </a:rPr>
              <a:t>BENCHMARKING</a:t>
            </a:r>
          </a:p>
        </p:txBody>
      </p:sp>
      <p:sp>
        <p:nvSpPr>
          <p:cNvPr id="6" name="Label Right"/>
          <p:cNvSpPr txBox="1"/>
          <p:nvPr/>
        </p:nvSpPr>
        <p:spPr>
          <a:xfrm>
            <a:off x="6693653" y="4206240"/>
            <a:ext cx="5000000" cy="411480"/>
          </a:xfrm>
          <a:prstGeom prst="rect">
            <a:avLst/>
          </a:prstGeom>
          <a:noFill/>
        </p:spPr>
        <p:txBody>
          <a:bodyPr wrap="square" lIns="0" tIns="0" rIns="0" bIns="0" rtlCol="0" anchor="b">
            <a:noAutofit/>
          </a:bodyPr>
          <a:lstStyle/>
          <a:p>
            <a:pPr algn="r"/>
            <a:r>
              <a:rPr lang="en-US" sz="2000" b="1" dirty="0">
                <a:solidFill>
                  <a:srgbClr val="FF655C"/>
                </a:solidFill>
                <a:latin typeface="Aptos"/>
              </a:rPr>
              <a:t>BENCHMARKETING</a:t>
            </a:r>
          </a:p>
        </p:txBody>
      </p:sp>
      <p:sp>
        <p:nvSpPr>
          <p:cNvPr id="7" name="Spectrum Glow"/>
          <p:cNvSpPr/>
          <p:nvPr/>
        </p:nvSpPr>
        <p:spPr>
          <a:xfrm>
            <a:off x="498347" y="4754880"/>
            <a:ext cx="11195306" cy="274320"/>
          </a:xfrm>
          <a:prstGeom prst="roundRect">
            <a:avLst>
              <a:gd name="adj" fmla="val 50000"/>
            </a:avLst>
          </a:prstGeom>
          <a:gradFill rotWithShape="1">
            <a:gsLst>
              <a:gs pos="0">
                <a:srgbClr val="00C2D6"/>
              </a:gs>
              <a:gs pos="50000">
                <a:srgbClr val="F7C548"/>
              </a:gs>
              <a:gs pos="100000">
                <a:srgbClr val="FF655C"/>
              </a:gs>
            </a:gsLst>
            <a:lin ang="0" scaled="1"/>
          </a:gradFill>
          <a:ln>
            <a:noFill/>
          </a:ln>
          <a:effectLst>
            <a:glow rad="152400">
              <a:srgbClr val="F7C548">
                <a:alpha val="18000"/>
              </a:srgbClr>
            </a:glow>
          </a:effectLst>
        </p:spPr>
        <p:txBody>
          <a:bodyPr/>
          <a:lstStyle/>
          <a:p>
            <a:endParaRPr lang="en-US"/>
          </a:p>
        </p:txBody>
      </p:sp>
      <p:cxnSp>
        <p:nvCxnSpPr>
          <p:cNvPr id="8" name="Boundary Marker"/>
          <p:cNvCxnSpPr/>
          <p:nvPr/>
        </p:nvCxnSpPr>
        <p:spPr>
          <a:xfrm>
            <a:off x="6096000" y="4526280"/>
            <a:ext cx="0" cy="731520"/>
          </a:xfrm>
          <a:prstGeom prst="line">
            <a:avLst/>
          </a:prstGeom>
          <a:ln w="28575">
            <a:solidFill>
              <a:srgbClr val="FFFFFF"/>
            </a:solidFill>
            <a:prstDash val="sysDash"/>
          </a:ln>
        </p:spPr>
      </p:cxnSp>
      <p:sp>
        <p:nvSpPr>
          <p:cNvPr id="9" name="Marker Dot"/>
          <p:cNvSpPr/>
          <p:nvPr/>
        </p:nvSpPr>
        <p:spPr>
          <a:xfrm>
            <a:off x="5935980" y="4732020"/>
            <a:ext cx="320040" cy="320040"/>
          </a:xfrm>
          <a:prstGeom prst="ellipse">
            <a:avLst/>
          </a:prstGeom>
          <a:solidFill>
            <a:srgbClr val="17181C"/>
          </a:solidFill>
          <a:ln w="38100">
            <a:solidFill>
              <a:srgbClr val="FFFFFF"/>
            </a:solidFill>
          </a:ln>
        </p:spPr>
        <p:txBody>
          <a:bodyPr wrap="none" lIns="0" tIns="0" rIns="0" bIns="0" rtlCol="0" anchor="ctr">
            <a:noAutofit/>
          </a:bodyPr>
          <a:lstStyle/>
          <a:p>
            <a:pPr algn="ctr"/>
            <a:endParaRPr lang="en-US" dirty="0"/>
          </a:p>
        </p:txBody>
      </p:sp>
      <p:sp>
        <p:nvSpPr>
          <p:cNvPr id="10" name="Sub Left"/>
          <p:cNvSpPr txBox="1"/>
          <p:nvPr/>
        </p:nvSpPr>
        <p:spPr>
          <a:xfrm>
            <a:off x="498347" y="5212080"/>
            <a:ext cx="5000000" cy="320040"/>
          </a:xfrm>
          <a:prstGeom prst="rect">
            <a:avLst/>
          </a:prstGeom>
          <a:noFill/>
        </p:spPr>
        <p:txBody>
          <a:bodyPr wrap="square" lIns="0" tIns="0" rIns="0" bIns="0" rtlCol="0" anchor="t">
            <a:noAutofit/>
          </a:bodyPr>
          <a:lstStyle/>
          <a:p>
            <a:pPr algn="l"/>
            <a:r>
              <a:rPr lang="en-US" sz="1600" b="0" dirty="0">
                <a:solidFill>
                  <a:srgbClr val="BEBEBE"/>
                </a:solidFill>
                <a:latin typeface="Aptos"/>
              </a:rPr>
              <a:t>Measure to learn</a:t>
            </a:r>
          </a:p>
        </p:txBody>
      </p:sp>
      <p:sp>
        <p:nvSpPr>
          <p:cNvPr id="11" name="Sub Right"/>
          <p:cNvSpPr txBox="1"/>
          <p:nvPr/>
        </p:nvSpPr>
        <p:spPr>
          <a:xfrm>
            <a:off x="6693653" y="5212080"/>
            <a:ext cx="5000000" cy="320040"/>
          </a:xfrm>
          <a:prstGeom prst="rect">
            <a:avLst/>
          </a:prstGeom>
          <a:noFill/>
        </p:spPr>
        <p:txBody>
          <a:bodyPr wrap="square" lIns="0" tIns="0" rIns="0" bIns="0" rtlCol="0" anchor="t">
            <a:noAutofit/>
          </a:bodyPr>
          <a:lstStyle/>
          <a:p>
            <a:pPr algn="r"/>
            <a:r>
              <a:rPr lang="en-US" sz="1600" b="0" dirty="0">
                <a:solidFill>
                  <a:srgbClr val="BEBEBE"/>
                </a:solidFill>
                <a:latin typeface="Aptos"/>
              </a:rPr>
              <a:t>Measure to sell</a:t>
            </a:r>
          </a:p>
        </p:txBody>
      </p:sp>
      <p:sp>
        <p:nvSpPr>
          <p:cNvPr id="12" name="Marker Label"/>
          <p:cNvSpPr/>
          <p:nvPr/>
        </p:nvSpPr>
        <p:spPr>
          <a:xfrm>
            <a:off x="4953000" y="5440680"/>
            <a:ext cx="2286000" cy="411480"/>
          </a:xfrm>
          <a:prstGeom prst="roundRect">
            <a:avLst/>
          </a:prstGeom>
          <a:solidFill>
            <a:srgbClr val="2A2716"/>
          </a:solidFill>
          <a:ln w="19050">
            <a:solidFill>
              <a:srgbClr val="F7C548"/>
            </a:solidFill>
          </a:ln>
        </p:spPr>
        <p:txBody>
          <a:bodyPr wrap="none" lIns="0" tIns="0" rIns="0" bIns="0" rtlCol="0" anchor="ctr">
            <a:noAutofit/>
          </a:bodyPr>
          <a:lstStyle/>
          <a:p>
            <a:pPr algn="ctr"/>
            <a:r>
              <a:rPr lang="en-US" sz="1600" b="1" dirty="0">
                <a:solidFill>
                  <a:srgbClr val="F7C548"/>
                </a:solidFill>
                <a:latin typeface="Aptos"/>
              </a:rPr>
              <a:t>Where is the line?</a:t>
            </a:r>
          </a:p>
        </p:txBody>
      </p:sp>
      <p:sp>
        <p:nvSpPr>
          <p:cNvPr id="13" name="Footer"/>
          <p:cNvSpPr txBox="1"/>
          <p:nvPr/>
        </p:nvSpPr>
        <p:spPr>
          <a:xfrm>
            <a:off x="502920" y="6510528"/>
            <a:ext cx="2377440" cy="164592"/>
          </a:xfrm>
          <a:prstGeom prst="rect">
            <a:avLst/>
          </a:prstGeom>
          <a:noFill/>
        </p:spPr>
        <p:txBody>
          <a:bodyPr wrap="square" lIns="0" tIns="0" rIns="0" bIns="0" rtlCol="0" anchor="t">
            <a:noAutofit/>
          </a:bodyPr>
          <a:lstStyle/>
          <a:p>
            <a:pPr algn="l"/>
            <a:r>
              <a:rPr lang="en-US" sz="750" b="1" dirty="0">
                <a:solidFill>
                  <a:srgbClr val="AAAAAA"/>
                </a:solidFill>
                <a:latin typeface="Aptos"/>
              </a:rPr>
              <a:t>MY DISHONEST BENCHMARK</a:t>
            </a:r>
          </a:p>
        </p:txBody>
      </p:sp>
      <p:sp>
        <p:nvSpPr>
          <p:cNvPr id="14" name="Page"/>
          <p:cNvSpPr txBox="1"/>
          <p:nvPr/>
        </p:nvSpPr>
        <p:spPr>
          <a:xfrm>
            <a:off x="11155680" y="6473952"/>
            <a:ext cx="502920" cy="182880"/>
          </a:xfrm>
          <a:prstGeom prst="rect">
            <a:avLst/>
          </a:prstGeom>
          <a:noFill/>
        </p:spPr>
        <p:txBody>
          <a:bodyPr wrap="square" lIns="0" tIns="0" rIns="0" bIns="0" rtlCol="0" anchor="t">
            <a:noAutofit/>
          </a:bodyPr>
          <a:lstStyle/>
          <a:p>
            <a:pPr algn="r"/>
            <a:r>
              <a:rPr lang="en-US" sz="800" b="1" dirty="0">
                <a:solidFill>
                  <a:srgbClr val="AAAAAA"/>
                </a:solidFill>
                <a:latin typeface="Aptos"/>
              </a:rPr>
              <a:t>02</a:t>
            </a:r>
          </a:p>
        </p:txBody>
      </p:sp>
    </p:spTree>
    <p:extLst>
      <p:ext uri="{BB962C8B-B14F-4D97-AF65-F5344CB8AC3E}">
        <p14:creationId xmlns:p14="http://schemas.microsoft.com/office/powerpoint/2010/main" val="3416213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 name="Rounded Rectangle 1"/>
          <p:cNvSpPr/>
          <p:nvPr/>
        </p:nvSpPr>
        <p:spPr>
          <a:xfrm>
            <a:off x="640079" y="502920"/>
            <a:ext cx="2501237" cy="521208"/>
          </a:xfrm>
          <a:prstGeom prst="roundRect">
            <a:avLst/>
          </a:prstGeom>
          <a:solidFill>
            <a:srgbClr val="F6C5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3498" y="469859"/>
            <a:ext cx="2827035" cy="584775"/>
          </a:xfrm>
          <a:prstGeom prst="rect">
            <a:avLst/>
          </a:prstGeom>
          <a:noFill/>
        </p:spPr>
        <p:txBody>
          <a:bodyPr wrap="square" anchor="t">
            <a:spAutoFit/>
          </a:bodyPr>
          <a:lstStyle/>
          <a:p>
            <a:pPr algn="l">
              <a:defRPr sz="1000" b="1">
                <a:solidFill>
                  <a:srgbClr val="17181C"/>
                </a:solidFill>
                <a:latin typeface="Aptos"/>
              </a:defRPr>
            </a:pPr>
            <a:r>
              <a:rPr lang="en-US" sz="3200" dirty="0"/>
              <a:t>INSPIRATION</a:t>
            </a:r>
            <a:endParaRPr sz="3200" dirty="0"/>
          </a:p>
        </p:txBody>
      </p:sp>
      <p:sp>
        <p:nvSpPr>
          <p:cNvPr id="12" name="TextBox 11"/>
          <p:cNvSpPr txBox="1"/>
          <p:nvPr/>
        </p:nvSpPr>
        <p:spPr>
          <a:xfrm>
            <a:off x="502920" y="6510528"/>
            <a:ext cx="2377440" cy="164592"/>
          </a:xfrm>
          <a:prstGeom prst="rect">
            <a:avLst/>
          </a:prstGeom>
          <a:noFill/>
        </p:spPr>
        <p:txBody>
          <a:bodyPr wrap="square" anchor="t">
            <a:spAutoFit/>
          </a:bodyPr>
          <a:lstStyle/>
          <a:p>
            <a:pPr algn="l">
              <a:defRPr sz="750" b="1">
                <a:solidFill>
                  <a:srgbClr val="AAAAAA"/>
                </a:solidFill>
                <a:latin typeface="Aptos"/>
              </a:defRPr>
            </a:pPr>
            <a:r>
              <a:t>MY DISHONEST BENCHMARK</a:t>
            </a:r>
          </a:p>
        </p:txBody>
      </p:sp>
      <p:pic>
        <p:nvPicPr>
          <p:cNvPr id="16" name="Picture 15">
            <a:extLst>
              <a:ext uri="{FF2B5EF4-FFF2-40B4-BE49-F238E27FC236}">
                <a16:creationId xmlns:a16="http://schemas.microsoft.com/office/drawing/2014/main" id="{D3AF6341-E94B-3D5C-6707-6996E2EBAE6E}"/>
              </a:ext>
            </a:extLst>
          </p:cNvPr>
          <p:cNvPicPr>
            <a:picLocks noChangeAspect="1"/>
          </p:cNvPicPr>
          <p:nvPr/>
        </p:nvPicPr>
        <p:blipFill>
          <a:blip r:embed="rId2"/>
          <a:stretch>
            <a:fillRect/>
          </a:stretch>
        </p:blipFill>
        <p:spPr>
          <a:xfrm>
            <a:off x="4634527" y="-5704"/>
            <a:ext cx="7528643" cy="677577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10" name="Section Tag"/>
          <p:cNvSpPr/>
          <p:nvPr/>
        </p:nvSpPr>
        <p:spPr>
          <a:xfrm>
            <a:off x="640079" y="502920"/>
            <a:ext cx="6019800" cy="521208"/>
          </a:xfrm>
          <a:prstGeom prst="roundRect">
            <a:avLst/>
          </a:prstGeom>
          <a:solidFill>
            <a:srgbClr val="5BD67A"/>
          </a:solidFill>
          <a:ln>
            <a:noFill/>
          </a:ln>
        </p:spPr>
        <p:txBody>
          <a:bodyPr wrap="none" lIns="64008" tIns="0" rIns="64008" bIns="0" rtlCol="0" anchor="ctr">
            <a:noAutofit/>
          </a:bodyPr>
          <a:lstStyle/>
          <a:p>
            <a:pPr algn="l"/>
            <a:r>
              <a:rPr lang="en-US" sz="3200" b="1" dirty="0">
                <a:solidFill>
                  <a:srgbClr val="17181C"/>
                </a:solidFill>
                <a:latin typeface="Aptos"/>
              </a:rPr>
              <a:t>MODERN DAY BENCHMARKING</a:t>
            </a:r>
          </a:p>
        </p:txBody>
      </p:sp>
      <p:sp>
        <p:nvSpPr>
          <p:cNvPr id="11" name="Footer"/>
          <p:cNvSpPr txBox="1"/>
          <p:nvPr/>
        </p:nvSpPr>
        <p:spPr>
          <a:xfrm>
            <a:off x="502920" y="6510528"/>
            <a:ext cx="2377440" cy="164592"/>
          </a:xfrm>
          <a:prstGeom prst="rect">
            <a:avLst/>
          </a:prstGeom>
          <a:noFill/>
        </p:spPr>
        <p:txBody>
          <a:bodyPr wrap="square" anchor="t">
            <a:spAutoFit/>
          </a:bodyPr>
          <a:lstStyle/>
          <a:p>
            <a:pPr algn="l"/>
            <a:r>
              <a:rPr lang="en-US" sz="750" b="1" dirty="0">
                <a:solidFill>
                  <a:srgbClr val="AAAAAA"/>
                </a:solidFill>
                <a:latin typeface="Aptos"/>
              </a:rPr>
              <a:t>MY DISHONEST BENCHMARK</a:t>
            </a:r>
          </a:p>
        </p:txBody>
      </p:sp>
      <p:pic>
        <p:nvPicPr>
          <p:cNvPr id="2" name="Picture 1">
            <a:extLst>
              <a:ext uri="{FF2B5EF4-FFF2-40B4-BE49-F238E27FC236}">
                <a16:creationId xmlns:a16="http://schemas.microsoft.com/office/drawing/2014/main" id="{23A09A5B-DC51-E893-A051-A80DC87A53C9}"/>
              </a:ext>
            </a:extLst>
          </p:cNvPr>
          <p:cNvPicPr>
            <a:picLocks noChangeAspect="1"/>
          </p:cNvPicPr>
          <p:nvPr/>
        </p:nvPicPr>
        <p:blipFill>
          <a:blip r:embed="rId2"/>
          <a:stretch>
            <a:fillRect/>
          </a:stretch>
        </p:blipFill>
        <p:spPr>
          <a:xfrm>
            <a:off x="3341077" y="1123462"/>
            <a:ext cx="5244123" cy="5244123"/>
          </a:xfrm>
          <a:prstGeom prst="rect">
            <a:avLst/>
          </a:prstGeom>
          <a:effectLst>
            <a:outerShdw blurRad="508000" algn="ctr" rotWithShape="0">
              <a:srgbClr val="5BD67A">
                <a:alpha val="22000"/>
              </a:srgbClr>
            </a:outerShdw>
          </a:effectLst>
        </p:spPr>
      </p:pic>
    </p:spTree>
    <p:extLst>
      <p:ext uri="{BB962C8B-B14F-4D97-AF65-F5344CB8AC3E}">
        <p14:creationId xmlns:p14="http://schemas.microsoft.com/office/powerpoint/2010/main" val="2117283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 name="Rounded Rectangle 1"/>
          <p:cNvSpPr/>
          <p:nvPr/>
        </p:nvSpPr>
        <p:spPr>
          <a:xfrm>
            <a:off x="498347" y="594359"/>
            <a:ext cx="2227267" cy="460717"/>
          </a:xfrm>
          <a:prstGeom prst="roundRect">
            <a:avLst/>
          </a:prstGeom>
          <a:solidFill>
            <a:srgbClr val="00C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43835" y="526129"/>
            <a:ext cx="2281779" cy="584775"/>
          </a:xfrm>
          <a:prstGeom prst="rect">
            <a:avLst/>
          </a:prstGeom>
          <a:noFill/>
        </p:spPr>
        <p:txBody>
          <a:bodyPr wrap="square" anchor="t">
            <a:spAutoFit/>
          </a:bodyPr>
          <a:lstStyle/>
          <a:p>
            <a:pPr algn="l">
              <a:defRPr sz="1000" b="1">
                <a:solidFill>
                  <a:srgbClr val="17181C"/>
                </a:solidFill>
                <a:latin typeface="Aptos"/>
              </a:defRPr>
            </a:pPr>
            <a:r>
              <a:rPr sz="3200" dirty="0"/>
              <a:t>HISTORY</a:t>
            </a:r>
          </a:p>
        </p:txBody>
      </p:sp>
      <p:sp>
        <p:nvSpPr>
          <p:cNvPr id="6" name="TextBox 5"/>
          <p:cNvSpPr txBox="1"/>
          <p:nvPr/>
        </p:nvSpPr>
        <p:spPr>
          <a:xfrm>
            <a:off x="502920" y="6510528"/>
            <a:ext cx="2377440" cy="164592"/>
          </a:xfrm>
          <a:prstGeom prst="rect">
            <a:avLst/>
          </a:prstGeom>
          <a:noFill/>
        </p:spPr>
        <p:txBody>
          <a:bodyPr wrap="square" anchor="t">
            <a:spAutoFit/>
          </a:bodyPr>
          <a:lstStyle/>
          <a:p>
            <a:pPr algn="l">
              <a:defRPr sz="750" b="1">
                <a:solidFill>
                  <a:srgbClr val="AAAAAA"/>
                </a:solidFill>
                <a:latin typeface="Aptos"/>
              </a:defRPr>
            </a:pPr>
            <a:r>
              <a:rPr dirty="0"/>
              <a:t>MY DISHONEST BENCHMARK</a:t>
            </a:r>
          </a:p>
        </p:txBody>
      </p:sp>
      <p:sp>
        <p:nvSpPr>
          <p:cNvPr id="7" name="TextBox 6"/>
          <p:cNvSpPr txBox="1"/>
          <p:nvPr/>
        </p:nvSpPr>
        <p:spPr>
          <a:xfrm>
            <a:off x="11155680" y="6473952"/>
            <a:ext cx="502920" cy="182880"/>
          </a:xfrm>
          <a:prstGeom prst="rect">
            <a:avLst/>
          </a:prstGeom>
          <a:noFill/>
        </p:spPr>
        <p:txBody>
          <a:bodyPr wrap="square" anchor="t">
            <a:spAutoFit/>
          </a:bodyPr>
          <a:lstStyle/>
          <a:p>
            <a:pPr algn="r">
              <a:defRPr sz="800" b="1">
                <a:solidFill>
                  <a:srgbClr val="AAAAAA"/>
                </a:solidFill>
                <a:latin typeface="Aptos"/>
              </a:defRPr>
            </a:pPr>
            <a:r>
              <a:t>04</a:t>
            </a:r>
          </a:p>
        </p:txBody>
      </p:sp>
      <p:pic>
        <p:nvPicPr>
          <p:cNvPr id="9" name="Picture 8">
            <a:extLst>
              <a:ext uri="{FF2B5EF4-FFF2-40B4-BE49-F238E27FC236}">
                <a16:creationId xmlns:a16="http://schemas.microsoft.com/office/drawing/2014/main" id="{C8AB1990-F32A-15A7-E293-AE55FF4687DC}"/>
              </a:ext>
            </a:extLst>
          </p:cNvPr>
          <p:cNvPicPr>
            <a:picLocks noChangeAspect="1"/>
          </p:cNvPicPr>
          <p:nvPr/>
        </p:nvPicPr>
        <p:blipFill>
          <a:blip r:embed="rId3"/>
          <a:stretch>
            <a:fillRect/>
          </a:stretch>
        </p:blipFill>
        <p:spPr>
          <a:xfrm>
            <a:off x="1734324" y="1179134"/>
            <a:ext cx="8778450" cy="51872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46C203-CD3D-457D-DD8E-B0D157712495}"/>
              </a:ext>
            </a:extLst>
          </p:cNvPr>
          <p:cNvSpPr txBox="1"/>
          <p:nvPr/>
        </p:nvSpPr>
        <p:spPr>
          <a:xfrm>
            <a:off x="498347" y="1711757"/>
            <a:ext cx="3657600" cy="3436486"/>
          </a:xfrm>
          <a:prstGeom prst="rect">
            <a:avLst/>
          </a:prstGeom>
          <a:noFill/>
        </p:spPr>
        <p:txBody>
          <a:bodyPr wrap="square" lIns="0" rtlCol="0" anchor="ctr">
            <a:noAutofit/>
          </a:bodyPr>
          <a:lstStyle/>
          <a:p>
            <a:pPr algn="l">
              <a:lnSpc>
                <a:spcPct val="95000"/>
              </a:lnSpc>
            </a:pPr>
            <a:r>
              <a:rPr lang="en-GB" sz="4400" b="1" dirty="0">
                <a:solidFill>
                  <a:srgbClr val="FFFFFF"/>
                </a:solidFill>
                <a:latin typeface="Aptos Display"/>
              </a:rPr>
              <a:t>There was</a:t>
            </a:r>
            <a:br>
              <a:rPr lang="en-GB" sz="4400" b="1" dirty="0"/>
            </a:br>
            <a:r>
              <a:rPr lang="en-GB" sz="4400" b="1" dirty="0">
                <a:solidFill>
                  <a:srgbClr val="FFFFFF"/>
                </a:solidFill>
                <a:latin typeface="Aptos Display"/>
              </a:rPr>
              <a:t>one small</a:t>
            </a:r>
            <a:br>
              <a:rPr lang="en-GB" sz="4400" b="1" dirty="0"/>
            </a:br>
            <a:r>
              <a:rPr lang="en-GB" sz="4400" b="1" dirty="0">
                <a:solidFill>
                  <a:srgbClr val="FF655C"/>
                </a:solidFill>
                <a:latin typeface="Aptos Display"/>
              </a:rPr>
              <a:t>problem.</a:t>
            </a:r>
          </a:p>
        </p:txBody>
      </p:sp>
      <p:pic>
        <p:nvPicPr>
          <p:cNvPr id="3" name="Picture 2">
            <a:extLst>
              <a:ext uri="{FF2B5EF4-FFF2-40B4-BE49-F238E27FC236}">
                <a16:creationId xmlns:a16="http://schemas.microsoft.com/office/drawing/2014/main" id="{29BA6BBF-8A12-42E0-63D1-B602BD4C48F7}"/>
              </a:ext>
            </a:extLst>
          </p:cNvPr>
          <p:cNvPicPr>
            <a:picLocks noChangeAspect="1"/>
          </p:cNvPicPr>
          <p:nvPr/>
        </p:nvPicPr>
        <p:blipFill>
          <a:blip r:embed="rId3"/>
          <a:srcRect l="600" t="1200" r="600" b="1200"/>
          <a:stretch>
            <a:fillRect/>
          </a:stretch>
        </p:blipFill>
        <p:spPr>
          <a:xfrm>
            <a:off x="4389120" y="1711757"/>
            <a:ext cx="7304533" cy="3436486"/>
          </a:xfrm>
          <a:prstGeom prst="rect">
            <a:avLst/>
          </a:prstGeom>
        </p:spPr>
      </p:pic>
      <p:sp>
        <p:nvSpPr>
          <p:cNvPr id="6" name="TextBox 5"/>
          <p:cNvSpPr txBox="1"/>
          <p:nvPr/>
        </p:nvSpPr>
        <p:spPr>
          <a:xfrm>
            <a:off x="502920" y="6510528"/>
            <a:ext cx="2377440" cy="164592"/>
          </a:xfrm>
          <a:prstGeom prst="rect">
            <a:avLst/>
          </a:prstGeom>
          <a:noFill/>
        </p:spPr>
        <p:txBody>
          <a:bodyPr wrap="square" anchor="t">
            <a:spAutoFit/>
          </a:bodyPr>
          <a:lstStyle/>
          <a:p>
            <a:pPr algn="l">
              <a:defRPr sz="750" b="1">
                <a:solidFill>
                  <a:srgbClr val="AAAAAA"/>
                </a:solidFill>
                <a:latin typeface="Aptos"/>
              </a:defRPr>
            </a:pPr>
            <a:r>
              <a:rPr lang="en-US" sz="750" b="1" dirty="0">
                <a:solidFill>
                  <a:srgbClr val="AAAAAA"/>
                </a:solidFill>
                <a:latin typeface="Aptos"/>
              </a:rPr>
              <a:t>MY DISHONEST BENCHMARK</a:t>
            </a:r>
          </a:p>
        </p:txBody>
      </p:sp>
      <p:sp>
        <p:nvSpPr>
          <p:cNvPr id="7" name="TextBox 6"/>
          <p:cNvSpPr txBox="1"/>
          <p:nvPr/>
        </p:nvSpPr>
        <p:spPr>
          <a:xfrm>
            <a:off x="11155680" y="6473952"/>
            <a:ext cx="502920" cy="182880"/>
          </a:xfrm>
          <a:prstGeom prst="rect">
            <a:avLst/>
          </a:prstGeom>
          <a:noFill/>
        </p:spPr>
        <p:txBody>
          <a:bodyPr wrap="square" anchor="t">
            <a:spAutoFit/>
          </a:bodyPr>
          <a:lstStyle/>
          <a:p>
            <a:pPr algn="r">
              <a:defRPr sz="800" b="1">
                <a:solidFill>
                  <a:srgbClr val="AAAAAA"/>
                </a:solidFill>
                <a:latin typeface="Aptos"/>
              </a:defRPr>
            </a:pPr>
            <a:r>
              <a:rPr lang="en-US" sz="800" b="1" dirty="0">
                <a:solidFill>
                  <a:srgbClr val="AAAAAA"/>
                </a:solidFill>
                <a:latin typeface="Aptos"/>
              </a:rPr>
              <a:t>05</a:t>
            </a:r>
          </a:p>
        </p:txBody>
      </p:sp>
    </p:spTree>
    <p:extLst>
      <p:ext uri="{BB962C8B-B14F-4D97-AF65-F5344CB8AC3E}">
        <p14:creationId xmlns:p14="http://schemas.microsoft.com/office/powerpoint/2010/main" val="3587552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8AD475E1-8450-E258-2E49-81E58A26385F}"/>
              </a:ext>
            </a:extLst>
          </p:cNvPr>
          <p:cNvPicPr>
            <a:picLocks noChangeAspect="1"/>
          </p:cNvPicPr>
          <p:nvPr/>
        </p:nvPicPr>
        <p:blipFill>
          <a:blip r:embed="rId2"/>
          <a:srcRect b="5480"/>
          <a:stretch>
            <a:fillRect/>
          </a:stretch>
        </p:blipFill>
        <p:spPr>
          <a:xfrm>
            <a:off x="20" y="1282"/>
            <a:ext cx="12191980" cy="6856718"/>
          </a:xfrm>
          <a:prstGeom prst="rect">
            <a:avLst/>
          </a:prstGeom>
        </p:spPr>
      </p:pic>
    </p:spTree>
    <p:extLst>
      <p:ext uri="{BB962C8B-B14F-4D97-AF65-F5344CB8AC3E}">
        <p14:creationId xmlns:p14="http://schemas.microsoft.com/office/powerpoint/2010/main" val="271812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 name="Tag"/>
          <p:cNvSpPr/>
          <p:nvPr/>
        </p:nvSpPr>
        <p:spPr>
          <a:xfrm>
            <a:off x="498347" y="594359"/>
            <a:ext cx="4389120" cy="460717"/>
          </a:xfrm>
          <a:prstGeom prst="roundRect">
            <a:avLst/>
          </a:prstGeom>
          <a:solidFill>
            <a:srgbClr val="FF655C"/>
          </a:solidFill>
          <a:ln>
            <a:noFill/>
          </a:ln>
        </p:spPr>
        <p:txBody>
          <a:bodyPr wrap="square" lIns="0" tIns="0" rIns="0" bIns="0" rtlCol="0" anchor="ctr">
            <a:noAutofit/>
          </a:bodyPr>
          <a:lstStyle/>
          <a:p>
            <a:pPr algn="ctr"/>
            <a:r>
              <a:rPr lang="en-US" sz="3200" b="1" dirty="0">
                <a:solidFill>
                  <a:srgbClr val="17181C"/>
                </a:solidFill>
                <a:latin typeface="Aptos"/>
              </a:rPr>
              <a:t>THE DEWITT CLAUSE</a:t>
            </a:r>
          </a:p>
        </p:txBody>
      </p:sp>
      <p:sp>
        <p:nvSpPr>
          <p:cNvPr id="3" name="Title"/>
          <p:cNvSpPr txBox="1"/>
          <p:nvPr/>
        </p:nvSpPr>
        <p:spPr>
          <a:xfrm>
            <a:off x="498347" y="1371600"/>
            <a:ext cx="11195306" cy="731520"/>
          </a:xfrm>
          <a:prstGeom prst="rect">
            <a:avLst/>
          </a:prstGeom>
          <a:noFill/>
          <a:ln>
            <a:noFill/>
          </a:ln>
        </p:spPr>
        <p:txBody>
          <a:bodyPr wrap="square" lIns="0" tIns="0" rIns="0" bIns="0" rtlCol="0" anchor="t">
            <a:noAutofit/>
          </a:bodyPr>
          <a:lstStyle/>
          <a:p>
            <a:pPr algn="l"/>
            <a:r>
              <a:rPr lang="en-US" sz="4000" b="1" dirty="0">
                <a:solidFill>
                  <a:srgbClr val="FFFFFF"/>
                </a:solidFill>
                <a:latin typeface="Aptos Display"/>
              </a:rPr>
              <a:t>The DeWitt Clause changed the battlefield</a:t>
            </a:r>
          </a:p>
        </p:txBody>
      </p:sp>
      <p:sp>
        <p:nvSpPr>
          <p:cNvPr id="4" name="Timeline"/>
          <p:cNvSpPr/>
          <p:nvPr/>
        </p:nvSpPr>
        <p:spPr>
          <a:xfrm>
            <a:off x="498347" y="3008376"/>
            <a:ext cx="11195306" cy="18288"/>
          </a:xfrm>
          <a:prstGeom prst="rect">
            <a:avLst/>
          </a:prstGeom>
          <a:solidFill>
            <a:srgbClr val="3A3C42"/>
          </a:solidFill>
          <a:ln>
            <a:noFill/>
          </a:ln>
        </p:spPr>
        <p:txBody>
          <a:bodyPr rtlCol="0" anchor="ctr"/>
          <a:lstStyle/>
          <a:p>
            <a:endParaRPr lang="en-US" dirty="0"/>
          </a:p>
        </p:txBody>
      </p:sp>
      <p:sp>
        <p:nvSpPr>
          <p:cNvPr id="5" name="Dot 1"/>
          <p:cNvSpPr/>
          <p:nvPr/>
        </p:nvSpPr>
        <p:spPr>
          <a:xfrm>
            <a:off x="681227" y="2903220"/>
            <a:ext cx="228600" cy="228600"/>
          </a:xfrm>
          <a:prstGeom prst="ellipse">
            <a:avLst/>
          </a:prstGeom>
          <a:solidFill>
            <a:srgbClr val="6B6E76"/>
          </a:solidFill>
          <a:ln>
            <a:noFill/>
          </a:ln>
        </p:spPr>
        <p:txBody>
          <a:bodyPr rtlCol="0" anchor="ctr"/>
          <a:lstStyle/>
          <a:p>
            <a:endParaRPr lang="en-US" dirty="0"/>
          </a:p>
        </p:txBody>
      </p:sp>
      <p:sp>
        <p:nvSpPr>
          <p:cNvPr id="6" name="Card 1"/>
          <p:cNvSpPr/>
          <p:nvPr/>
        </p:nvSpPr>
        <p:spPr>
          <a:xfrm>
            <a:off x="498347" y="3337560"/>
            <a:ext cx="2606040" cy="2423160"/>
          </a:xfrm>
          <a:prstGeom prst="roundRect">
            <a:avLst>
              <a:gd name="adj" fmla="val 7000"/>
            </a:avLst>
          </a:prstGeom>
          <a:solidFill>
            <a:srgbClr val="222329"/>
          </a:solidFill>
          <a:ln>
            <a:noFill/>
          </a:ln>
        </p:spPr>
        <p:txBody>
          <a:bodyPr wrap="square" lIns="182880" tIns="228600" rIns="182880" bIns="182880" rtlCol="0" anchor="t">
            <a:noAutofit/>
          </a:bodyPr>
          <a:lstStyle/>
          <a:p>
            <a:pPr algn="l">
              <a:spcAft>
                <a:spcPts val="1000"/>
              </a:spcAft>
            </a:pPr>
            <a:r>
              <a:rPr lang="en-US" sz="1400" b="1" dirty="0">
                <a:solidFill>
                  <a:srgbClr val="8E9099"/>
                </a:solidFill>
                <a:latin typeface="Aptos"/>
              </a:rPr>
              <a:t>1980S</a:t>
            </a:r>
          </a:p>
          <a:p>
            <a:pPr algn="l">
              <a:lnSpc>
                <a:spcPct val="95000"/>
              </a:lnSpc>
              <a:spcAft>
                <a:spcPts val="1000"/>
              </a:spcAft>
            </a:pPr>
            <a:r>
              <a:rPr lang="en-US" sz="2200" b="1" dirty="0">
                <a:solidFill>
                  <a:srgbClr val="FFFFFF"/>
                </a:solidFill>
                <a:latin typeface="Aptos Display"/>
              </a:rPr>
              <a:t>Wisconsin Benchmark</a:t>
            </a:r>
          </a:p>
          <a:p>
            <a:pPr algn="l"/>
            <a:r>
              <a:rPr lang="en-US" sz="1600" b="0" dirty="0">
                <a:solidFill>
                  <a:srgbClr val="BEBEBE"/>
                </a:solidFill>
                <a:latin typeface="Aptos"/>
              </a:rPr>
              <a:t>Independent academic DBMS benchmarking</a:t>
            </a:r>
          </a:p>
        </p:txBody>
      </p:sp>
      <p:sp>
        <p:nvSpPr>
          <p:cNvPr id="7" name="Dot 2"/>
          <p:cNvSpPr/>
          <p:nvPr/>
        </p:nvSpPr>
        <p:spPr>
          <a:xfrm>
            <a:off x="3544983" y="2903220"/>
            <a:ext cx="228600" cy="228600"/>
          </a:xfrm>
          <a:prstGeom prst="ellipse">
            <a:avLst/>
          </a:prstGeom>
          <a:solidFill>
            <a:srgbClr val="6B6E76"/>
          </a:solidFill>
          <a:ln>
            <a:noFill/>
          </a:ln>
        </p:spPr>
        <p:txBody>
          <a:bodyPr rtlCol="0" anchor="ctr"/>
          <a:lstStyle/>
          <a:p>
            <a:endParaRPr lang="en-US" dirty="0"/>
          </a:p>
        </p:txBody>
      </p:sp>
      <p:sp>
        <p:nvSpPr>
          <p:cNvPr id="8" name="Card 2"/>
          <p:cNvSpPr/>
          <p:nvPr/>
        </p:nvSpPr>
        <p:spPr>
          <a:xfrm>
            <a:off x="3362103" y="3337560"/>
            <a:ext cx="2606040" cy="2423160"/>
          </a:xfrm>
          <a:prstGeom prst="roundRect">
            <a:avLst>
              <a:gd name="adj" fmla="val 7000"/>
            </a:avLst>
          </a:prstGeom>
          <a:solidFill>
            <a:srgbClr val="222329"/>
          </a:solidFill>
          <a:ln>
            <a:noFill/>
          </a:ln>
        </p:spPr>
        <p:txBody>
          <a:bodyPr wrap="square" lIns="182880" tIns="228600" rIns="182880" bIns="182880" rtlCol="0" anchor="t">
            <a:noAutofit/>
          </a:bodyPr>
          <a:lstStyle/>
          <a:p>
            <a:pPr algn="l">
              <a:spcAft>
                <a:spcPts val="1000"/>
              </a:spcAft>
            </a:pPr>
            <a:r>
              <a:rPr lang="en-US" sz="1400" b="1" dirty="0">
                <a:solidFill>
                  <a:srgbClr val="8E9099"/>
                </a:solidFill>
                <a:latin typeface="Aptos"/>
              </a:rPr>
              <a:t>VENDOR PRESSURE</a:t>
            </a:r>
          </a:p>
          <a:p>
            <a:pPr algn="l">
              <a:lnSpc>
                <a:spcPct val="95000"/>
              </a:lnSpc>
              <a:spcAft>
                <a:spcPts val="1000"/>
              </a:spcAft>
            </a:pPr>
            <a:r>
              <a:rPr lang="en-US" sz="2200" b="1" dirty="0">
                <a:solidFill>
                  <a:srgbClr val="FFFFFF"/>
                </a:solidFill>
                <a:latin typeface="Aptos Display"/>
              </a:rPr>
              <a:t>Commercial conflict</a:t>
            </a:r>
          </a:p>
          <a:p>
            <a:pPr algn="l"/>
            <a:r>
              <a:rPr lang="en-US" sz="1600" b="0" dirty="0">
                <a:solidFill>
                  <a:srgbClr val="BEBEBE"/>
                </a:solidFill>
                <a:latin typeface="Aptos"/>
              </a:rPr>
              <a:t>Poor results trigger fights</a:t>
            </a:r>
          </a:p>
        </p:txBody>
      </p:sp>
      <p:sp>
        <p:nvSpPr>
          <p:cNvPr id="9" name="Dot 3"/>
          <p:cNvSpPr/>
          <p:nvPr/>
        </p:nvSpPr>
        <p:spPr>
          <a:xfrm>
            <a:off x="6408739" y="2903220"/>
            <a:ext cx="228600" cy="228600"/>
          </a:xfrm>
          <a:prstGeom prst="ellipse">
            <a:avLst/>
          </a:prstGeom>
          <a:solidFill>
            <a:srgbClr val="FF655C"/>
          </a:solidFill>
          <a:ln>
            <a:noFill/>
          </a:ln>
        </p:spPr>
        <p:txBody>
          <a:bodyPr rtlCol="0" anchor="ctr"/>
          <a:lstStyle/>
          <a:p>
            <a:endParaRPr lang="en-US" dirty="0"/>
          </a:p>
        </p:txBody>
      </p:sp>
      <p:sp>
        <p:nvSpPr>
          <p:cNvPr id="10" name="Card 3"/>
          <p:cNvSpPr/>
          <p:nvPr/>
        </p:nvSpPr>
        <p:spPr>
          <a:xfrm>
            <a:off x="6225859" y="3337560"/>
            <a:ext cx="2606040" cy="2423160"/>
          </a:xfrm>
          <a:prstGeom prst="roundRect">
            <a:avLst>
              <a:gd name="adj" fmla="val 7000"/>
            </a:avLst>
          </a:prstGeom>
          <a:solidFill>
            <a:srgbClr val="2A1E1F"/>
          </a:solidFill>
          <a:ln w="19050">
            <a:solidFill>
              <a:srgbClr val="FF655C"/>
            </a:solidFill>
          </a:ln>
        </p:spPr>
        <p:txBody>
          <a:bodyPr wrap="square" lIns="182880" tIns="228600" rIns="182880" bIns="182880" rtlCol="0" anchor="t">
            <a:noAutofit/>
          </a:bodyPr>
          <a:lstStyle/>
          <a:p>
            <a:pPr algn="l">
              <a:spcAft>
                <a:spcPts val="1000"/>
              </a:spcAft>
            </a:pPr>
            <a:r>
              <a:rPr lang="en-US" sz="1400" b="1" dirty="0">
                <a:solidFill>
                  <a:srgbClr val="FF655C"/>
                </a:solidFill>
                <a:latin typeface="Aptos"/>
              </a:rPr>
              <a:t>DEWITT CLAUSE</a:t>
            </a:r>
          </a:p>
          <a:p>
            <a:pPr algn="l">
              <a:lnSpc>
                <a:spcPct val="95000"/>
              </a:lnSpc>
              <a:spcAft>
                <a:spcPts val="1000"/>
              </a:spcAft>
            </a:pPr>
            <a:r>
              <a:rPr lang="en-US" sz="2200" b="1" dirty="0">
                <a:solidFill>
                  <a:srgbClr val="FFFFFF"/>
                </a:solidFill>
                <a:latin typeface="Aptos Display"/>
              </a:rPr>
              <a:t>License restriction</a:t>
            </a:r>
          </a:p>
          <a:p>
            <a:pPr algn="l"/>
            <a:r>
              <a:rPr lang="en-US" sz="1600" b="0" dirty="0">
                <a:solidFill>
                  <a:srgbClr val="BEBEBE"/>
                </a:solidFill>
                <a:latin typeface="Aptos"/>
              </a:rPr>
              <a:t>Publishing results can require approval</a:t>
            </a:r>
          </a:p>
        </p:txBody>
      </p:sp>
      <p:sp>
        <p:nvSpPr>
          <p:cNvPr id="11" name="Dot 4"/>
          <p:cNvSpPr/>
          <p:nvPr/>
        </p:nvSpPr>
        <p:spPr>
          <a:xfrm>
            <a:off x="9272495" y="2903220"/>
            <a:ext cx="228600" cy="228600"/>
          </a:xfrm>
          <a:prstGeom prst="ellipse">
            <a:avLst/>
          </a:prstGeom>
          <a:solidFill>
            <a:srgbClr val="6B6E76"/>
          </a:solidFill>
          <a:ln>
            <a:noFill/>
          </a:ln>
        </p:spPr>
        <p:txBody>
          <a:bodyPr rtlCol="0" anchor="ctr"/>
          <a:lstStyle/>
          <a:p>
            <a:endParaRPr lang="en-US" dirty="0"/>
          </a:p>
        </p:txBody>
      </p:sp>
      <p:sp>
        <p:nvSpPr>
          <p:cNvPr id="12" name="Card 4"/>
          <p:cNvSpPr/>
          <p:nvPr/>
        </p:nvSpPr>
        <p:spPr>
          <a:xfrm>
            <a:off x="9089615" y="3337560"/>
            <a:ext cx="2606040" cy="2423160"/>
          </a:xfrm>
          <a:prstGeom prst="roundRect">
            <a:avLst>
              <a:gd name="adj" fmla="val 7000"/>
            </a:avLst>
          </a:prstGeom>
          <a:solidFill>
            <a:srgbClr val="222329"/>
          </a:solidFill>
          <a:ln>
            <a:noFill/>
          </a:ln>
        </p:spPr>
        <p:txBody>
          <a:bodyPr wrap="square" lIns="182880" tIns="228600" rIns="182880" bIns="182880" rtlCol="0" anchor="t">
            <a:noAutofit/>
          </a:bodyPr>
          <a:lstStyle/>
          <a:p>
            <a:pPr algn="l">
              <a:spcAft>
                <a:spcPts val="1000"/>
              </a:spcAft>
            </a:pPr>
            <a:r>
              <a:rPr lang="en-US" sz="1400" b="1" dirty="0">
                <a:solidFill>
                  <a:srgbClr val="8E9099"/>
                </a:solidFill>
                <a:latin typeface="Aptos"/>
              </a:rPr>
              <a:t>RESULT</a:t>
            </a:r>
          </a:p>
          <a:p>
            <a:pPr algn="l">
              <a:lnSpc>
                <a:spcPct val="95000"/>
              </a:lnSpc>
              <a:spcAft>
                <a:spcPts val="1000"/>
              </a:spcAft>
            </a:pPr>
            <a:r>
              <a:rPr lang="en-US" sz="2200" b="1" dirty="0">
                <a:solidFill>
                  <a:srgbClr val="FFFFFF"/>
                </a:solidFill>
                <a:latin typeface="Aptos Display"/>
              </a:rPr>
              <a:t>Benchmarketing</a:t>
            </a:r>
          </a:p>
          <a:p>
            <a:pPr algn="l"/>
            <a:r>
              <a:rPr lang="en-US" sz="1600" b="0" dirty="0">
                <a:solidFill>
                  <a:srgbClr val="BEBEBE"/>
                </a:solidFill>
                <a:latin typeface="Aptos"/>
              </a:rPr>
              <a:t>Loss of academic interest</a:t>
            </a:r>
          </a:p>
        </p:txBody>
      </p:sp>
      <p:sp>
        <p:nvSpPr>
          <p:cNvPr id="13" name="Footer"/>
          <p:cNvSpPr txBox="1"/>
          <p:nvPr/>
        </p:nvSpPr>
        <p:spPr>
          <a:xfrm>
            <a:off x="502920" y="6510528"/>
            <a:ext cx="2377440" cy="164592"/>
          </a:xfrm>
          <a:prstGeom prst="rect">
            <a:avLst/>
          </a:prstGeom>
          <a:noFill/>
          <a:ln>
            <a:noFill/>
          </a:ln>
        </p:spPr>
        <p:txBody>
          <a:bodyPr wrap="square" anchor="t">
            <a:spAutoFit/>
          </a:bodyPr>
          <a:lstStyle/>
          <a:p>
            <a:pPr algn="l"/>
            <a:r>
              <a:rPr lang="en-US" sz="750" b="1" dirty="0">
                <a:solidFill>
                  <a:srgbClr val="AAAAAA"/>
                </a:solidFill>
                <a:latin typeface="Aptos"/>
              </a:rPr>
              <a:t>MY DISHONEST BENCHMARK</a:t>
            </a:r>
          </a:p>
        </p:txBody>
      </p:sp>
      <p:sp>
        <p:nvSpPr>
          <p:cNvPr id="14" name="Page"/>
          <p:cNvSpPr txBox="1"/>
          <p:nvPr/>
        </p:nvSpPr>
        <p:spPr>
          <a:xfrm>
            <a:off x="11155680" y="6473952"/>
            <a:ext cx="502920" cy="182880"/>
          </a:xfrm>
          <a:prstGeom prst="rect">
            <a:avLst/>
          </a:prstGeom>
          <a:noFill/>
          <a:ln>
            <a:noFill/>
          </a:ln>
        </p:spPr>
        <p:txBody>
          <a:bodyPr wrap="square" anchor="t">
            <a:spAutoFit/>
          </a:bodyPr>
          <a:lstStyle/>
          <a:p>
            <a:pPr algn="r"/>
            <a:r>
              <a:rPr lang="en-US" sz="800" b="1" dirty="0">
                <a:solidFill>
                  <a:srgbClr val="AAAAAA"/>
                </a:solidFill>
                <a:latin typeface="Aptos"/>
              </a:rPr>
              <a:t>05</a:t>
            </a:r>
          </a:p>
        </p:txBody>
      </p:sp>
    </p:spTree>
    <p:extLst>
      <p:ext uri="{BB962C8B-B14F-4D97-AF65-F5344CB8AC3E}">
        <p14:creationId xmlns:p14="http://schemas.microsoft.com/office/powerpoint/2010/main" val="1459350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9" name="Tag"/>
          <p:cNvSpPr/>
          <p:nvPr/>
        </p:nvSpPr>
        <p:spPr>
          <a:xfrm>
            <a:off x="498347" y="594359"/>
            <a:ext cx="3683000" cy="460717"/>
          </a:xfrm>
          <a:prstGeom prst="roundRect">
            <a:avLst/>
          </a:prstGeom>
          <a:solidFill>
            <a:srgbClr val="FF655C"/>
          </a:solidFill>
          <a:ln>
            <a:noFill/>
          </a:ln>
        </p:spPr>
        <p:txBody>
          <a:bodyPr wrap="none" lIns="0" tIns="0" rIns="0" bIns="0" rtlCol="0" anchor="ctr">
            <a:noAutofit/>
          </a:bodyPr>
          <a:lstStyle/>
          <a:p>
            <a:pPr algn="ctr"/>
            <a:r>
              <a:rPr lang="en-US" sz="3200" b="1" dirty="0">
                <a:solidFill>
                  <a:srgbClr val="17181C"/>
                </a:solidFill>
                <a:latin typeface="Aptos"/>
              </a:rPr>
              <a:t>CONSEQUENCE</a:t>
            </a:r>
          </a:p>
        </p:txBody>
      </p:sp>
      <p:sp>
        <p:nvSpPr>
          <p:cNvPr id="4" name="Title"/>
          <p:cNvSpPr txBox="1"/>
          <p:nvPr/>
        </p:nvSpPr>
        <p:spPr>
          <a:xfrm>
            <a:off x="498347" y="1325880"/>
            <a:ext cx="11195306" cy="1280160"/>
          </a:xfrm>
          <a:prstGeom prst="rect">
            <a:avLst/>
          </a:prstGeom>
          <a:noFill/>
          <a:ln>
            <a:noFill/>
          </a:ln>
        </p:spPr>
        <p:txBody>
          <a:bodyPr wrap="square" lIns="0" tIns="0" rIns="0" bIns="0" rtlCol="0" anchor="t">
            <a:noAutofit/>
          </a:bodyPr>
          <a:lstStyle/>
          <a:p>
            <a:pPr algn="l">
              <a:lnSpc>
                <a:spcPct val="95000"/>
              </a:lnSpc>
            </a:pPr>
            <a:r>
              <a:rPr lang="en-US" sz="4000" b="1" dirty="0">
                <a:solidFill>
                  <a:srgbClr val="FFFFFF"/>
                </a:solidFill>
                <a:latin typeface="Aptos Display"/>
              </a:rPr>
              <a:t>The DeWitt Clause helped change who controlled the benchmark narrative</a:t>
            </a:r>
          </a:p>
        </p:txBody>
      </p:sp>
      <p:sp>
        <p:nvSpPr>
          <p:cNvPr id="10" name="Card Researchers"/>
          <p:cNvSpPr/>
          <p:nvPr/>
        </p:nvSpPr>
        <p:spPr>
          <a:xfrm>
            <a:off x="498347" y="2880360"/>
            <a:ext cx="5140453" cy="2560320"/>
          </a:xfrm>
          <a:prstGeom prst="roundRect">
            <a:avLst>
              <a:gd name="adj" fmla="val 7000"/>
            </a:avLst>
          </a:prstGeom>
          <a:solidFill>
            <a:srgbClr val="222329"/>
          </a:solidFill>
          <a:ln>
            <a:noFill/>
          </a:ln>
        </p:spPr>
        <p:txBody>
          <a:bodyPr wrap="square" lIns="274320" tIns="182880" rIns="274320" bIns="182880" rtlCol="0" anchor="ctr">
            <a:noAutofit/>
          </a:bodyPr>
          <a:lstStyle/>
          <a:p>
            <a:pPr algn="l">
              <a:spcAft>
                <a:spcPts val="1000"/>
              </a:spcAft>
            </a:pPr>
            <a:r>
              <a:rPr lang="en-US" sz="1600" b="1" dirty="0">
                <a:solidFill>
                  <a:srgbClr val="B4B7BF"/>
                </a:solidFill>
                <a:latin typeface="Aptos"/>
              </a:rPr>
              <a:t>INDEPENDENT RESEARCHERS</a:t>
            </a:r>
          </a:p>
          <a:p>
            <a:pPr algn="l">
              <a:spcAft>
                <a:spcPts val="800"/>
              </a:spcAft>
            </a:pPr>
            <a:r>
              <a:rPr lang="en-US" sz="3200" b="1" dirty="0">
                <a:solidFill>
                  <a:srgbClr val="FFFFFF"/>
                </a:solidFill>
                <a:latin typeface="Aptos Display"/>
              </a:rPr>
              <a:t>Pulled back</a:t>
            </a:r>
          </a:p>
          <a:p>
            <a:pPr algn="l"/>
            <a:r>
              <a:rPr lang="en-US" sz="2400" b="0" dirty="0">
                <a:solidFill>
                  <a:srgbClr val="E2E3E6"/>
                </a:solidFill>
                <a:latin typeface="Aptos"/>
              </a:rPr>
              <a:t>Became less willing to publish comparative results</a:t>
            </a:r>
          </a:p>
        </p:txBody>
      </p:sp>
      <p:sp>
        <p:nvSpPr>
          <p:cNvPr id="11" name="Arrow"/>
          <p:cNvSpPr/>
          <p:nvPr/>
        </p:nvSpPr>
        <p:spPr>
          <a:xfrm>
            <a:off x="5867400" y="4000500"/>
            <a:ext cx="457200" cy="320040"/>
          </a:xfrm>
          <a:prstGeom prst="rightArrow">
            <a:avLst/>
          </a:prstGeom>
          <a:solidFill>
            <a:srgbClr val="8E9099"/>
          </a:solidFill>
          <a:ln>
            <a:noFill/>
          </a:ln>
        </p:spPr>
        <p:txBody>
          <a:bodyPr rtlCol="0" anchor="ctr"/>
          <a:lstStyle/>
          <a:p>
            <a:endParaRPr lang="en-US" dirty="0"/>
          </a:p>
        </p:txBody>
      </p:sp>
      <p:sp>
        <p:nvSpPr>
          <p:cNvPr id="12" name="Card Vendors"/>
          <p:cNvSpPr/>
          <p:nvPr/>
        </p:nvSpPr>
        <p:spPr>
          <a:xfrm>
            <a:off x="6553200" y="2880360"/>
            <a:ext cx="5140453" cy="2560320"/>
          </a:xfrm>
          <a:prstGeom prst="roundRect">
            <a:avLst>
              <a:gd name="adj" fmla="val 7000"/>
            </a:avLst>
          </a:prstGeom>
          <a:solidFill>
            <a:srgbClr val="2A1E1F"/>
          </a:solidFill>
          <a:ln w="19050">
            <a:solidFill>
              <a:srgbClr val="FF655C"/>
            </a:solidFill>
          </a:ln>
        </p:spPr>
        <p:txBody>
          <a:bodyPr wrap="square" lIns="274320" tIns="182880" rIns="274320" bIns="182880" rtlCol="0" anchor="ctr">
            <a:noAutofit/>
          </a:bodyPr>
          <a:lstStyle/>
          <a:p>
            <a:pPr algn="l">
              <a:spcAft>
                <a:spcPts val="1000"/>
              </a:spcAft>
            </a:pPr>
            <a:r>
              <a:rPr lang="en-US" sz="1600" b="1" dirty="0">
                <a:solidFill>
                  <a:srgbClr val="FF655C"/>
                </a:solidFill>
                <a:latin typeface="Aptos"/>
              </a:rPr>
              <a:t>VENDORS</a:t>
            </a:r>
          </a:p>
          <a:p>
            <a:pPr algn="l">
              <a:spcAft>
                <a:spcPts val="800"/>
              </a:spcAft>
            </a:pPr>
            <a:r>
              <a:rPr lang="en-US" sz="3200" b="1" dirty="0">
                <a:solidFill>
                  <a:srgbClr val="FFFFFF"/>
                </a:solidFill>
                <a:latin typeface="Aptos Display"/>
              </a:rPr>
              <a:t>Stepped in</a:t>
            </a:r>
          </a:p>
          <a:p>
            <a:pPr algn="l"/>
            <a:r>
              <a:rPr lang="en-US" sz="2400" b="0" dirty="0">
                <a:solidFill>
                  <a:srgbClr val="E2E3E6"/>
                </a:solidFill>
                <a:latin typeface="Aptos"/>
              </a:rPr>
              <a:t>Increasingly published their own benchmark results</a:t>
            </a:r>
          </a:p>
        </p:txBody>
      </p:sp>
      <p:sp>
        <p:nvSpPr>
          <p:cNvPr id="6" name="TextBox 5"/>
          <p:cNvSpPr txBox="1"/>
          <p:nvPr/>
        </p:nvSpPr>
        <p:spPr>
          <a:xfrm>
            <a:off x="502920" y="6510528"/>
            <a:ext cx="2377440" cy="164592"/>
          </a:xfrm>
          <a:prstGeom prst="rect">
            <a:avLst/>
          </a:prstGeom>
          <a:noFill/>
        </p:spPr>
        <p:txBody>
          <a:bodyPr wrap="square" anchor="t">
            <a:spAutoFit/>
          </a:bodyPr>
          <a:lstStyle/>
          <a:p>
            <a:pPr algn="l">
              <a:defRPr sz="750" b="1">
                <a:solidFill>
                  <a:srgbClr val="AAAAAA"/>
                </a:solidFill>
                <a:latin typeface="Aptos"/>
              </a:defRPr>
            </a:pPr>
            <a:r>
              <a:t>MY DISHONEST BENCHMARK</a:t>
            </a:r>
          </a:p>
        </p:txBody>
      </p:sp>
      <p:sp>
        <p:nvSpPr>
          <p:cNvPr id="7" name="TextBox 6"/>
          <p:cNvSpPr txBox="1"/>
          <p:nvPr/>
        </p:nvSpPr>
        <p:spPr>
          <a:xfrm>
            <a:off x="11155680" y="6473952"/>
            <a:ext cx="502920" cy="182880"/>
          </a:xfrm>
          <a:prstGeom prst="rect">
            <a:avLst/>
          </a:prstGeom>
          <a:noFill/>
        </p:spPr>
        <p:txBody>
          <a:bodyPr wrap="square" anchor="t">
            <a:spAutoFit/>
          </a:bodyPr>
          <a:lstStyle/>
          <a:p>
            <a:pPr algn="r">
              <a:defRPr sz="800" b="1">
                <a:solidFill>
                  <a:srgbClr val="AAAAAA"/>
                </a:solidFill>
                <a:latin typeface="Aptos"/>
              </a:defRPr>
            </a:pPr>
            <a:r>
              <a:t>06</a:t>
            </a:r>
          </a:p>
        </p:txBody>
      </p:sp>
    </p:spTree>
    <p:extLst>
      <p:ext uri="{BB962C8B-B14F-4D97-AF65-F5344CB8AC3E}">
        <p14:creationId xmlns:p14="http://schemas.microsoft.com/office/powerpoint/2010/main" val="2001982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1A32BD-EBF2-3830-3181-3E2000A326B1}"/>
              </a:ext>
            </a:extLst>
          </p:cNvPr>
          <p:cNvPicPr>
            <a:picLocks noChangeAspect="1"/>
          </p:cNvPicPr>
          <p:nvPr/>
        </p:nvPicPr>
        <p:blipFill>
          <a:blip r:embed="rId3"/>
          <a:stretch>
            <a:fillRect/>
          </a:stretch>
        </p:blipFill>
        <p:spPr>
          <a:xfrm>
            <a:off x="3239" y="0"/>
            <a:ext cx="12185522" cy="6858000"/>
          </a:xfrm>
          <a:prstGeom prst="rect">
            <a:avLst/>
          </a:prstGeom>
        </p:spPr>
      </p:pic>
      <p:sp>
        <p:nvSpPr>
          <p:cNvPr id="10" name="Title Backdrop"/>
          <p:cNvSpPr/>
          <p:nvPr/>
        </p:nvSpPr>
        <p:spPr>
          <a:xfrm>
            <a:off x="0" y="0"/>
            <a:ext cx="12192000" cy="1422400"/>
          </a:xfrm>
          <a:prstGeom prst="rect">
            <a:avLst/>
          </a:prstGeom>
          <a:gradFill rotWithShape="1">
            <a:gsLst>
              <a:gs pos="0">
                <a:srgbClr val="141A21"/>
              </a:gs>
              <a:gs pos="88000">
                <a:srgbClr val="141A21"/>
              </a:gs>
              <a:gs pos="100000">
                <a:srgbClr val="141A21">
                  <a:alpha val="0"/>
                </a:srgbClr>
              </a:gs>
            </a:gsLst>
            <a:lin ang="5400000" scaled="1"/>
          </a:gradFill>
          <a:ln>
            <a:noFill/>
          </a:ln>
        </p:spPr>
        <p:txBody>
          <a:bodyPr/>
          <a:lstStyle/>
          <a:p>
            <a:endParaRPr lang="en-US" dirty="0"/>
          </a:p>
        </p:txBody>
      </p:sp>
      <p:sp>
        <p:nvSpPr>
          <p:cNvPr id="11" name="Title"/>
          <p:cNvSpPr txBox="1"/>
          <p:nvPr/>
        </p:nvSpPr>
        <p:spPr>
          <a:xfrm>
            <a:off x="508000" y="177800"/>
            <a:ext cx="11176000" cy="635000"/>
          </a:xfrm>
          <a:prstGeom prst="rect">
            <a:avLst/>
          </a:prstGeom>
          <a:noFill/>
        </p:spPr>
        <p:txBody>
          <a:bodyPr wrap="square" lIns="0" tIns="0" rIns="0" bIns="0" anchor="ctr">
            <a:noAutofit/>
          </a:bodyPr>
          <a:lstStyle/>
          <a:p>
            <a:pPr algn="ctr"/>
            <a:r>
              <a:rPr lang="en-US" sz="3800" b="1" dirty="0">
                <a:solidFill>
                  <a:srgbClr val="FFFFFF"/>
                </a:solidFill>
                <a:latin typeface="Aptos Display"/>
              </a:rPr>
              <a:t>The </a:t>
            </a:r>
            <a:r>
              <a:rPr lang="en-US" sz="3800" b="1" dirty="0">
                <a:solidFill>
                  <a:srgbClr val="FF655C"/>
                </a:solidFill>
                <a:latin typeface="Aptos Display"/>
              </a:rPr>
              <a:t>benchmark wars</a:t>
            </a:r>
            <a:r>
              <a:rPr lang="en-US" sz="3800" b="1" dirty="0">
                <a:solidFill>
                  <a:srgbClr val="FFFFFF"/>
                </a:solidFill>
                <a:latin typeface="Aptos Display"/>
              </a:rPr>
              <a:t>, 40 years later</a:t>
            </a:r>
          </a:p>
        </p:txBody>
      </p:sp>
    </p:spTree>
    <p:extLst>
      <p:ext uri="{BB962C8B-B14F-4D97-AF65-F5344CB8AC3E}">
        <p14:creationId xmlns:p14="http://schemas.microsoft.com/office/powerpoint/2010/main" val="1379134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D1640"/>
            </a:gs>
            <a:gs pos="55000">
              <a:srgbClr val="080C24"/>
            </a:gs>
            <a:gs pos="100000">
              <a:srgbClr val="04060F"/>
            </a:gs>
          </a:gsLst>
          <a:lin ang="5400000" scaled="0"/>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DBE632-63AF-33BE-4907-AED8731E85B3}"/>
              </a:ext>
            </a:extLst>
          </p:cNvPr>
          <p:cNvPicPr>
            <a:picLocks noChangeAspect="1"/>
          </p:cNvPicPr>
          <p:nvPr/>
        </p:nvPicPr>
        <p:blipFill>
          <a:blip r:embed="rId2"/>
          <a:stretch>
            <a:fillRect/>
          </a:stretch>
        </p:blipFill>
        <p:spPr>
          <a:xfrm>
            <a:off x="1143000" y="127000"/>
            <a:ext cx="9906000" cy="6604000"/>
          </a:xfrm>
          <a:prstGeom prst="rect">
            <a:avLst/>
          </a:prstGeom>
          <a:effectLst>
            <a:softEdge rad="76200"/>
          </a:effectLst>
        </p:spPr>
      </p:pic>
    </p:spTree>
    <p:extLst>
      <p:ext uri="{BB962C8B-B14F-4D97-AF65-F5344CB8AC3E}">
        <p14:creationId xmlns:p14="http://schemas.microsoft.com/office/powerpoint/2010/main" val="3524972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11A"/>
            </a:gs>
            <a:gs pos="100000">
              <a:srgbClr val="111C2A"/>
            </a:gs>
          </a:gsLst>
          <a:lin ang="5400000" scaled="1"/>
        </a:gradFill>
        <a:effectLst/>
      </p:bgPr>
    </p:bg>
    <p:spTree>
      <p:nvGrpSpPr>
        <p:cNvPr id="1" name=""/>
        <p:cNvGrpSpPr/>
        <p:nvPr/>
      </p:nvGrpSpPr>
      <p:grpSpPr>
        <a:xfrm>
          <a:off x="0" y="0"/>
          <a:ext cx="0" cy="0"/>
          <a:chOff x="0" y="0"/>
          <a:chExt cx="0" cy="0"/>
        </a:xfrm>
      </p:grpSpPr>
      <p:sp>
        <p:nvSpPr>
          <p:cNvPr id="20" name="Title"/>
          <p:cNvSpPr/>
          <p:nvPr/>
        </p:nvSpPr>
        <p:spPr>
          <a:xfrm>
            <a:off x="508000" y="457200"/>
            <a:ext cx="11176000" cy="711200"/>
          </a:xfrm>
          <a:prstGeom prst="rect">
            <a:avLst/>
          </a:prstGeom>
          <a:noFill/>
          <a:ln>
            <a:noFill/>
          </a:ln>
        </p:spPr>
        <p:txBody>
          <a:bodyPr wrap="square" lIns="0" tIns="0" rIns="0" bIns="0" anchor="ctr">
            <a:noAutofit/>
          </a:bodyPr>
          <a:lstStyle/>
          <a:p>
            <a:pPr algn="ctr"/>
            <a:r>
              <a:rPr lang="en-US" sz="4800" b="1" dirty="0">
                <a:solidFill>
                  <a:srgbClr val="FFFFFF"/>
                </a:solidFill>
                <a:latin typeface="Aptos Display"/>
              </a:rPr>
              <a:t>What is a </a:t>
            </a:r>
            <a:r>
              <a:rPr lang="en-US" sz="4800" b="1" dirty="0">
                <a:solidFill>
                  <a:srgbClr val="38D6F5"/>
                </a:solidFill>
                <a:latin typeface="Aptos Display"/>
              </a:rPr>
              <a:t>DeWitt Embrace</a:t>
            </a:r>
            <a:r>
              <a:rPr lang="en-US" sz="4800" b="1" dirty="0">
                <a:solidFill>
                  <a:srgbClr val="FF6B5E"/>
                </a:solidFill>
                <a:latin typeface="Aptos Display"/>
              </a:rPr>
              <a:t> Clause?</a:t>
            </a:r>
          </a:p>
        </p:txBody>
      </p:sp>
      <p:sp>
        <p:nvSpPr>
          <p:cNvPr id="21" name="Subtitle"/>
          <p:cNvSpPr/>
          <p:nvPr/>
        </p:nvSpPr>
        <p:spPr>
          <a:xfrm>
            <a:off x="508000" y="1219200"/>
            <a:ext cx="11176000" cy="355600"/>
          </a:xfrm>
          <a:prstGeom prst="rect">
            <a:avLst/>
          </a:prstGeom>
          <a:noFill/>
          <a:ln>
            <a:noFill/>
          </a:ln>
        </p:spPr>
        <p:txBody>
          <a:bodyPr wrap="square" lIns="0" tIns="0" rIns="0" bIns="0" anchor="ctr">
            <a:noAutofit/>
          </a:bodyPr>
          <a:lstStyle/>
          <a:p>
            <a:pPr algn="ctr"/>
            <a:r>
              <a:rPr lang="en-US" sz="2000" b="0" dirty="0">
                <a:solidFill>
                  <a:srgbClr val="C9D1DB"/>
                </a:solidFill>
                <a:latin typeface="Aptos"/>
              </a:rPr>
              <a:t>Open benchmarking, with one catch: the vendor can test you back</a:t>
            </a:r>
          </a:p>
        </p:txBody>
      </p:sp>
      <p:sp>
        <p:nvSpPr>
          <p:cNvPr id="22" name="Card 1"/>
          <p:cNvSpPr/>
          <p:nvPr/>
        </p:nvSpPr>
        <p:spPr>
          <a:xfrm>
            <a:off x="508000" y="1930400"/>
            <a:ext cx="3429000" cy="3175000"/>
          </a:xfrm>
          <a:prstGeom prst="roundRect">
            <a:avLst>
              <a:gd name="adj" fmla="val 7000"/>
            </a:avLst>
          </a:prstGeom>
          <a:solidFill>
            <a:srgbClr val="13202D"/>
          </a:solidFill>
          <a:ln w="19050">
            <a:solidFill>
              <a:srgbClr val="38D6F5"/>
            </a:solidFill>
          </a:ln>
          <a:effectLst>
            <a:glow rad="101600">
              <a:srgbClr val="38D6F5">
                <a:alpha val="35000"/>
              </a:srgbClr>
            </a:glow>
          </a:effectLst>
        </p:spPr>
        <p:txBody>
          <a:bodyPr wrap="square" lIns="0" tIns="0" rIns="0" bIns="0" anchor="t">
            <a:noAutofit/>
          </a:bodyPr>
          <a:lstStyle/>
          <a:p>
            <a:endParaRPr lang="en-US" dirty="0"/>
          </a:p>
        </p:txBody>
      </p:sp>
      <p:sp>
        <p:nvSpPr>
          <p:cNvPr id="23" name="Step 1"/>
          <p:cNvSpPr/>
          <p:nvPr/>
        </p:nvSpPr>
        <p:spPr>
          <a:xfrm>
            <a:off x="762000" y="2108200"/>
            <a:ext cx="762000" cy="279400"/>
          </a:xfrm>
          <a:prstGeom prst="rect">
            <a:avLst/>
          </a:prstGeom>
          <a:noFill/>
          <a:ln>
            <a:noFill/>
          </a:ln>
        </p:spPr>
        <p:txBody>
          <a:bodyPr wrap="square" lIns="0" tIns="0" rIns="0" bIns="0" anchor="t">
            <a:noAutofit/>
          </a:bodyPr>
          <a:lstStyle/>
          <a:p>
            <a:pPr algn="l"/>
            <a:r>
              <a:rPr lang="en-US" sz="1600" b="1" dirty="0">
                <a:solidFill>
                  <a:srgbClr val="38D6F5"/>
                </a:solidFill>
                <a:latin typeface="Aptos"/>
              </a:rPr>
              <a:t>01</a:t>
            </a:r>
          </a:p>
        </p:txBody>
      </p:sp>
      <p:sp>
        <p:nvSpPr>
          <p:cNvPr id="24" name="Heading 1"/>
          <p:cNvSpPr/>
          <p:nvPr/>
        </p:nvSpPr>
        <p:spPr>
          <a:xfrm>
            <a:off x="711200" y="3581400"/>
            <a:ext cx="3022600" cy="457200"/>
          </a:xfrm>
          <a:prstGeom prst="rect">
            <a:avLst/>
          </a:prstGeom>
          <a:noFill/>
          <a:ln>
            <a:noFill/>
          </a:ln>
        </p:spPr>
        <p:txBody>
          <a:bodyPr wrap="square" lIns="0" tIns="0" rIns="0" bIns="0" anchor="ctr">
            <a:noAutofit/>
          </a:bodyPr>
          <a:lstStyle/>
          <a:p>
            <a:pPr algn="ctr"/>
            <a:r>
              <a:rPr lang="en-US" sz="2400" b="1" dirty="0">
                <a:solidFill>
                  <a:srgbClr val="FFFFFF"/>
                </a:solidFill>
                <a:latin typeface="Aptos Display"/>
              </a:rPr>
              <a:t>Benchmark us</a:t>
            </a:r>
          </a:p>
        </p:txBody>
      </p:sp>
      <p:sp>
        <p:nvSpPr>
          <p:cNvPr id="25" name="Line 1"/>
          <p:cNvSpPr/>
          <p:nvPr/>
        </p:nvSpPr>
        <p:spPr>
          <a:xfrm>
            <a:off x="812800" y="4089400"/>
            <a:ext cx="2819400" cy="711200"/>
          </a:xfrm>
          <a:prstGeom prst="rect">
            <a:avLst/>
          </a:prstGeom>
          <a:noFill/>
          <a:ln>
            <a:noFill/>
          </a:ln>
        </p:spPr>
        <p:txBody>
          <a:bodyPr wrap="square" lIns="0" tIns="0" rIns="0" bIns="0" anchor="t">
            <a:noAutofit/>
          </a:bodyPr>
          <a:lstStyle/>
          <a:p>
            <a:pPr algn="ctr"/>
            <a:r>
              <a:rPr lang="en-US" sz="1700" b="0" dirty="0">
                <a:solidFill>
                  <a:srgbClr val="C9D1DB"/>
                </a:solidFill>
                <a:latin typeface="Aptos"/>
              </a:rPr>
              <a:t>You test the vendor’s product</a:t>
            </a:r>
          </a:p>
        </p:txBody>
      </p:sp>
      <p:sp>
        <p:nvSpPr>
          <p:cNvPr id="26" name="Card 2"/>
          <p:cNvSpPr/>
          <p:nvPr/>
        </p:nvSpPr>
        <p:spPr>
          <a:xfrm>
            <a:off x="4381500" y="1930400"/>
            <a:ext cx="3429000" cy="3175000"/>
          </a:xfrm>
          <a:prstGeom prst="roundRect">
            <a:avLst>
              <a:gd name="adj" fmla="val 7000"/>
            </a:avLst>
          </a:prstGeom>
          <a:solidFill>
            <a:srgbClr val="13202D"/>
          </a:solidFill>
          <a:ln w="19050">
            <a:solidFill>
              <a:srgbClr val="38D6F5"/>
            </a:solidFill>
          </a:ln>
          <a:effectLst>
            <a:glow rad="101600">
              <a:srgbClr val="38D6F5">
                <a:alpha val="35000"/>
              </a:srgbClr>
            </a:glow>
          </a:effectLst>
        </p:spPr>
        <p:txBody>
          <a:bodyPr wrap="square" lIns="0" tIns="0" rIns="0" bIns="0" anchor="t">
            <a:noAutofit/>
          </a:bodyPr>
          <a:lstStyle/>
          <a:p>
            <a:endParaRPr lang="en-US" dirty="0"/>
          </a:p>
        </p:txBody>
      </p:sp>
      <p:sp>
        <p:nvSpPr>
          <p:cNvPr id="27" name="Step 2"/>
          <p:cNvSpPr/>
          <p:nvPr/>
        </p:nvSpPr>
        <p:spPr>
          <a:xfrm>
            <a:off x="4635500" y="2108200"/>
            <a:ext cx="762000" cy="279400"/>
          </a:xfrm>
          <a:prstGeom prst="rect">
            <a:avLst/>
          </a:prstGeom>
          <a:noFill/>
          <a:ln>
            <a:noFill/>
          </a:ln>
        </p:spPr>
        <p:txBody>
          <a:bodyPr wrap="square" lIns="0" tIns="0" rIns="0" bIns="0" anchor="t">
            <a:noAutofit/>
          </a:bodyPr>
          <a:lstStyle/>
          <a:p>
            <a:pPr algn="l"/>
            <a:r>
              <a:rPr lang="en-US" sz="1600" b="1" dirty="0">
                <a:solidFill>
                  <a:srgbClr val="38D6F5"/>
                </a:solidFill>
                <a:latin typeface="Aptos"/>
              </a:rPr>
              <a:t>02</a:t>
            </a:r>
          </a:p>
        </p:txBody>
      </p:sp>
      <p:sp>
        <p:nvSpPr>
          <p:cNvPr id="28" name="Heading 2"/>
          <p:cNvSpPr/>
          <p:nvPr/>
        </p:nvSpPr>
        <p:spPr>
          <a:xfrm>
            <a:off x="4584700" y="3581400"/>
            <a:ext cx="3022600" cy="457200"/>
          </a:xfrm>
          <a:prstGeom prst="rect">
            <a:avLst/>
          </a:prstGeom>
          <a:noFill/>
          <a:ln>
            <a:noFill/>
          </a:ln>
        </p:spPr>
        <p:txBody>
          <a:bodyPr wrap="square" lIns="0" tIns="0" rIns="0" bIns="0" anchor="ctr">
            <a:noAutofit/>
          </a:bodyPr>
          <a:lstStyle/>
          <a:p>
            <a:pPr algn="ctr"/>
            <a:r>
              <a:rPr lang="en-US" sz="2400" b="1" dirty="0">
                <a:solidFill>
                  <a:srgbClr val="FFFFFF"/>
                </a:solidFill>
                <a:latin typeface="Aptos Display"/>
              </a:rPr>
              <a:t>Show your work</a:t>
            </a:r>
          </a:p>
        </p:txBody>
      </p:sp>
      <p:sp>
        <p:nvSpPr>
          <p:cNvPr id="29" name="Line 2"/>
          <p:cNvSpPr/>
          <p:nvPr/>
        </p:nvSpPr>
        <p:spPr>
          <a:xfrm>
            <a:off x="4686300" y="4089400"/>
            <a:ext cx="2819400" cy="711200"/>
          </a:xfrm>
          <a:prstGeom prst="rect">
            <a:avLst/>
          </a:prstGeom>
          <a:noFill/>
          <a:ln>
            <a:noFill/>
          </a:ln>
        </p:spPr>
        <p:txBody>
          <a:bodyPr wrap="square" lIns="0" tIns="0" rIns="0" bIns="0" anchor="t">
            <a:noAutofit/>
          </a:bodyPr>
          <a:lstStyle/>
          <a:p>
            <a:pPr algn="ctr"/>
            <a:r>
              <a:rPr lang="en-US" sz="1700" b="0" dirty="0">
                <a:solidFill>
                  <a:srgbClr val="C9D1DB"/>
                </a:solidFill>
                <a:latin typeface="Aptos"/>
              </a:rPr>
              <a:t>Publish results with full setup details</a:t>
            </a:r>
          </a:p>
        </p:txBody>
      </p:sp>
      <p:sp>
        <p:nvSpPr>
          <p:cNvPr id="30" name="Card 3"/>
          <p:cNvSpPr/>
          <p:nvPr/>
        </p:nvSpPr>
        <p:spPr>
          <a:xfrm>
            <a:off x="8255000" y="1930400"/>
            <a:ext cx="3429000" cy="3175000"/>
          </a:xfrm>
          <a:prstGeom prst="roundRect">
            <a:avLst>
              <a:gd name="adj" fmla="val 7000"/>
            </a:avLst>
          </a:prstGeom>
          <a:solidFill>
            <a:srgbClr val="25161C"/>
          </a:solidFill>
          <a:ln w="19050">
            <a:solidFill>
              <a:srgbClr val="FF6B5E"/>
            </a:solidFill>
          </a:ln>
          <a:effectLst>
            <a:glow rad="101600">
              <a:srgbClr val="FF6B5E">
                <a:alpha val="35000"/>
              </a:srgbClr>
            </a:glow>
          </a:effectLst>
        </p:spPr>
        <p:txBody>
          <a:bodyPr wrap="square" lIns="0" tIns="0" rIns="0" bIns="0" anchor="t">
            <a:noAutofit/>
          </a:bodyPr>
          <a:lstStyle/>
          <a:p>
            <a:endParaRPr lang="en-US" dirty="0"/>
          </a:p>
        </p:txBody>
      </p:sp>
      <p:sp>
        <p:nvSpPr>
          <p:cNvPr id="31" name="Step 3"/>
          <p:cNvSpPr/>
          <p:nvPr/>
        </p:nvSpPr>
        <p:spPr>
          <a:xfrm>
            <a:off x="8509000" y="2108200"/>
            <a:ext cx="762000" cy="279400"/>
          </a:xfrm>
          <a:prstGeom prst="rect">
            <a:avLst/>
          </a:prstGeom>
          <a:noFill/>
          <a:ln>
            <a:noFill/>
          </a:ln>
        </p:spPr>
        <p:txBody>
          <a:bodyPr wrap="square" lIns="0" tIns="0" rIns="0" bIns="0" anchor="t">
            <a:noAutofit/>
          </a:bodyPr>
          <a:lstStyle/>
          <a:p>
            <a:pPr algn="l"/>
            <a:r>
              <a:rPr lang="en-US" sz="1600" b="1" dirty="0">
                <a:solidFill>
                  <a:srgbClr val="FF6B5E"/>
                </a:solidFill>
                <a:latin typeface="Aptos"/>
              </a:rPr>
              <a:t>03</a:t>
            </a:r>
          </a:p>
        </p:txBody>
      </p:sp>
      <p:sp>
        <p:nvSpPr>
          <p:cNvPr id="32" name="Heading 3"/>
          <p:cNvSpPr/>
          <p:nvPr/>
        </p:nvSpPr>
        <p:spPr>
          <a:xfrm>
            <a:off x="8458200" y="3581400"/>
            <a:ext cx="3022600" cy="457200"/>
          </a:xfrm>
          <a:prstGeom prst="rect">
            <a:avLst/>
          </a:prstGeom>
          <a:noFill/>
          <a:ln>
            <a:noFill/>
          </a:ln>
        </p:spPr>
        <p:txBody>
          <a:bodyPr wrap="square" lIns="0" tIns="0" rIns="0" bIns="0" anchor="ctr">
            <a:noAutofit/>
          </a:bodyPr>
          <a:lstStyle/>
          <a:p>
            <a:pPr algn="ctr"/>
            <a:r>
              <a:rPr lang="en-US" sz="2400" b="1" dirty="0">
                <a:solidFill>
                  <a:srgbClr val="FFFFFF"/>
                </a:solidFill>
                <a:latin typeface="Aptos Display"/>
              </a:rPr>
              <a:t>We test you back</a:t>
            </a:r>
          </a:p>
        </p:txBody>
      </p:sp>
      <p:sp>
        <p:nvSpPr>
          <p:cNvPr id="33" name="Line 3"/>
          <p:cNvSpPr/>
          <p:nvPr/>
        </p:nvSpPr>
        <p:spPr>
          <a:xfrm>
            <a:off x="8559800" y="4089400"/>
            <a:ext cx="2819400" cy="711200"/>
          </a:xfrm>
          <a:prstGeom prst="rect">
            <a:avLst/>
          </a:prstGeom>
          <a:noFill/>
          <a:ln>
            <a:noFill/>
          </a:ln>
        </p:spPr>
        <p:txBody>
          <a:bodyPr wrap="square" lIns="0" tIns="0" rIns="0" bIns="0" anchor="t">
            <a:noAutofit/>
          </a:bodyPr>
          <a:lstStyle/>
          <a:p>
            <a:pPr algn="ctr"/>
            <a:r>
              <a:rPr lang="en-US" sz="1700" b="0" dirty="0">
                <a:solidFill>
                  <a:srgbClr val="C9D1DB"/>
                </a:solidFill>
                <a:latin typeface="Aptos"/>
              </a:rPr>
              <a:t>The vendor can test your product in return</a:t>
            </a:r>
          </a:p>
        </p:txBody>
      </p:sp>
      <p:sp>
        <p:nvSpPr>
          <p:cNvPr id="34" name="Arrow 1"/>
          <p:cNvSpPr/>
          <p:nvPr/>
        </p:nvSpPr>
        <p:spPr>
          <a:xfrm>
            <a:off x="4038600" y="3416300"/>
            <a:ext cx="279400" cy="203200"/>
          </a:xfrm>
          <a:prstGeom prst="rightArrow">
            <a:avLst/>
          </a:prstGeom>
          <a:solidFill>
            <a:srgbClr val="38D6F5"/>
          </a:solidFill>
          <a:ln>
            <a:noFill/>
          </a:ln>
        </p:spPr>
        <p:txBody>
          <a:bodyPr wrap="square" lIns="0" tIns="0" rIns="0" bIns="0" anchor="t">
            <a:noAutofit/>
          </a:bodyPr>
          <a:lstStyle/>
          <a:p>
            <a:endParaRPr lang="en-US" dirty="0"/>
          </a:p>
        </p:txBody>
      </p:sp>
      <p:sp>
        <p:nvSpPr>
          <p:cNvPr id="35" name="Arrow 2"/>
          <p:cNvSpPr/>
          <p:nvPr/>
        </p:nvSpPr>
        <p:spPr>
          <a:xfrm>
            <a:off x="7912100" y="3416300"/>
            <a:ext cx="279400" cy="203200"/>
          </a:xfrm>
          <a:prstGeom prst="rightArrow">
            <a:avLst/>
          </a:prstGeom>
          <a:solidFill>
            <a:srgbClr val="FF6B5E"/>
          </a:solidFill>
          <a:ln>
            <a:noFill/>
          </a:ln>
        </p:spPr>
        <p:txBody>
          <a:bodyPr wrap="square" lIns="0" tIns="0" rIns="0" bIns="0" anchor="t">
            <a:noAutofit/>
          </a:bodyPr>
          <a:lstStyle/>
          <a:p>
            <a:endParaRPr lang="en-US" dirty="0"/>
          </a:p>
        </p:txBody>
      </p:sp>
      <p:sp>
        <p:nvSpPr>
          <p:cNvPr id="36" name="Is"/>
          <p:cNvSpPr/>
          <p:nvPr/>
        </p:nvSpPr>
        <p:spPr>
          <a:xfrm>
            <a:off x="508000" y="5410200"/>
            <a:ext cx="5486400" cy="787400"/>
          </a:xfrm>
          <a:prstGeom prst="roundRect">
            <a:avLst>
              <a:gd name="adj" fmla="val 20000"/>
            </a:avLst>
          </a:prstGeom>
          <a:solidFill>
            <a:srgbClr val="13202D"/>
          </a:solidFill>
          <a:ln w="19050">
            <a:solidFill>
              <a:srgbClr val="38D6F5"/>
            </a:solidFill>
          </a:ln>
          <a:effectLst>
            <a:glow rad="101600">
              <a:srgbClr val="38D6F5">
                <a:alpha val="35000"/>
              </a:srgbClr>
            </a:glow>
          </a:effectLst>
        </p:spPr>
        <p:txBody>
          <a:bodyPr wrap="square" lIns="812800" tIns="0" rIns="203200" bIns="0" anchor="ctr">
            <a:noAutofit/>
          </a:bodyPr>
          <a:lstStyle/>
          <a:p>
            <a:pPr algn="l"/>
            <a:r>
              <a:rPr lang="en-US" sz="1900" b="1" dirty="0">
                <a:solidFill>
                  <a:srgbClr val="FFFFFF"/>
                </a:solidFill>
                <a:latin typeface="Aptos"/>
              </a:rPr>
              <a:t>Open benchmarking, not a gag order</a:t>
            </a:r>
          </a:p>
        </p:txBody>
      </p:sp>
      <p:sp>
        <p:nvSpPr>
          <p:cNvPr id="37" name="Is not"/>
          <p:cNvSpPr/>
          <p:nvPr/>
        </p:nvSpPr>
        <p:spPr>
          <a:xfrm>
            <a:off x="6197600" y="5410200"/>
            <a:ext cx="5486400" cy="787400"/>
          </a:xfrm>
          <a:prstGeom prst="roundRect">
            <a:avLst>
              <a:gd name="adj" fmla="val 20000"/>
            </a:avLst>
          </a:prstGeom>
          <a:solidFill>
            <a:srgbClr val="25161C"/>
          </a:solidFill>
          <a:ln w="19050">
            <a:solidFill>
              <a:srgbClr val="FF6B5E"/>
            </a:solidFill>
          </a:ln>
          <a:effectLst>
            <a:glow rad="101600">
              <a:srgbClr val="FF6B5E">
                <a:alpha val="35000"/>
              </a:srgbClr>
            </a:glow>
          </a:effectLst>
        </p:spPr>
        <p:txBody>
          <a:bodyPr wrap="square" lIns="812800" tIns="0" rIns="203200" bIns="0" anchor="ctr">
            <a:noAutofit/>
          </a:bodyPr>
          <a:lstStyle/>
          <a:p>
            <a:pPr algn="l"/>
            <a:r>
              <a:rPr lang="en-US" sz="1900" b="1" dirty="0">
                <a:solidFill>
                  <a:srgbClr val="FFFFFF"/>
                </a:solidFill>
                <a:latin typeface="Aptos"/>
              </a:rPr>
              <a:t>Not proof that a benchmark is fair</a:t>
            </a:r>
          </a:p>
        </p:txBody>
      </p:sp>
      <p:pic>
        <p:nvPicPr>
          <p:cNvPr id="38" name="Graphic 38" descr="Gauge"/>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816100" y="2540000"/>
            <a:ext cx="812800" cy="812800"/>
          </a:xfrm>
          <a:prstGeom prst="rect">
            <a:avLst/>
          </a:prstGeom>
        </p:spPr>
      </p:pic>
      <p:pic>
        <p:nvPicPr>
          <p:cNvPr id="39" name="Graphic 39" descr="Document"/>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89600" y="2540000"/>
            <a:ext cx="812800" cy="812800"/>
          </a:xfrm>
          <a:prstGeom prst="rect">
            <a:avLst/>
          </a:prstGeom>
        </p:spPr>
      </p:pic>
      <p:pic>
        <p:nvPicPr>
          <p:cNvPr id="40" name="Graphic 40" descr="Repeat"/>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63100" y="2540000"/>
            <a:ext cx="812800" cy="812800"/>
          </a:xfrm>
          <a:prstGeom prst="rect">
            <a:avLst/>
          </a:prstGeom>
        </p:spPr>
      </p:pic>
      <p:pic>
        <p:nvPicPr>
          <p:cNvPr id="41" name="Graphic 41" descr="Check"/>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87400" y="5613400"/>
            <a:ext cx="381000" cy="381000"/>
          </a:xfrm>
          <a:prstGeom prst="rect">
            <a:avLst/>
          </a:prstGeom>
        </p:spPr>
      </p:pic>
      <p:pic>
        <p:nvPicPr>
          <p:cNvPr id="42" name="Graphic 42" descr="No sign"/>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77000" y="5613400"/>
            <a:ext cx="381000" cy="381000"/>
          </a:xfrm>
          <a:prstGeom prst="rect">
            <a:avLst/>
          </a:prstGeom>
        </p:spPr>
      </p:pic>
    </p:spTree>
    <p:extLst>
      <p:ext uri="{BB962C8B-B14F-4D97-AF65-F5344CB8AC3E}">
        <p14:creationId xmlns:p14="http://schemas.microsoft.com/office/powerpoint/2010/main" val="16564366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13358D-1F2C-B214-C410-0B6888102BA8}"/>
              </a:ext>
            </a:extLst>
          </p:cNvPr>
          <p:cNvPicPr>
            <a:picLocks noChangeAspect="1"/>
          </p:cNvPicPr>
          <p:nvPr/>
        </p:nvPicPr>
        <p:blipFill>
          <a:blip r:embed="rId2"/>
          <a:stretch>
            <a:fillRect/>
          </a:stretch>
        </p:blipFill>
        <p:spPr>
          <a:xfrm>
            <a:off x="3239" y="0"/>
            <a:ext cx="12185522" cy="6858000"/>
          </a:xfrm>
          <a:prstGeom prst="rect">
            <a:avLst/>
          </a:prstGeom>
        </p:spPr>
      </p:pic>
    </p:spTree>
    <p:extLst>
      <p:ext uri="{BB962C8B-B14F-4D97-AF65-F5344CB8AC3E}">
        <p14:creationId xmlns:p14="http://schemas.microsoft.com/office/powerpoint/2010/main" val="2171807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 name="Tag"/>
          <p:cNvSpPr/>
          <p:nvPr/>
        </p:nvSpPr>
        <p:spPr>
          <a:xfrm>
            <a:off x="498347" y="594359"/>
            <a:ext cx="4846320" cy="460717"/>
          </a:xfrm>
          <a:prstGeom prst="roundRect">
            <a:avLst/>
          </a:prstGeom>
          <a:solidFill>
            <a:srgbClr val="FF655C"/>
          </a:solidFill>
          <a:ln>
            <a:noFill/>
          </a:ln>
        </p:spPr>
        <p:txBody>
          <a:bodyPr wrap="none" lIns="0" tIns="0" rIns="0" bIns="0" anchor="ctr">
            <a:noAutofit/>
          </a:bodyPr>
          <a:lstStyle/>
          <a:p>
            <a:pPr algn="ctr"/>
            <a:r>
              <a:rPr lang="en-US" sz="3200" b="1" dirty="0">
                <a:solidFill>
                  <a:srgbClr val="17181C"/>
                </a:solidFill>
                <a:latin typeface="Aptos"/>
              </a:rPr>
              <a:t>BENCHMARK ANARCHY</a:t>
            </a:r>
          </a:p>
        </p:txBody>
      </p:sp>
      <p:sp>
        <p:nvSpPr>
          <p:cNvPr id="3" name="Headline"/>
          <p:cNvSpPr txBox="1"/>
          <p:nvPr/>
        </p:nvSpPr>
        <p:spPr>
          <a:xfrm>
            <a:off x="498347" y="1325880"/>
            <a:ext cx="11195306" cy="640080"/>
          </a:xfrm>
          <a:prstGeom prst="rect">
            <a:avLst/>
          </a:prstGeom>
          <a:noFill/>
        </p:spPr>
        <p:txBody>
          <a:bodyPr wrap="square" lIns="0" tIns="0" rIns="0" bIns="0" rtlCol="0" anchor="t">
            <a:noAutofit/>
          </a:bodyPr>
          <a:lstStyle/>
          <a:p>
            <a:pPr algn="l"/>
            <a:r>
              <a:rPr lang="en-US" sz="3200" b="1" dirty="0">
                <a:solidFill>
                  <a:srgbClr val="FFFFFF"/>
                </a:solidFill>
                <a:latin typeface="Aptos Display"/>
              </a:rPr>
              <a:t>Six ways to tilt a benchmark favorably towards your database</a:t>
            </a:r>
          </a:p>
        </p:txBody>
      </p:sp>
      <p:sp>
        <p:nvSpPr>
          <p:cNvPr id="4" name="Card 1"/>
          <p:cNvSpPr/>
          <p:nvPr/>
        </p:nvSpPr>
        <p:spPr>
          <a:xfrm>
            <a:off x="498347" y="2240280"/>
            <a:ext cx="3579369" cy="1828800"/>
          </a:xfrm>
          <a:prstGeom prst="roundRect">
            <a:avLst>
              <a:gd name="adj" fmla="val 7000"/>
            </a:avLst>
          </a:prstGeom>
          <a:solidFill>
            <a:srgbClr val="222329"/>
          </a:solidFill>
          <a:ln w="19050">
            <a:solidFill>
              <a:srgbClr val="00C2D6">
                <a:alpha val="55000"/>
              </a:srgbClr>
            </a:solidFill>
          </a:ln>
        </p:spPr>
        <p:txBody>
          <a:bodyPr/>
          <a:lstStyle/>
          <a:p>
            <a:endParaRPr lang="en-US"/>
          </a:p>
        </p:txBody>
      </p:sp>
      <p:sp>
        <p:nvSpPr>
          <p:cNvPr id="5" name="Num 1"/>
          <p:cNvSpPr txBox="1"/>
          <p:nvPr/>
        </p:nvSpPr>
        <p:spPr>
          <a:xfrm>
            <a:off x="772667" y="2377440"/>
            <a:ext cx="1200000" cy="457200"/>
          </a:xfrm>
          <a:prstGeom prst="rect">
            <a:avLst/>
          </a:prstGeom>
          <a:noFill/>
        </p:spPr>
        <p:txBody>
          <a:bodyPr wrap="square" lIns="0" tIns="0" rIns="0" bIns="0" rtlCol="0" anchor="t">
            <a:noAutofit/>
          </a:bodyPr>
          <a:lstStyle/>
          <a:p>
            <a:pPr algn="l"/>
            <a:r>
              <a:rPr lang="en-US" sz="2800" b="1" dirty="0">
                <a:solidFill>
                  <a:srgbClr val="00C2D6"/>
                </a:solidFill>
                <a:latin typeface="Aptos Display"/>
              </a:rPr>
              <a:t>01</a:t>
            </a:r>
          </a:p>
        </p:txBody>
      </p:sp>
      <p:sp>
        <p:nvSpPr>
          <p:cNvPr id="6" name="Verb 1"/>
          <p:cNvSpPr txBox="1"/>
          <p:nvPr/>
        </p:nvSpPr>
        <p:spPr>
          <a:xfrm>
            <a:off x="772667" y="2926080"/>
            <a:ext cx="3030729" cy="411480"/>
          </a:xfrm>
          <a:prstGeom prst="rect">
            <a:avLst/>
          </a:prstGeom>
          <a:noFill/>
        </p:spPr>
        <p:txBody>
          <a:bodyPr wrap="square" lIns="0" tIns="0" rIns="0" bIns="0" rtlCol="0" anchor="t">
            <a:noAutofit/>
          </a:bodyPr>
          <a:lstStyle/>
          <a:p>
            <a:pPr algn="l"/>
            <a:r>
              <a:rPr lang="en-US" sz="2400" b="1" dirty="0">
                <a:solidFill>
                  <a:srgbClr val="FFFFFF"/>
                </a:solidFill>
                <a:latin typeface="Aptos"/>
              </a:rPr>
              <a:t>Tune</a:t>
            </a:r>
          </a:p>
        </p:txBody>
      </p:sp>
      <p:sp>
        <p:nvSpPr>
          <p:cNvPr id="7" name="Desc 1"/>
          <p:cNvSpPr txBox="1"/>
          <p:nvPr/>
        </p:nvSpPr>
        <p:spPr>
          <a:xfrm>
            <a:off x="772667" y="3383280"/>
            <a:ext cx="3030729" cy="502920"/>
          </a:xfrm>
          <a:prstGeom prst="rect">
            <a:avLst/>
          </a:prstGeom>
          <a:noFill/>
        </p:spPr>
        <p:txBody>
          <a:bodyPr wrap="square" lIns="0" tIns="0" rIns="0" bIns="0" rtlCol="0" anchor="t">
            <a:noAutofit/>
          </a:bodyPr>
          <a:lstStyle/>
          <a:p>
            <a:pPr algn="l"/>
            <a:r>
              <a:rPr lang="en-US" sz="1600" b="0" dirty="0">
                <a:solidFill>
                  <a:srgbClr val="BEBEBE"/>
                </a:solidFill>
                <a:latin typeface="Aptos"/>
              </a:rPr>
              <a:t>your own database carefully</a:t>
            </a:r>
          </a:p>
        </p:txBody>
      </p:sp>
      <p:sp>
        <p:nvSpPr>
          <p:cNvPr id="8" name="Card 2"/>
          <p:cNvSpPr/>
          <p:nvPr/>
        </p:nvSpPr>
        <p:spPr>
          <a:xfrm>
            <a:off x="4306316" y="2240280"/>
            <a:ext cx="3579369" cy="1828800"/>
          </a:xfrm>
          <a:prstGeom prst="roundRect">
            <a:avLst>
              <a:gd name="adj" fmla="val 7000"/>
            </a:avLst>
          </a:prstGeom>
          <a:solidFill>
            <a:srgbClr val="222329"/>
          </a:solidFill>
          <a:ln w="19050">
            <a:solidFill>
              <a:srgbClr val="F7C548">
                <a:alpha val="55000"/>
              </a:srgbClr>
            </a:solidFill>
          </a:ln>
        </p:spPr>
        <p:txBody>
          <a:bodyPr/>
          <a:lstStyle/>
          <a:p>
            <a:endParaRPr lang="en-US"/>
          </a:p>
        </p:txBody>
      </p:sp>
      <p:sp>
        <p:nvSpPr>
          <p:cNvPr id="9" name="Num 2"/>
          <p:cNvSpPr txBox="1"/>
          <p:nvPr/>
        </p:nvSpPr>
        <p:spPr>
          <a:xfrm>
            <a:off x="4580636" y="2377440"/>
            <a:ext cx="1200000" cy="457200"/>
          </a:xfrm>
          <a:prstGeom prst="rect">
            <a:avLst/>
          </a:prstGeom>
          <a:noFill/>
        </p:spPr>
        <p:txBody>
          <a:bodyPr wrap="square" lIns="0" tIns="0" rIns="0" bIns="0" rtlCol="0" anchor="t">
            <a:noAutofit/>
          </a:bodyPr>
          <a:lstStyle/>
          <a:p>
            <a:pPr algn="l"/>
            <a:r>
              <a:rPr lang="en-US" sz="2800" b="1" dirty="0">
                <a:solidFill>
                  <a:srgbClr val="F7C548"/>
                </a:solidFill>
                <a:latin typeface="Aptos Display"/>
              </a:rPr>
              <a:t>02</a:t>
            </a:r>
          </a:p>
        </p:txBody>
      </p:sp>
      <p:sp>
        <p:nvSpPr>
          <p:cNvPr id="10" name="Verb 2"/>
          <p:cNvSpPr txBox="1"/>
          <p:nvPr/>
        </p:nvSpPr>
        <p:spPr>
          <a:xfrm>
            <a:off x="4580636" y="2926080"/>
            <a:ext cx="3030729" cy="411480"/>
          </a:xfrm>
          <a:prstGeom prst="rect">
            <a:avLst/>
          </a:prstGeom>
          <a:noFill/>
        </p:spPr>
        <p:txBody>
          <a:bodyPr wrap="square" lIns="0" tIns="0" rIns="0" bIns="0" rtlCol="0" anchor="t">
            <a:noAutofit/>
          </a:bodyPr>
          <a:lstStyle/>
          <a:p>
            <a:pPr algn="l"/>
            <a:r>
              <a:rPr lang="en-US" sz="2400" b="1" dirty="0">
                <a:solidFill>
                  <a:srgbClr val="FFFFFF"/>
                </a:solidFill>
                <a:latin typeface="Aptos"/>
              </a:rPr>
              <a:t>Default</a:t>
            </a:r>
          </a:p>
        </p:txBody>
      </p:sp>
      <p:sp>
        <p:nvSpPr>
          <p:cNvPr id="11" name="Desc 2"/>
          <p:cNvSpPr txBox="1"/>
          <p:nvPr/>
        </p:nvSpPr>
        <p:spPr>
          <a:xfrm>
            <a:off x="4580636" y="3383280"/>
            <a:ext cx="3030729" cy="502920"/>
          </a:xfrm>
          <a:prstGeom prst="rect">
            <a:avLst/>
          </a:prstGeom>
          <a:noFill/>
        </p:spPr>
        <p:txBody>
          <a:bodyPr wrap="square" lIns="0" tIns="0" rIns="0" bIns="0" rtlCol="0" anchor="t">
            <a:noAutofit/>
          </a:bodyPr>
          <a:lstStyle/>
          <a:p>
            <a:pPr algn="l"/>
            <a:r>
              <a:rPr lang="en-US" sz="1600" b="0" dirty="0">
                <a:solidFill>
                  <a:srgbClr val="BEBEBE"/>
                </a:solidFill>
                <a:latin typeface="Aptos"/>
              </a:rPr>
              <a:t>the comparison database</a:t>
            </a:r>
          </a:p>
        </p:txBody>
      </p:sp>
      <p:sp>
        <p:nvSpPr>
          <p:cNvPr id="12" name="Card 3"/>
          <p:cNvSpPr/>
          <p:nvPr/>
        </p:nvSpPr>
        <p:spPr>
          <a:xfrm>
            <a:off x="8114285" y="2240280"/>
            <a:ext cx="3579369" cy="1828800"/>
          </a:xfrm>
          <a:prstGeom prst="roundRect">
            <a:avLst>
              <a:gd name="adj" fmla="val 7000"/>
            </a:avLst>
          </a:prstGeom>
          <a:solidFill>
            <a:srgbClr val="222329"/>
          </a:solidFill>
          <a:ln w="19050">
            <a:solidFill>
              <a:srgbClr val="FF655C">
                <a:alpha val="55000"/>
              </a:srgbClr>
            </a:solidFill>
          </a:ln>
        </p:spPr>
        <p:txBody>
          <a:bodyPr/>
          <a:lstStyle/>
          <a:p>
            <a:endParaRPr lang="en-US"/>
          </a:p>
        </p:txBody>
      </p:sp>
      <p:sp>
        <p:nvSpPr>
          <p:cNvPr id="13" name="Num 3"/>
          <p:cNvSpPr txBox="1"/>
          <p:nvPr/>
        </p:nvSpPr>
        <p:spPr>
          <a:xfrm>
            <a:off x="8388605" y="2377440"/>
            <a:ext cx="1200000" cy="457200"/>
          </a:xfrm>
          <a:prstGeom prst="rect">
            <a:avLst/>
          </a:prstGeom>
          <a:noFill/>
        </p:spPr>
        <p:txBody>
          <a:bodyPr wrap="square" lIns="0" tIns="0" rIns="0" bIns="0" rtlCol="0" anchor="t">
            <a:noAutofit/>
          </a:bodyPr>
          <a:lstStyle/>
          <a:p>
            <a:pPr algn="l"/>
            <a:r>
              <a:rPr lang="en-US" sz="2800" b="1" dirty="0">
                <a:solidFill>
                  <a:srgbClr val="FF655C"/>
                </a:solidFill>
                <a:latin typeface="Aptos Display"/>
              </a:rPr>
              <a:t>03</a:t>
            </a:r>
          </a:p>
        </p:txBody>
      </p:sp>
      <p:sp>
        <p:nvSpPr>
          <p:cNvPr id="14" name="Verb 3"/>
          <p:cNvSpPr txBox="1"/>
          <p:nvPr/>
        </p:nvSpPr>
        <p:spPr>
          <a:xfrm>
            <a:off x="8388605" y="2926080"/>
            <a:ext cx="3030729" cy="411480"/>
          </a:xfrm>
          <a:prstGeom prst="rect">
            <a:avLst/>
          </a:prstGeom>
          <a:noFill/>
        </p:spPr>
        <p:txBody>
          <a:bodyPr wrap="square" lIns="0" tIns="0" rIns="0" bIns="0" rtlCol="0" anchor="t">
            <a:noAutofit/>
          </a:bodyPr>
          <a:lstStyle/>
          <a:p>
            <a:pPr algn="l"/>
            <a:r>
              <a:rPr lang="en-US" sz="2400" b="1" dirty="0">
                <a:solidFill>
                  <a:srgbClr val="FFFFFF"/>
                </a:solidFill>
                <a:latin typeface="Aptos"/>
              </a:rPr>
              <a:t>Choose</a:t>
            </a:r>
          </a:p>
        </p:txBody>
      </p:sp>
      <p:sp>
        <p:nvSpPr>
          <p:cNvPr id="15" name="Desc 3"/>
          <p:cNvSpPr txBox="1"/>
          <p:nvPr/>
        </p:nvSpPr>
        <p:spPr>
          <a:xfrm>
            <a:off x="8388605" y="3383280"/>
            <a:ext cx="3030729" cy="502920"/>
          </a:xfrm>
          <a:prstGeom prst="rect">
            <a:avLst/>
          </a:prstGeom>
          <a:noFill/>
        </p:spPr>
        <p:txBody>
          <a:bodyPr wrap="square" lIns="0" tIns="0" rIns="0" bIns="0" rtlCol="0" anchor="t">
            <a:noAutofit/>
          </a:bodyPr>
          <a:lstStyle/>
          <a:p>
            <a:pPr algn="l"/>
            <a:r>
              <a:rPr lang="en-US" sz="1600" b="0" dirty="0">
                <a:solidFill>
                  <a:srgbClr val="BEBEBE"/>
                </a:solidFill>
                <a:latin typeface="Aptos"/>
              </a:rPr>
              <a:t>a workload your architecture loves</a:t>
            </a:r>
          </a:p>
        </p:txBody>
      </p:sp>
      <p:sp>
        <p:nvSpPr>
          <p:cNvPr id="16" name="Card 4"/>
          <p:cNvSpPr/>
          <p:nvPr/>
        </p:nvSpPr>
        <p:spPr>
          <a:xfrm>
            <a:off x="498347" y="4297680"/>
            <a:ext cx="3579369" cy="1828800"/>
          </a:xfrm>
          <a:prstGeom prst="roundRect">
            <a:avLst>
              <a:gd name="adj" fmla="val 7000"/>
            </a:avLst>
          </a:prstGeom>
          <a:solidFill>
            <a:srgbClr val="222329"/>
          </a:solidFill>
          <a:ln w="19050">
            <a:solidFill>
              <a:srgbClr val="AEE057">
                <a:alpha val="55000"/>
              </a:srgbClr>
            </a:solidFill>
          </a:ln>
        </p:spPr>
        <p:txBody>
          <a:bodyPr/>
          <a:lstStyle/>
          <a:p>
            <a:endParaRPr lang="en-US"/>
          </a:p>
        </p:txBody>
      </p:sp>
      <p:sp>
        <p:nvSpPr>
          <p:cNvPr id="17" name="Num 4"/>
          <p:cNvSpPr txBox="1"/>
          <p:nvPr/>
        </p:nvSpPr>
        <p:spPr>
          <a:xfrm>
            <a:off x="772667" y="4434840"/>
            <a:ext cx="1200000" cy="457200"/>
          </a:xfrm>
          <a:prstGeom prst="rect">
            <a:avLst/>
          </a:prstGeom>
          <a:noFill/>
        </p:spPr>
        <p:txBody>
          <a:bodyPr wrap="square" lIns="0" tIns="0" rIns="0" bIns="0" rtlCol="0" anchor="t">
            <a:noAutofit/>
          </a:bodyPr>
          <a:lstStyle/>
          <a:p>
            <a:pPr algn="l"/>
            <a:r>
              <a:rPr lang="en-US" sz="2800" b="1" dirty="0">
                <a:solidFill>
                  <a:srgbClr val="AEE057"/>
                </a:solidFill>
                <a:latin typeface="Aptos Display"/>
              </a:rPr>
              <a:t>04</a:t>
            </a:r>
          </a:p>
        </p:txBody>
      </p:sp>
      <p:sp>
        <p:nvSpPr>
          <p:cNvPr id="18" name="Verb 4"/>
          <p:cNvSpPr txBox="1"/>
          <p:nvPr/>
        </p:nvSpPr>
        <p:spPr>
          <a:xfrm>
            <a:off x="772667" y="4983480"/>
            <a:ext cx="3030729" cy="411480"/>
          </a:xfrm>
          <a:prstGeom prst="rect">
            <a:avLst/>
          </a:prstGeom>
          <a:noFill/>
        </p:spPr>
        <p:txBody>
          <a:bodyPr wrap="square" lIns="0" tIns="0" rIns="0" bIns="0" rtlCol="0" anchor="t">
            <a:noAutofit/>
          </a:bodyPr>
          <a:lstStyle/>
          <a:p>
            <a:pPr algn="l"/>
            <a:r>
              <a:rPr lang="en-US" sz="2400" b="1" dirty="0">
                <a:solidFill>
                  <a:srgbClr val="FFFFFF"/>
                </a:solidFill>
                <a:latin typeface="Aptos"/>
              </a:rPr>
              <a:t>Ignore</a:t>
            </a:r>
          </a:p>
        </p:txBody>
      </p:sp>
      <p:sp>
        <p:nvSpPr>
          <p:cNvPr id="19" name="Desc 4"/>
          <p:cNvSpPr txBox="1"/>
          <p:nvPr/>
        </p:nvSpPr>
        <p:spPr>
          <a:xfrm>
            <a:off x="772667" y="5440680"/>
            <a:ext cx="3030729" cy="502920"/>
          </a:xfrm>
          <a:prstGeom prst="rect">
            <a:avLst/>
          </a:prstGeom>
          <a:noFill/>
        </p:spPr>
        <p:txBody>
          <a:bodyPr wrap="square" lIns="0" tIns="0" rIns="0" bIns="0" rtlCol="0" anchor="t">
            <a:noAutofit/>
          </a:bodyPr>
          <a:lstStyle/>
          <a:p>
            <a:pPr algn="l"/>
            <a:r>
              <a:rPr lang="en-US" sz="1600" b="0" dirty="0">
                <a:solidFill>
                  <a:srgbClr val="BEBEBE"/>
                </a:solidFill>
                <a:latin typeface="Aptos"/>
              </a:rPr>
              <a:t>cost + tail latency</a:t>
            </a:r>
          </a:p>
        </p:txBody>
      </p:sp>
      <p:sp>
        <p:nvSpPr>
          <p:cNvPr id="20" name="Card 5"/>
          <p:cNvSpPr/>
          <p:nvPr/>
        </p:nvSpPr>
        <p:spPr>
          <a:xfrm>
            <a:off x="4306316" y="4297680"/>
            <a:ext cx="3579369" cy="1828800"/>
          </a:xfrm>
          <a:prstGeom prst="roundRect">
            <a:avLst>
              <a:gd name="adj" fmla="val 7000"/>
            </a:avLst>
          </a:prstGeom>
          <a:solidFill>
            <a:srgbClr val="222329"/>
          </a:solidFill>
          <a:ln w="19050">
            <a:solidFill>
              <a:srgbClr val="B794F6">
                <a:alpha val="55000"/>
              </a:srgbClr>
            </a:solidFill>
          </a:ln>
        </p:spPr>
        <p:txBody>
          <a:bodyPr/>
          <a:lstStyle/>
          <a:p>
            <a:endParaRPr lang="en-US"/>
          </a:p>
        </p:txBody>
      </p:sp>
      <p:sp>
        <p:nvSpPr>
          <p:cNvPr id="21" name="Num 5"/>
          <p:cNvSpPr txBox="1"/>
          <p:nvPr/>
        </p:nvSpPr>
        <p:spPr>
          <a:xfrm>
            <a:off x="4580636" y="4434840"/>
            <a:ext cx="1200000" cy="457200"/>
          </a:xfrm>
          <a:prstGeom prst="rect">
            <a:avLst/>
          </a:prstGeom>
          <a:noFill/>
        </p:spPr>
        <p:txBody>
          <a:bodyPr wrap="square" lIns="0" tIns="0" rIns="0" bIns="0" rtlCol="0" anchor="t">
            <a:noAutofit/>
          </a:bodyPr>
          <a:lstStyle/>
          <a:p>
            <a:pPr algn="l"/>
            <a:r>
              <a:rPr lang="en-US" sz="2800" b="1" dirty="0">
                <a:solidFill>
                  <a:srgbClr val="B794F6"/>
                </a:solidFill>
                <a:latin typeface="Aptos Display"/>
              </a:rPr>
              <a:t>05</a:t>
            </a:r>
          </a:p>
        </p:txBody>
      </p:sp>
      <p:sp>
        <p:nvSpPr>
          <p:cNvPr id="22" name="Verb 5"/>
          <p:cNvSpPr txBox="1"/>
          <p:nvPr/>
        </p:nvSpPr>
        <p:spPr>
          <a:xfrm>
            <a:off x="4580636" y="4983480"/>
            <a:ext cx="3030729" cy="411480"/>
          </a:xfrm>
          <a:prstGeom prst="rect">
            <a:avLst/>
          </a:prstGeom>
          <a:noFill/>
        </p:spPr>
        <p:txBody>
          <a:bodyPr wrap="square" lIns="0" tIns="0" rIns="0" bIns="0" rtlCol="0" anchor="t">
            <a:noAutofit/>
          </a:bodyPr>
          <a:lstStyle/>
          <a:p>
            <a:pPr algn="l"/>
            <a:r>
              <a:rPr lang="en-US" sz="2400" b="1" dirty="0">
                <a:solidFill>
                  <a:srgbClr val="FFFFFF"/>
                </a:solidFill>
                <a:latin typeface="Aptos"/>
              </a:rPr>
              <a:t>Ignore</a:t>
            </a:r>
          </a:p>
        </p:txBody>
      </p:sp>
      <p:sp>
        <p:nvSpPr>
          <p:cNvPr id="23" name="Desc 5"/>
          <p:cNvSpPr txBox="1"/>
          <p:nvPr/>
        </p:nvSpPr>
        <p:spPr>
          <a:xfrm>
            <a:off x="4580636" y="5440680"/>
            <a:ext cx="3030729" cy="502920"/>
          </a:xfrm>
          <a:prstGeom prst="rect">
            <a:avLst/>
          </a:prstGeom>
          <a:noFill/>
        </p:spPr>
        <p:txBody>
          <a:bodyPr wrap="square" lIns="0" tIns="0" rIns="0" bIns="0" rtlCol="0" anchor="t">
            <a:noAutofit/>
          </a:bodyPr>
          <a:lstStyle/>
          <a:p>
            <a:pPr algn="l"/>
            <a:r>
              <a:rPr lang="en-US" sz="1600" b="0" dirty="0">
                <a:solidFill>
                  <a:srgbClr val="BEBEBE"/>
                </a:solidFill>
                <a:latin typeface="Aptos"/>
              </a:rPr>
              <a:t>write amplification + crash behavior</a:t>
            </a:r>
          </a:p>
        </p:txBody>
      </p:sp>
      <p:sp>
        <p:nvSpPr>
          <p:cNvPr id="24" name="Card 6"/>
          <p:cNvSpPr/>
          <p:nvPr/>
        </p:nvSpPr>
        <p:spPr>
          <a:xfrm>
            <a:off x="8114285" y="4297680"/>
            <a:ext cx="3579369" cy="1828800"/>
          </a:xfrm>
          <a:prstGeom prst="roundRect">
            <a:avLst>
              <a:gd name="adj" fmla="val 7000"/>
            </a:avLst>
          </a:prstGeom>
          <a:solidFill>
            <a:srgbClr val="222329"/>
          </a:solidFill>
          <a:ln w="19050">
            <a:solidFill>
              <a:srgbClr val="FF9F43">
                <a:alpha val="55000"/>
              </a:srgbClr>
            </a:solidFill>
          </a:ln>
        </p:spPr>
        <p:txBody>
          <a:bodyPr/>
          <a:lstStyle/>
          <a:p>
            <a:endParaRPr lang="en-US"/>
          </a:p>
        </p:txBody>
      </p:sp>
      <p:sp>
        <p:nvSpPr>
          <p:cNvPr id="25" name="Num 6"/>
          <p:cNvSpPr txBox="1"/>
          <p:nvPr/>
        </p:nvSpPr>
        <p:spPr>
          <a:xfrm>
            <a:off x="8388605" y="4434840"/>
            <a:ext cx="1200000" cy="457200"/>
          </a:xfrm>
          <a:prstGeom prst="rect">
            <a:avLst/>
          </a:prstGeom>
          <a:noFill/>
        </p:spPr>
        <p:txBody>
          <a:bodyPr wrap="square" lIns="0" tIns="0" rIns="0" bIns="0" rtlCol="0" anchor="t">
            <a:noAutofit/>
          </a:bodyPr>
          <a:lstStyle/>
          <a:p>
            <a:pPr algn="l"/>
            <a:r>
              <a:rPr lang="en-US" sz="2800" b="1" dirty="0">
                <a:solidFill>
                  <a:srgbClr val="FF9F43"/>
                </a:solidFill>
                <a:latin typeface="Aptos Display"/>
              </a:rPr>
              <a:t>06</a:t>
            </a:r>
          </a:p>
        </p:txBody>
      </p:sp>
      <p:sp>
        <p:nvSpPr>
          <p:cNvPr id="26" name="Verb 6"/>
          <p:cNvSpPr txBox="1"/>
          <p:nvPr/>
        </p:nvSpPr>
        <p:spPr>
          <a:xfrm>
            <a:off x="8388605" y="4983480"/>
            <a:ext cx="3030729" cy="411480"/>
          </a:xfrm>
          <a:prstGeom prst="rect">
            <a:avLst/>
          </a:prstGeom>
          <a:noFill/>
        </p:spPr>
        <p:txBody>
          <a:bodyPr wrap="square" lIns="0" tIns="0" rIns="0" bIns="0" rtlCol="0" anchor="t">
            <a:noAutofit/>
          </a:bodyPr>
          <a:lstStyle/>
          <a:p>
            <a:pPr algn="l"/>
            <a:r>
              <a:rPr lang="en-US" sz="2400" b="1" dirty="0">
                <a:solidFill>
                  <a:srgbClr val="FFFFFF"/>
                </a:solidFill>
                <a:latin typeface="Aptos"/>
              </a:rPr>
              <a:t>Publish</a:t>
            </a:r>
          </a:p>
        </p:txBody>
      </p:sp>
      <p:sp>
        <p:nvSpPr>
          <p:cNvPr id="27" name="Desc 6"/>
          <p:cNvSpPr txBox="1"/>
          <p:nvPr/>
        </p:nvSpPr>
        <p:spPr>
          <a:xfrm>
            <a:off x="8388605" y="5440680"/>
            <a:ext cx="3030729" cy="502920"/>
          </a:xfrm>
          <a:prstGeom prst="rect">
            <a:avLst/>
          </a:prstGeom>
          <a:noFill/>
        </p:spPr>
        <p:txBody>
          <a:bodyPr wrap="square" lIns="0" tIns="0" rIns="0" bIns="0" rtlCol="0" anchor="t">
            <a:noAutofit/>
          </a:bodyPr>
          <a:lstStyle/>
          <a:p>
            <a:pPr algn="l"/>
            <a:r>
              <a:rPr lang="en-US" sz="1600" b="0" dirty="0">
                <a:solidFill>
                  <a:srgbClr val="BEBEBE"/>
                </a:solidFill>
                <a:latin typeface="Aptos"/>
              </a:rPr>
              <a:t>the one graph where you win</a:t>
            </a:r>
          </a:p>
        </p:txBody>
      </p:sp>
      <p:sp>
        <p:nvSpPr>
          <p:cNvPr id="28" name="Footer"/>
          <p:cNvSpPr txBox="1"/>
          <p:nvPr/>
        </p:nvSpPr>
        <p:spPr>
          <a:xfrm>
            <a:off x="502920" y="6510528"/>
            <a:ext cx="2377440" cy="164592"/>
          </a:xfrm>
          <a:prstGeom prst="rect">
            <a:avLst/>
          </a:prstGeom>
          <a:noFill/>
        </p:spPr>
        <p:txBody>
          <a:bodyPr wrap="square" lIns="0" tIns="0" rIns="0" bIns="0" rtlCol="0" anchor="t">
            <a:noAutofit/>
          </a:bodyPr>
          <a:lstStyle/>
          <a:p>
            <a:pPr algn="l"/>
            <a:r>
              <a:rPr lang="en-US" sz="750" b="1" dirty="0">
                <a:solidFill>
                  <a:srgbClr val="AAAAAA"/>
                </a:solidFill>
                <a:latin typeface="Aptos"/>
              </a:rPr>
              <a:t>MY DISHONEST BENCHMARK</a:t>
            </a:r>
          </a:p>
        </p:txBody>
      </p:sp>
      <p:sp>
        <p:nvSpPr>
          <p:cNvPr id="29" name="Page"/>
          <p:cNvSpPr txBox="1"/>
          <p:nvPr/>
        </p:nvSpPr>
        <p:spPr>
          <a:xfrm>
            <a:off x="11155680" y="6473952"/>
            <a:ext cx="502920" cy="182880"/>
          </a:xfrm>
          <a:prstGeom prst="rect">
            <a:avLst/>
          </a:prstGeom>
          <a:noFill/>
        </p:spPr>
        <p:txBody>
          <a:bodyPr wrap="square" lIns="0" tIns="0" rIns="0" bIns="0" rtlCol="0" anchor="t">
            <a:noAutofit/>
          </a:bodyPr>
          <a:lstStyle/>
          <a:p>
            <a:pPr algn="r"/>
            <a:r>
              <a:rPr lang="en-US" sz="800" b="1" dirty="0">
                <a:solidFill>
                  <a:srgbClr val="AAAAAA"/>
                </a:solidFill>
                <a:latin typeface="Aptos"/>
              </a:rPr>
              <a:t>07</a:t>
            </a:r>
          </a:p>
        </p:txBody>
      </p:sp>
    </p:spTree>
    <p:extLst>
      <p:ext uri="{BB962C8B-B14F-4D97-AF65-F5344CB8AC3E}">
        <p14:creationId xmlns:p14="http://schemas.microsoft.com/office/powerpoint/2010/main" val="41810292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 name="TextBox 1"/>
          <p:cNvSpPr txBox="1"/>
          <p:nvPr/>
        </p:nvSpPr>
        <p:spPr>
          <a:xfrm>
            <a:off x="594360" y="594359"/>
            <a:ext cx="3566160" cy="460717"/>
          </a:xfrm>
          <a:prstGeom prst="roundRect">
            <a:avLst/>
          </a:prstGeom>
          <a:solidFill>
            <a:srgbClr val="FF655C"/>
          </a:solidFill>
        </p:spPr>
        <p:txBody>
          <a:bodyPr wrap="none" lIns="0" tIns="0" rIns="0" bIns="0" anchor="ctr">
            <a:noAutofit/>
          </a:bodyPr>
          <a:lstStyle/>
          <a:p>
            <a:pPr algn="ctr">
              <a:defRPr sz="1000" b="1">
                <a:solidFill>
                  <a:srgbClr val="17181C"/>
                </a:solidFill>
                <a:latin typeface="Aptos"/>
              </a:defRPr>
            </a:pPr>
            <a:r>
              <a:rPr sz="3200" dirty="0"/>
              <a:t>TRANSPARENCY</a:t>
            </a:r>
          </a:p>
        </p:txBody>
      </p:sp>
      <p:sp>
        <p:nvSpPr>
          <p:cNvPr id="3" name="TextBox 2"/>
          <p:cNvSpPr txBox="1"/>
          <p:nvPr/>
        </p:nvSpPr>
        <p:spPr>
          <a:xfrm>
            <a:off x="594360" y="1325880"/>
            <a:ext cx="11003280" cy="640080"/>
          </a:xfrm>
          <a:prstGeom prst="rect">
            <a:avLst/>
          </a:prstGeom>
          <a:noFill/>
        </p:spPr>
        <p:txBody>
          <a:bodyPr wrap="square" lIns="0" anchor="t">
            <a:spAutoFit/>
          </a:bodyPr>
          <a:lstStyle/>
          <a:p>
            <a:pPr algn="l">
              <a:defRPr sz="3600" b="1">
                <a:solidFill>
                  <a:srgbClr val="FFFFFF"/>
                </a:solidFill>
                <a:latin typeface="Aptos Display"/>
              </a:defRPr>
            </a:pPr>
            <a:r>
              <a:t>A better fight: publish everything</a:t>
            </a:r>
          </a:p>
        </p:txBody>
      </p:sp>
      <p:sp>
        <p:nvSpPr>
          <p:cNvPr id="30" name="Card 1"/>
          <p:cNvSpPr/>
          <p:nvPr/>
        </p:nvSpPr>
        <p:spPr>
          <a:xfrm>
            <a:off x="594360" y="2468880"/>
            <a:ext cx="2579370" cy="3187700"/>
          </a:xfrm>
          <a:prstGeom prst="rect">
            <a:avLst/>
          </a:prstGeom>
          <a:solidFill>
            <a:srgbClr val="222329"/>
          </a:solidFill>
          <a:ln w="15875">
            <a:solidFill>
              <a:srgbClr val="00C2D6">
                <a:alpha val="45000"/>
              </a:srgbClr>
            </a:solidFill>
          </a:ln>
        </p:spPr>
        <p:txBody>
          <a:bodyPr/>
          <a:lstStyle/>
          <a:p>
            <a:endParaRPr lang="en-GB"/>
          </a:p>
        </p:txBody>
      </p:sp>
      <p:sp>
        <p:nvSpPr>
          <p:cNvPr id="40" name="Card Accent 1"/>
          <p:cNvSpPr/>
          <p:nvPr/>
        </p:nvSpPr>
        <p:spPr>
          <a:xfrm>
            <a:off x="594360" y="2468880"/>
            <a:ext cx="2579370" cy="64008"/>
          </a:xfrm>
          <a:prstGeom prst="rect">
            <a:avLst/>
          </a:prstGeom>
          <a:solidFill>
            <a:srgbClr val="00C2D6"/>
          </a:solidFill>
          <a:ln>
            <a:noFill/>
          </a:ln>
        </p:spPr>
        <p:txBody>
          <a:bodyPr/>
          <a:lstStyle/>
          <a:p>
            <a:endParaRPr lang="en-GB"/>
          </a:p>
        </p:txBody>
      </p:sp>
      <p:sp>
        <p:nvSpPr>
          <p:cNvPr id="31" name="Card 2"/>
          <p:cNvSpPr/>
          <p:nvPr/>
        </p:nvSpPr>
        <p:spPr>
          <a:xfrm>
            <a:off x="3402330" y="2468880"/>
            <a:ext cx="2579370" cy="3187700"/>
          </a:xfrm>
          <a:prstGeom prst="rect">
            <a:avLst/>
          </a:prstGeom>
          <a:solidFill>
            <a:srgbClr val="222329"/>
          </a:solidFill>
          <a:ln w="15875">
            <a:solidFill>
              <a:srgbClr val="F7C548">
                <a:alpha val="45000"/>
              </a:srgbClr>
            </a:solidFill>
          </a:ln>
        </p:spPr>
        <p:txBody>
          <a:bodyPr/>
          <a:lstStyle/>
          <a:p>
            <a:endParaRPr lang="en-GB"/>
          </a:p>
        </p:txBody>
      </p:sp>
      <p:sp>
        <p:nvSpPr>
          <p:cNvPr id="41" name="Card Accent 2"/>
          <p:cNvSpPr/>
          <p:nvPr/>
        </p:nvSpPr>
        <p:spPr>
          <a:xfrm>
            <a:off x="3402330" y="2468880"/>
            <a:ext cx="2579370" cy="64008"/>
          </a:xfrm>
          <a:prstGeom prst="rect">
            <a:avLst/>
          </a:prstGeom>
          <a:solidFill>
            <a:srgbClr val="F7C548"/>
          </a:solidFill>
          <a:ln>
            <a:noFill/>
          </a:ln>
        </p:spPr>
        <p:txBody>
          <a:bodyPr/>
          <a:lstStyle/>
          <a:p>
            <a:endParaRPr lang="en-GB"/>
          </a:p>
        </p:txBody>
      </p:sp>
      <p:sp>
        <p:nvSpPr>
          <p:cNvPr id="32" name="Card 3"/>
          <p:cNvSpPr/>
          <p:nvPr/>
        </p:nvSpPr>
        <p:spPr>
          <a:xfrm>
            <a:off x="6210300" y="2468880"/>
            <a:ext cx="2579370" cy="3187700"/>
          </a:xfrm>
          <a:prstGeom prst="rect">
            <a:avLst/>
          </a:prstGeom>
          <a:solidFill>
            <a:srgbClr val="222329"/>
          </a:solidFill>
          <a:ln w="15875">
            <a:solidFill>
              <a:srgbClr val="FF655C">
                <a:alpha val="45000"/>
              </a:srgbClr>
            </a:solidFill>
          </a:ln>
        </p:spPr>
        <p:txBody>
          <a:bodyPr/>
          <a:lstStyle/>
          <a:p>
            <a:endParaRPr lang="en-GB"/>
          </a:p>
        </p:txBody>
      </p:sp>
      <p:sp>
        <p:nvSpPr>
          <p:cNvPr id="42" name="Card Accent 3"/>
          <p:cNvSpPr/>
          <p:nvPr/>
        </p:nvSpPr>
        <p:spPr>
          <a:xfrm>
            <a:off x="6210300" y="2468880"/>
            <a:ext cx="2579370" cy="64008"/>
          </a:xfrm>
          <a:prstGeom prst="rect">
            <a:avLst/>
          </a:prstGeom>
          <a:solidFill>
            <a:srgbClr val="FF655C"/>
          </a:solidFill>
          <a:ln>
            <a:noFill/>
          </a:ln>
        </p:spPr>
        <p:txBody>
          <a:bodyPr/>
          <a:lstStyle/>
          <a:p>
            <a:endParaRPr lang="en-GB"/>
          </a:p>
        </p:txBody>
      </p:sp>
      <p:sp>
        <p:nvSpPr>
          <p:cNvPr id="33" name="Card 4"/>
          <p:cNvSpPr/>
          <p:nvPr/>
        </p:nvSpPr>
        <p:spPr>
          <a:xfrm>
            <a:off x="9018270" y="2468880"/>
            <a:ext cx="2579370" cy="3187700"/>
          </a:xfrm>
          <a:prstGeom prst="rect">
            <a:avLst/>
          </a:prstGeom>
          <a:solidFill>
            <a:srgbClr val="222329"/>
          </a:solidFill>
          <a:ln w="15875">
            <a:solidFill>
              <a:srgbClr val="B794F6">
                <a:alpha val="45000"/>
              </a:srgbClr>
            </a:solidFill>
          </a:ln>
        </p:spPr>
        <p:txBody>
          <a:bodyPr/>
          <a:lstStyle/>
          <a:p>
            <a:endParaRPr lang="en-GB"/>
          </a:p>
        </p:txBody>
      </p:sp>
      <p:sp>
        <p:nvSpPr>
          <p:cNvPr id="43" name="Card Accent 4"/>
          <p:cNvSpPr/>
          <p:nvPr/>
        </p:nvSpPr>
        <p:spPr>
          <a:xfrm>
            <a:off x="9018270" y="2468880"/>
            <a:ext cx="2579370" cy="64008"/>
          </a:xfrm>
          <a:prstGeom prst="rect">
            <a:avLst/>
          </a:prstGeom>
          <a:solidFill>
            <a:srgbClr val="B794F6"/>
          </a:solidFill>
          <a:ln>
            <a:noFill/>
          </a:ln>
        </p:spPr>
        <p:txBody>
          <a:bodyPr/>
          <a:lstStyle/>
          <a:p>
            <a:endParaRPr lang="en-GB"/>
          </a:p>
        </p:txBody>
      </p:sp>
      <p:sp>
        <p:nvSpPr>
          <p:cNvPr id="5" name="TextBox 4"/>
          <p:cNvSpPr txBox="1"/>
          <p:nvPr/>
        </p:nvSpPr>
        <p:spPr>
          <a:xfrm>
            <a:off x="2167890" y="2691760"/>
            <a:ext cx="914400" cy="411480"/>
          </a:xfrm>
          <a:prstGeom prst="rect">
            <a:avLst/>
          </a:prstGeom>
          <a:noFill/>
        </p:spPr>
        <p:txBody>
          <a:bodyPr wrap="square" anchor="t">
            <a:spAutoFit/>
          </a:bodyPr>
          <a:lstStyle/>
          <a:p>
            <a:pPr algn="r">
              <a:defRPr sz="2400" b="1">
                <a:solidFill>
                  <a:srgbClr val="00C2D6"/>
                </a:solidFill>
                <a:latin typeface="Aptos Display"/>
              </a:defRPr>
            </a:pPr>
            <a:r>
              <a:t>01</a:t>
            </a:r>
          </a:p>
        </p:txBody>
      </p:sp>
      <p:sp>
        <p:nvSpPr>
          <p:cNvPr id="6" name="TextBox 5"/>
          <p:cNvSpPr txBox="1"/>
          <p:nvPr/>
        </p:nvSpPr>
        <p:spPr>
          <a:xfrm>
            <a:off x="685800" y="3840480"/>
            <a:ext cx="2396490" cy="320040"/>
          </a:xfrm>
          <a:prstGeom prst="rect">
            <a:avLst/>
          </a:prstGeom>
          <a:noFill/>
        </p:spPr>
        <p:txBody>
          <a:bodyPr wrap="square" anchor="t">
            <a:spAutoFit/>
          </a:bodyPr>
          <a:lstStyle/>
          <a:p>
            <a:pPr algn="l">
              <a:defRPr sz="2000" b="1">
                <a:solidFill>
                  <a:srgbClr val="FFFFFF"/>
                </a:solidFill>
                <a:latin typeface="Aptos"/>
              </a:defRPr>
            </a:pPr>
            <a:r>
              <a:t>CODE</a:t>
            </a:r>
          </a:p>
        </p:txBody>
      </p:sp>
      <p:sp>
        <p:nvSpPr>
          <p:cNvPr id="7" name="TextBox 6"/>
          <p:cNvSpPr txBox="1"/>
          <p:nvPr/>
        </p:nvSpPr>
        <p:spPr>
          <a:xfrm>
            <a:off x="685800" y="4297680"/>
            <a:ext cx="2396490" cy="822960"/>
          </a:xfrm>
          <a:prstGeom prst="rect">
            <a:avLst/>
          </a:prstGeom>
          <a:noFill/>
        </p:spPr>
        <p:txBody>
          <a:bodyPr wrap="square" anchor="t">
            <a:spAutoFit/>
          </a:bodyPr>
          <a:lstStyle/>
          <a:p>
            <a:pPr algn="l">
              <a:defRPr sz="1600" b="0">
                <a:solidFill>
                  <a:srgbClr val="BEBEBE"/>
                </a:solidFill>
                <a:latin typeface="Aptos"/>
              </a:defRPr>
            </a:pPr>
            <a:r>
              <a:t>Exact harness + implementation</a:t>
            </a:r>
          </a:p>
        </p:txBody>
      </p:sp>
      <p:sp>
        <p:nvSpPr>
          <p:cNvPr id="8" name="TextBox 7"/>
          <p:cNvSpPr txBox="1"/>
          <p:nvPr/>
        </p:nvSpPr>
        <p:spPr>
          <a:xfrm>
            <a:off x="4975860" y="2691760"/>
            <a:ext cx="914400" cy="411480"/>
          </a:xfrm>
          <a:prstGeom prst="rect">
            <a:avLst/>
          </a:prstGeom>
          <a:noFill/>
        </p:spPr>
        <p:txBody>
          <a:bodyPr wrap="square" anchor="t">
            <a:spAutoFit/>
          </a:bodyPr>
          <a:lstStyle/>
          <a:p>
            <a:pPr algn="r">
              <a:defRPr sz="2400" b="1">
                <a:solidFill>
                  <a:srgbClr val="F7C548"/>
                </a:solidFill>
                <a:latin typeface="Aptos Display"/>
              </a:defRPr>
            </a:pPr>
            <a:r>
              <a:t>02</a:t>
            </a:r>
          </a:p>
        </p:txBody>
      </p:sp>
      <p:sp>
        <p:nvSpPr>
          <p:cNvPr id="9" name="TextBox 8"/>
          <p:cNvSpPr txBox="1"/>
          <p:nvPr/>
        </p:nvSpPr>
        <p:spPr>
          <a:xfrm>
            <a:off x="3493770" y="3840480"/>
            <a:ext cx="2396490" cy="320040"/>
          </a:xfrm>
          <a:prstGeom prst="rect">
            <a:avLst/>
          </a:prstGeom>
          <a:noFill/>
        </p:spPr>
        <p:txBody>
          <a:bodyPr wrap="square" anchor="t">
            <a:spAutoFit/>
          </a:bodyPr>
          <a:lstStyle/>
          <a:p>
            <a:pPr algn="l">
              <a:defRPr sz="2000" b="1">
                <a:solidFill>
                  <a:srgbClr val="FFFFFF"/>
                </a:solidFill>
                <a:latin typeface="Aptos"/>
              </a:defRPr>
            </a:pPr>
            <a:r>
              <a:t>CONFIG</a:t>
            </a:r>
          </a:p>
        </p:txBody>
      </p:sp>
      <p:sp>
        <p:nvSpPr>
          <p:cNvPr id="10" name="TextBox 9"/>
          <p:cNvSpPr txBox="1"/>
          <p:nvPr/>
        </p:nvSpPr>
        <p:spPr>
          <a:xfrm>
            <a:off x="3493770" y="4297680"/>
            <a:ext cx="2396490" cy="822960"/>
          </a:xfrm>
          <a:prstGeom prst="rect">
            <a:avLst/>
          </a:prstGeom>
          <a:noFill/>
        </p:spPr>
        <p:txBody>
          <a:bodyPr wrap="square" anchor="t">
            <a:spAutoFit/>
          </a:bodyPr>
          <a:lstStyle/>
          <a:p>
            <a:pPr algn="l">
              <a:defRPr sz="1600" b="0">
                <a:solidFill>
                  <a:srgbClr val="BEBEBE"/>
                </a:solidFill>
                <a:latin typeface="Aptos"/>
              </a:defRPr>
            </a:pPr>
            <a:r>
              <a:t>Settings on every system</a:t>
            </a:r>
          </a:p>
        </p:txBody>
      </p:sp>
      <p:sp>
        <p:nvSpPr>
          <p:cNvPr id="11" name="TextBox 10"/>
          <p:cNvSpPr txBox="1"/>
          <p:nvPr/>
        </p:nvSpPr>
        <p:spPr>
          <a:xfrm>
            <a:off x="7783830" y="2691760"/>
            <a:ext cx="914400" cy="411480"/>
          </a:xfrm>
          <a:prstGeom prst="rect">
            <a:avLst/>
          </a:prstGeom>
          <a:noFill/>
        </p:spPr>
        <p:txBody>
          <a:bodyPr wrap="square" anchor="t">
            <a:spAutoFit/>
          </a:bodyPr>
          <a:lstStyle/>
          <a:p>
            <a:pPr algn="r">
              <a:defRPr sz="2400" b="1">
                <a:solidFill>
                  <a:srgbClr val="FF655C"/>
                </a:solidFill>
                <a:latin typeface="Aptos Display"/>
              </a:defRPr>
            </a:pPr>
            <a:r>
              <a:t>03</a:t>
            </a:r>
          </a:p>
        </p:txBody>
      </p:sp>
      <p:sp>
        <p:nvSpPr>
          <p:cNvPr id="12" name="TextBox 11"/>
          <p:cNvSpPr txBox="1"/>
          <p:nvPr/>
        </p:nvSpPr>
        <p:spPr>
          <a:xfrm>
            <a:off x="6301740" y="3840480"/>
            <a:ext cx="2396490" cy="320040"/>
          </a:xfrm>
          <a:prstGeom prst="rect">
            <a:avLst/>
          </a:prstGeom>
          <a:noFill/>
        </p:spPr>
        <p:txBody>
          <a:bodyPr wrap="square" anchor="t">
            <a:spAutoFit/>
          </a:bodyPr>
          <a:lstStyle/>
          <a:p>
            <a:pPr algn="l">
              <a:defRPr sz="2000" b="1">
                <a:solidFill>
                  <a:srgbClr val="FFFFFF"/>
                </a:solidFill>
                <a:latin typeface="Aptos"/>
              </a:defRPr>
            </a:pPr>
            <a:r>
              <a:t>COST</a:t>
            </a:r>
          </a:p>
        </p:txBody>
      </p:sp>
      <p:sp>
        <p:nvSpPr>
          <p:cNvPr id="13" name="TextBox 12"/>
          <p:cNvSpPr txBox="1"/>
          <p:nvPr/>
        </p:nvSpPr>
        <p:spPr>
          <a:xfrm>
            <a:off x="6301740" y="4297680"/>
            <a:ext cx="2396490" cy="822960"/>
          </a:xfrm>
          <a:prstGeom prst="rect">
            <a:avLst/>
          </a:prstGeom>
          <a:noFill/>
        </p:spPr>
        <p:txBody>
          <a:bodyPr wrap="square" anchor="t">
            <a:spAutoFit/>
          </a:bodyPr>
          <a:lstStyle/>
          <a:p>
            <a:pPr algn="l">
              <a:defRPr sz="1600" b="0">
                <a:solidFill>
                  <a:srgbClr val="BEBEBE"/>
                </a:solidFill>
                <a:latin typeface="Aptos"/>
              </a:defRPr>
            </a:pPr>
            <a:r>
              <a:t>Hardware + spend</a:t>
            </a:r>
          </a:p>
        </p:txBody>
      </p:sp>
      <p:sp>
        <p:nvSpPr>
          <p:cNvPr id="14" name="TextBox 13"/>
          <p:cNvSpPr txBox="1"/>
          <p:nvPr/>
        </p:nvSpPr>
        <p:spPr>
          <a:xfrm>
            <a:off x="10591800" y="2691760"/>
            <a:ext cx="914400" cy="411480"/>
          </a:xfrm>
          <a:prstGeom prst="rect">
            <a:avLst/>
          </a:prstGeom>
          <a:noFill/>
        </p:spPr>
        <p:txBody>
          <a:bodyPr wrap="square" anchor="t">
            <a:spAutoFit/>
          </a:bodyPr>
          <a:lstStyle/>
          <a:p>
            <a:pPr algn="r">
              <a:defRPr sz="2400" b="1">
                <a:solidFill>
                  <a:srgbClr val="B794F6"/>
                </a:solidFill>
                <a:latin typeface="Aptos Display"/>
              </a:defRPr>
            </a:pPr>
            <a:r>
              <a:t>04</a:t>
            </a:r>
          </a:p>
        </p:txBody>
      </p:sp>
      <p:sp>
        <p:nvSpPr>
          <p:cNvPr id="15" name="TextBox 14"/>
          <p:cNvSpPr txBox="1"/>
          <p:nvPr/>
        </p:nvSpPr>
        <p:spPr>
          <a:xfrm>
            <a:off x="9109710" y="3840480"/>
            <a:ext cx="2396490" cy="320040"/>
          </a:xfrm>
          <a:prstGeom prst="rect">
            <a:avLst/>
          </a:prstGeom>
          <a:noFill/>
        </p:spPr>
        <p:txBody>
          <a:bodyPr wrap="square" anchor="t">
            <a:spAutoFit/>
          </a:bodyPr>
          <a:lstStyle/>
          <a:p>
            <a:pPr algn="l">
              <a:defRPr sz="2000" b="1">
                <a:solidFill>
                  <a:srgbClr val="FFFFFF"/>
                </a:solidFill>
                <a:latin typeface="Aptos"/>
              </a:defRPr>
            </a:pPr>
            <a:r>
              <a:t>WORKLOAD</a:t>
            </a:r>
          </a:p>
        </p:txBody>
      </p:sp>
      <p:sp>
        <p:nvSpPr>
          <p:cNvPr id="16" name="TextBox 15"/>
          <p:cNvSpPr txBox="1"/>
          <p:nvPr/>
        </p:nvSpPr>
        <p:spPr>
          <a:xfrm>
            <a:off x="9109710" y="4297680"/>
            <a:ext cx="2396490" cy="822960"/>
          </a:xfrm>
          <a:prstGeom prst="rect">
            <a:avLst/>
          </a:prstGeom>
          <a:noFill/>
        </p:spPr>
        <p:txBody>
          <a:bodyPr wrap="square" anchor="t">
            <a:spAutoFit/>
          </a:bodyPr>
          <a:lstStyle/>
          <a:p>
            <a:pPr algn="l">
              <a:defRPr sz="1600" b="0">
                <a:solidFill>
                  <a:srgbClr val="BEBEBE"/>
                </a:solidFill>
                <a:latin typeface="Aptos"/>
              </a:defRPr>
            </a:pPr>
            <a:r>
              <a:t>What each side actually did</a:t>
            </a:r>
          </a:p>
        </p:txBody>
      </p:sp>
      <p:sp>
        <p:nvSpPr>
          <p:cNvPr id="17" name="TextBox 16"/>
          <p:cNvSpPr txBox="1"/>
          <p:nvPr/>
        </p:nvSpPr>
        <p:spPr>
          <a:xfrm>
            <a:off x="502920" y="6510528"/>
            <a:ext cx="2377440" cy="164592"/>
          </a:xfrm>
          <a:prstGeom prst="rect">
            <a:avLst/>
          </a:prstGeom>
          <a:noFill/>
        </p:spPr>
        <p:txBody>
          <a:bodyPr wrap="square" anchor="t">
            <a:spAutoFit/>
          </a:bodyPr>
          <a:lstStyle/>
          <a:p>
            <a:pPr algn="l">
              <a:defRPr sz="750" b="1">
                <a:solidFill>
                  <a:srgbClr val="AAAAAA"/>
                </a:solidFill>
                <a:latin typeface="Aptos"/>
              </a:defRPr>
            </a:pPr>
            <a:r>
              <a:t>MY DISHONEST BENCHMARK</a:t>
            </a:r>
          </a:p>
        </p:txBody>
      </p:sp>
      <p:sp>
        <p:nvSpPr>
          <p:cNvPr id="18" name="TextBox 17"/>
          <p:cNvSpPr txBox="1"/>
          <p:nvPr/>
        </p:nvSpPr>
        <p:spPr>
          <a:xfrm>
            <a:off x="11155680" y="6473952"/>
            <a:ext cx="502920" cy="182880"/>
          </a:xfrm>
          <a:prstGeom prst="rect">
            <a:avLst/>
          </a:prstGeom>
          <a:noFill/>
        </p:spPr>
        <p:txBody>
          <a:bodyPr wrap="square" anchor="t">
            <a:spAutoFit/>
          </a:bodyPr>
          <a:lstStyle/>
          <a:p>
            <a:pPr algn="r">
              <a:defRPr sz="800" b="1">
                <a:solidFill>
                  <a:srgbClr val="AAAAAA"/>
                </a:solidFill>
                <a:latin typeface="Aptos"/>
              </a:defRPr>
            </a:pPr>
            <a:r>
              <a:t>08</a:t>
            </a:r>
          </a:p>
        </p:txBody>
      </p:sp>
      <p:pic>
        <p:nvPicPr>
          <p:cNvPr id="44" name="Graphic 44" descr="Confi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585210" y="2794000"/>
            <a:ext cx="558800" cy="558800"/>
          </a:xfrm>
          <a:prstGeom prst="rect">
            <a:avLst/>
          </a:prstGeom>
        </p:spPr>
      </p:pic>
      <p:pic>
        <p:nvPicPr>
          <p:cNvPr id="45" name="Graphic 45" descr="Cost"/>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93180" y="2794000"/>
            <a:ext cx="558800" cy="558800"/>
          </a:xfrm>
          <a:prstGeom prst="rect">
            <a:avLst/>
          </a:prstGeom>
        </p:spPr>
      </p:pic>
      <p:pic>
        <p:nvPicPr>
          <p:cNvPr id="46" name="Graphic 46" descr="Workload"/>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01150" y="2794000"/>
            <a:ext cx="558800" cy="558800"/>
          </a:xfrm>
          <a:prstGeom prst="rect">
            <a:avLst/>
          </a:prstGeom>
        </p:spPr>
      </p:pic>
      <p:pic>
        <p:nvPicPr>
          <p:cNvPr id="47" name="Graphic 47" descr="Code"/>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7240" y="2794000"/>
            <a:ext cx="558800" cy="558800"/>
          </a:xfrm>
          <a:prstGeom prst="rect">
            <a:avLst/>
          </a:prstGeom>
        </p:spPr>
      </p:pic>
    </p:spTree>
    <p:extLst>
      <p:ext uri="{BB962C8B-B14F-4D97-AF65-F5344CB8AC3E}">
        <p14:creationId xmlns:p14="http://schemas.microsoft.com/office/powerpoint/2010/main" val="26230993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3" name="TextBox 2"/>
          <p:cNvSpPr txBox="1"/>
          <p:nvPr/>
        </p:nvSpPr>
        <p:spPr>
          <a:xfrm>
            <a:off x="795528" y="649224"/>
            <a:ext cx="1709928" cy="201168"/>
          </a:xfrm>
          <a:prstGeom prst="rect">
            <a:avLst/>
          </a:prstGeom>
          <a:noFill/>
        </p:spPr>
        <p:txBody>
          <a:bodyPr wrap="square" anchor="t">
            <a:spAutoFit/>
          </a:bodyPr>
          <a:lstStyle/>
          <a:p>
            <a:pPr algn="l">
              <a:defRPr sz="1000" b="1">
                <a:solidFill>
                  <a:srgbClr val="17181C"/>
                </a:solidFill>
                <a:latin typeface="Aptos"/>
              </a:defRPr>
            </a:pPr>
            <a:r>
              <a:t>ENTER POSTGRES</a:t>
            </a:r>
          </a:p>
        </p:txBody>
      </p:sp>
      <p:sp>
        <p:nvSpPr>
          <p:cNvPr id="4" name="TextBox 3"/>
          <p:cNvSpPr txBox="1"/>
          <p:nvPr/>
        </p:nvSpPr>
        <p:spPr>
          <a:xfrm>
            <a:off x="749808" y="1600200"/>
            <a:ext cx="10607040" cy="2926080"/>
          </a:xfrm>
          <a:prstGeom prst="rect">
            <a:avLst/>
          </a:prstGeom>
          <a:noFill/>
        </p:spPr>
        <p:txBody>
          <a:bodyPr wrap="square" anchor="ctr">
            <a:spAutoFit/>
          </a:bodyPr>
          <a:lstStyle/>
          <a:p>
            <a:pPr algn="l">
              <a:defRPr sz="4200" b="1">
                <a:solidFill>
                  <a:srgbClr val="FFFFFF"/>
                </a:solidFill>
                <a:latin typeface="Aptos Display"/>
              </a:defRPr>
            </a:pPr>
            <a:r>
              <a:t>PostgreSQL has a marketing problem.</a:t>
            </a:r>
          </a:p>
        </p:txBody>
      </p:sp>
      <p:sp>
        <p:nvSpPr>
          <p:cNvPr id="5" name="TextBox 4"/>
          <p:cNvSpPr txBox="1"/>
          <p:nvPr/>
        </p:nvSpPr>
        <p:spPr>
          <a:xfrm>
            <a:off x="777240" y="4892040"/>
            <a:ext cx="10058400" cy="731520"/>
          </a:xfrm>
          <a:prstGeom prst="rect">
            <a:avLst/>
          </a:prstGeom>
          <a:noFill/>
        </p:spPr>
        <p:txBody>
          <a:bodyPr wrap="square" anchor="t">
            <a:spAutoFit/>
          </a:bodyPr>
          <a:lstStyle/>
          <a:p>
            <a:pPr algn="l">
              <a:defRPr sz="1800" b="0">
                <a:solidFill>
                  <a:srgbClr val="BEBEBE"/>
                </a:solidFill>
                <a:latin typeface="Aptos"/>
              </a:defRPr>
            </a:pPr>
            <a:r>
              <a:t>No owner. No marketing department. No PR strategy. No launch-day rocket-vs-snail charts.</a:t>
            </a:r>
          </a:p>
        </p:txBody>
      </p:sp>
      <p:sp>
        <p:nvSpPr>
          <p:cNvPr id="6" name="TextBox 5"/>
          <p:cNvSpPr txBox="1"/>
          <p:nvPr/>
        </p:nvSpPr>
        <p:spPr>
          <a:xfrm>
            <a:off x="502920" y="6510528"/>
            <a:ext cx="2377440" cy="164592"/>
          </a:xfrm>
          <a:prstGeom prst="rect">
            <a:avLst/>
          </a:prstGeom>
          <a:noFill/>
        </p:spPr>
        <p:txBody>
          <a:bodyPr wrap="square" anchor="t">
            <a:spAutoFit/>
          </a:bodyPr>
          <a:lstStyle/>
          <a:p>
            <a:pPr algn="l">
              <a:defRPr sz="750" b="1">
                <a:solidFill>
                  <a:srgbClr val="AAAAAA"/>
                </a:solidFill>
                <a:latin typeface="Aptos"/>
              </a:defRPr>
            </a:pPr>
            <a:r>
              <a:t>MY DISHONEST BENCHMARK</a:t>
            </a:r>
          </a:p>
        </p:txBody>
      </p:sp>
      <p:sp>
        <p:nvSpPr>
          <p:cNvPr id="7" name="TextBox 6"/>
          <p:cNvSpPr txBox="1"/>
          <p:nvPr/>
        </p:nvSpPr>
        <p:spPr>
          <a:xfrm>
            <a:off x="11155680" y="6473952"/>
            <a:ext cx="502920" cy="182880"/>
          </a:xfrm>
          <a:prstGeom prst="rect">
            <a:avLst/>
          </a:prstGeom>
          <a:noFill/>
        </p:spPr>
        <p:txBody>
          <a:bodyPr wrap="square" anchor="t">
            <a:spAutoFit/>
          </a:bodyPr>
          <a:lstStyle/>
          <a:p>
            <a:pPr algn="r">
              <a:defRPr sz="800" b="1">
                <a:solidFill>
                  <a:srgbClr val="AAAAAA"/>
                </a:solidFill>
                <a:latin typeface="Aptos"/>
              </a:defRPr>
            </a:pPr>
            <a:r>
              <a:t>09</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 name="TextBox 1"/>
          <p:cNvSpPr txBox="1"/>
          <p:nvPr/>
        </p:nvSpPr>
        <p:spPr>
          <a:xfrm>
            <a:off x="594360" y="594359"/>
            <a:ext cx="3931920" cy="460717"/>
          </a:xfrm>
          <a:prstGeom prst="roundRect">
            <a:avLst/>
          </a:prstGeom>
          <a:solidFill>
            <a:srgbClr val="FF655C"/>
          </a:solidFill>
        </p:spPr>
        <p:txBody>
          <a:bodyPr wrap="none" lIns="0" tIns="0" rIns="0" bIns="0" anchor="ctr">
            <a:noAutofit/>
          </a:bodyPr>
          <a:lstStyle/>
          <a:p>
            <a:pPr algn="ctr">
              <a:defRPr sz="1000" b="1">
                <a:solidFill>
                  <a:srgbClr val="17181C"/>
                </a:solidFill>
                <a:latin typeface="Aptos"/>
              </a:defRPr>
            </a:pPr>
            <a:r>
              <a:rPr sz="3200" dirty="0">
                <a:solidFill>
                  <a:srgbClr val="17181C"/>
                </a:solidFill>
              </a:rPr>
              <a:t>THE EXPERIMENT</a:t>
            </a:r>
          </a:p>
        </p:txBody>
      </p:sp>
      <p:sp>
        <p:nvSpPr>
          <p:cNvPr id="3" name="TextBox 2"/>
          <p:cNvSpPr txBox="1"/>
          <p:nvPr/>
        </p:nvSpPr>
        <p:spPr>
          <a:xfrm>
            <a:off x="594360" y="1325880"/>
            <a:ext cx="11003280" cy="640080"/>
          </a:xfrm>
          <a:prstGeom prst="rect">
            <a:avLst/>
          </a:prstGeom>
          <a:noFill/>
        </p:spPr>
        <p:txBody>
          <a:bodyPr wrap="square" anchor="t">
            <a:spAutoFit/>
          </a:bodyPr>
          <a:lstStyle/>
          <a:p>
            <a:pPr algn="l">
              <a:defRPr sz="3600" b="1">
                <a:solidFill>
                  <a:srgbClr val="FFFFFF"/>
                </a:solidFill>
                <a:latin typeface="Aptos Display"/>
              </a:defRPr>
            </a:pPr>
            <a:r>
              <a:t>So let us create a heroic graph</a:t>
            </a:r>
          </a:p>
        </p:txBody>
      </p:sp>
      <p:sp>
        <p:nvSpPr>
          <p:cNvPr id="4" name="TextBox 3"/>
          <p:cNvSpPr txBox="1"/>
          <p:nvPr/>
        </p:nvSpPr>
        <p:spPr>
          <a:xfrm>
            <a:off x="685800" y="3063240"/>
            <a:ext cx="4800000" cy="1323439"/>
          </a:xfrm>
          <a:prstGeom prst="rect">
            <a:avLst/>
          </a:prstGeom>
          <a:noFill/>
        </p:spPr>
        <p:txBody>
          <a:bodyPr wrap="square" lIns="0" rIns="0" anchor="t">
            <a:spAutoFit/>
          </a:bodyPr>
          <a:lstStyle/>
          <a:p>
            <a:pPr algn="l">
              <a:defRPr sz="8000" b="1">
                <a:gradFill>
                  <a:gsLst>
                    <a:gs pos="0">
                      <a:srgbClr val="00C2D6"/>
                    </a:gs>
                    <a:gs pos="50000">
                      <a:srgbClr val="F7C548"/>
                    </a:gs>
                    <a:gs pos="100000">
                      <a:srgbClr val="FF655C"/>
                    </a:gs>
                  </a:gsLst>
                  <a:lin ang="0" scaled="1"/>
                </a:gradFill>
                <a:latin typeface="Aptos Display"/>
              </a:defRPr>
            </a:pPr>
            <a:r>
              <a:rPr lang="en-US" dirty="0"/>
              <a:t>1</a:t>
            </a:r>
            <a:r>
              <a:rPr dirty="0"/>
              <a:t>00,000+</a:t>
            </a:r>
          </a:p>
        </p:txBody>
      </p:sp>
      <p:sp>
        <p:nvSpPr>
          <p:cNvPr id="5" name="TextBox 4"/>
          <p:cNvSpPr txBox="1"/>
          <p:nvPr/>
        </p:nvSpPr>
        <p:spPr>
          <a:xfrm>
            <a:off x="685800" y="4302920"/>
            <a:ext cx="4800000" cy="320000"/>
          </a:xfrm>
          <a:prstGeom prst="rect">
            <a:avLst/>
          </a:prstGeom>
          <a:noFill/>
        </p:spPr>
        <p:txBody>
          <a:bodyPr wrap="square" lIns="0" rIns="0" anchor="t">
            <a:spAutoFit/>
          </a:bodyPr>
          <a:lstStyle/>
          <a:p>
            <a:pPr algn="l">
              <a:defRPr sz="1600" b="1">
                <a:solidFill>
                  <a:srgbClr val="FF655C"/>
                </a:solidFill>
                <a:latin typeface="Aptos"/>
              </a:defRPr>
            </a:pPr>
            <a:r>
              <a:t>OPERATIONS / SECOND</a:t>
            </a:r>
          </a:p>
        </p:txBody>
      </p:sp>
      <p:sp>
        <p:nvSpPr>
          <p:cNvPr id="6" name="TextBox 5"/>
          <p:cNvSpPr txBox="1"/>
          <p:nvPr/>
        </p:nvSpPr>
        <p:spPr>
          <a:xfrm>
            <a:off x="685800" y="4922920"/>
            <a:ext cx="4800000" cy="457200"/>
          </a:xfrm>
          <a:prstGeom prst="rect">
            <a:avLst/>
          </a:prstGeom>
          <a:noFill/>
        </p:spPr>
        <p:txBody>
          <a:bodyPr wrap="square" lIns="0" rIns="0" anchor="t">
            <a:spAutoFit/>
          </a:bodyPr>
          <a:lstStyle/>
          <a:p>
            <a:pPr algn="l">
              <a:defRPr sz="2400" b="0" i="1">
                <a:solidFill>
                  <a:srgbClr val="BEBEBE"/>
                </a:solidFill>
                <a:latin typeface="Aptos"/>
              </a:defRPr>
            </a:pPr>
            <a:r>
              <a:t>by hook or crook</a:t>
            </a:r>
          </a:p>
        </p:txBody>
      </p:sp>
      <p:sp>
        <p:nvSpPr>
          <p:cNvPr id="7" name="Rounded Rectangle 6"/>
          <p:cNvSpPr/>
          <p:nvPr/>
        </p:nvSpPr>
        <p:spPr>
          <a:xfrm>
            <a:off x="6035040" y="2514600"/>
            <a:ext cx="5562600" cy="1554480"/>
          </a:xfrm>
          <a:prstGeom prst="rect">
            <a:avLst/>
          </a:prstGeom>
          <a:solidFill>
            <a:srgbClr val="222329"/>
          </a:solidFill>
          <a:ln w="15875">
            <a:solidFill>
              <a:srgbClr val="00C2D6">
                <a:alpha val="45000"/>
              </a:srgbClr>
            </a:solidFill>
          </a:ln>
        </p:spPr>
        <p:txBody>
          <a:bodyPr rtlCol="0" anchor="ctr"/>
          <a:lstStyle/>
          <a:p>
            <a:pPr algn="ctr"/>
            <a:endParaRPr/>
          </a:p>
        </p:txBody>
      </p:sp>
      <p:sp>
        <p:nvSpPr>
          <p:cNvPr id="20" name="Card Strip 1"/>
          <p:cNvSpPr/>
          <p:nvPr/>
        </p:nvSpPr>
        <p:spPr>
          <a:xfrm>
            <a:off x="6035040" y="2514600"/>
            <a:ext cx="73152" cy="1554480"/>
          </a:xfrm>
          <a:prstGeom prst="rect">
            <a:avLst/>
          </a:prstGeom>
          <a:solidFill>
            <a:srgbClr val="00C2D6"/>
          </a:solidFill>
          <a:ln>
            <a:noFill/>
          </a:ln>
        </p:spPr>
        <p:txBody>
          <a:bodyPr/>
          <a:lstStyle/>
          <a:p>
            <a:endParaRPr lang="en-GB"/>
          </a:p>
        </p:txBody>
      </p:sp>
      <p:sp>
        <p:nvSpPr>
          <p:cNvPr id="8" name="TextBox 7"/>
          <p:cNvSpPr txBox="1"/>
          <p:nvPr/>
        </p:nvSpPr>
        <p:spPr>
          <a:xfrm>
            <a:off x="6400800" y="2834640"/>
            <a:ext cx="5013960" cy="320040"/>
          </a:xfrm>
          <a:prstGeom prst="rect">
            <a:avLst/>
          </a:prstGeom>
          <a:noFill/>
        </p:spPr>
        <p:txBody>
          <a:bodyPr wrap="square" lIns="0" rIns="0" anchor="t">
            <a:spAutoFit/>
          </a:bodyPr>
          <a:lstStyle/>
          <a:p>
            <a:pPr algn="l">
              <a:defRPr sz="1600" b="1">
                <a:solidFill>
                  <a:srgbClr val="00C2D6"/>
                </a:solidFill>
                <a:latin typeface="Aptos"/>
              </a:defRPr>
            </a:pPr>
            <a:r>
              <a:t>CONSTRAINT</a:t>
            </a:r>
          </a:p>
        </p:txBody>
      </p:sp>
      <p:sp>
        <p:nvSpPr>
          <p:cNvPr id="9" name="TextBox 8"/>
          <p:cNvSpPr txBox="1"/>
          <p:nvPr/>
        </p:nvSpPr>
        <p:spPr>
          <a:xfrm>
            <a:off x="6400800" y="3246120"/>
            <a:ext cx="5013960" cy="640080"/>
          </a:xfrm>
          <a:prstGeom prst="rect">
            <a:avLst/>
          </a:prstGeom>
          <a:noFill/>
        </p:spPr>
        <p:txBody>
          <a:bodyPr wrap="square" lIns="0" rIns="0" anchor="t">
            <a:spAutoFit/>
          </a:bodyPr>
          <a:lstStyle/>
          <a:p>
            <a:pPr algn="l">
              <a:defRPr sz="1800" b="0">
                <a:solidFill>
                  <a:srgbClr val="FFFFFF"/>
                </a:solidFill>
                <a:latin typeface="Aptos"/>
              </a:defRPr>
            </a:pPr>
            <a:r>
              <a:t>Every reported number comes from a real run.</a:t>
            </a:r>
          </a:p>
        </p:txBody>
      </p:sp>
      <p:sp>
        <p:nvSpPr>
          <p:cNvPr id="10" name="Rounded Rectangle 9"/>
          <p:cNvSpPr/>
          <p:nvPr/>
        </p:nvSpPr>
        <p:spPr>
          <a:xfrm>
            <a:off x="6035040" y="4297680"/>
            <a:ext cx="5562600" cy="1554480"/>
          </a:xfrm>
          <a:prstGeom prst="rect">
            <a:avLst/>
          </a:prstGeom>
          <a:solidFill>
            <a:srgbClr val="222329"/>
          </a:solidFill>
          <a:ln w="15875">
            <a:solidFill>
              <a:srgbClr val="FF655C">
                <a:alpha val="45000"/>
              </a:srgbClr>
            </a:solidFill>
          </a:ln>
        </p:spPr>
        <p:txBody>
          <a:bodyPr rtlCol="0" anchor="ctr"/>
          <a:lstStyle/>
          <a:p>
            <a:pPr algn="ctr"/>
            <a:endParaRPr/>
          </a:p>
        </p:txBody>
      </p:sp>
      <p:sp>
        <p:nvSpPr>
          <p:cNvPr id="21" name="Card Strip 2"/>
          <p:cNvSpPr/>
          <p:nvPr/>
        </p:nvSpPr>
        <p:spPr>
          <a:xfrm>
            <a:off x="6035040" y="4297680"/>
            <a:ext cx="73152" cy="1554480"/>
          </a:xfrm>
          <a:prstGeom prst="rect">
            <a:avLst/>
          </a:prstGeom>
          <a:solidFill>
            <a:srgbClr val="FF655C"/>
          </a:solidFill>
          <a:ln>
            <a:noFill/>
          </a:ln>
        </p:spPr>
        <p:txBody>
          <a:bodyPr/>
          <a:lstStyle/>
          <a:p>
            <a:endParaRPr lang="en-GB"/>
          </a:p>
        </p:txBody>
      </p:sp>
      <p:sp>
        <p:nvSpPr>
          <p:cNvPr id="11" name="TextBox 10"/>
          <p:cNvSpPr txBox="1"/>
          <p:nvPr/>
        </p:nvSpPr>
        <p:spPr>
          <a:xfrm>
            <a:off x="6400800" y="4617720"/>
            <a:ext cx="5013960" cy="320040"/>
          </a:xfrm>
          <a:prstGeom prst="rect">
            <a:avLst/>
          </a:prstGeom>
          <a:noFill/>
        </p:spPr>
        <p:txBody>
          <a:bodyPr wrap="square" lIns="0" rIns="0" anchor="t">
            <a:spAutoFit/>
          </a:bodyPr>
          <a:lstStyle/>
          <a:p>
            <a:pPr algn="l">
              <a:defRPr sz="1600" b="1">
                <a:solidFill>
                  <a:srgbClr val="FF655C"/>
                </a:solidFill>
                <a:latin typeface="Aptos"/>
              </a:defRPr>
            </a:pPr>
            <a:r>
              <a:t>FREEDOM</a:t>
            </a:r>
          </a:p>
        </p:txBody>
      </p:sp>
      <p:sp>
        <p:nvSpPr>
          <p:cNvPr id="12" name="TextBox 11"/>
          <p:cNvSpPr txBox="1"/>
          <p:nvPr/>
        </p:nvSpPr>
        <p:spPr>
          <a:xfrm>
            <a:off x="6400800" y="5029200"/>
            <a:ext cx="5013960" cy="640080"/>
          </a:xfrm>
          <a:prstGeom prst="rect">
            <a:avLst/>
          </a:prstGeom>
          <a:noFill/>
        </p:spPr>
        <p:txBody>
          <a:bodyPr wrap="square" lIns="0" rIns="0" anchor="t">
            <a:spAutoFit/>
          </a:bodyPr>
          <a:lstStyle/>
          <a:p>
            <a:pPr algn="l">
              <a:defRPr sz="1800" b="0">
                <a:solidFill>
                  <a:srgbClr val="FFFFFF"/>
                </a:solidFill>
                <a:latin typeface="Aptos"/>
              </a:defRPr>
            </a:pPr>
            <a:r>
              <a:t>I can quietly change what the number means.</a:t>
            </a:r>
          </a:p>
        </p:txBody>
      </p:sp>
      <p:sp>
        <p:nvSpPr>
          <p:cNvPr id="13" name="TextBox 12"/>
          <p:cNvSpPr txBox="1"/>
          <p:nvPr/>
        </p:nvSpPr>
        <p:spPr>
          <a:xfrm>
            <a:off x="502920" y="6510528"/>
            <a:ext cx="2377440" cy="164592"/>
          </a:xfrm>
          <a:prstGeom prst="rect">
            <a:avLst/>
          </a:prstGeom>
          <a:noFill/>
        </p:spPr>
        <p:txBody>
          <a:bodyPr wrap="square" anchor="t">
            <a:spAutoFit/>
          </a:bodyPr>
          <a:lstStyle/>
          <a:p>
            <a:pPr algn="l">
              <a:defRPr sz="750" b="1">
                <a:solidFill>
                  <a:srgbClr val="AAAAAA"/>
                </a:solidFill>
                <a:latin typeface="Aptos"/>
              </a:defRPr>
            </a:pPr>
            <a:r>
              <a:t>MY DISHONEST BENCHMARK</a:t>
            </a:r>
          </a:p>
        </p:txBody>
      </p:sp>
      <p:sp>
        <p:nvSpPr>
          <p:cNvPr id="14" name="TextBox 13"/>
          <p:cNvSpPr txBox="1"/>
          <p:nvPr/>
        </p:nvSpPr>
        <p:spPr>
          <a:xfrm>
            <a:off x="11155680" y="6473952"/>
            <a:ext cx="502920" cy="182880"/>
          </a:xfrm>
          <a:prstGeom prst="rect">
            <a:avLst/>
          </a:prstGeom>
          <a:noFill/>
        </p:spPr>
        <p:txBody>
          <a:bodyPr wrap="square" anchor="t">
            <a:spAutoFit/>
          </a:bodyPr>
          <a:lstStyle/>
          <a:p>
            <a:pPr algn="r">
              <a:defRPr sz="800" b="1">
                <a:solidFill>
                  <a:srgbClr val="AAAAAA"/>
                </a:solidFill>
                <a:latin typeface="Aptos"/>
              </a:defRPr>
            </a:pPr>
            <a:r>
              <a:t>10</a:t>
            </a:r>
          </a:p>
        </p:txBody>
      </p:sp>
    </p:spTree>
    <p:extLst>
      <p:ext uri="{BB962C8B-B14F-4D97-AF65-F5344CB8AC3E}">
        <p14:creationId xmlns:p14="http://schemas.microsoft.com/office/powerpoint/2010/main" val="1152002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 name="TextBox 1"/>
          <p:cNvSpPr txBox="1"/>
          <p:nvPr/>
        </p:nvSpPr>
        <p:spPr>
          <a:xfrm>
            <a:off x="594360" y="594359"/>
            <a:ext cx="4572000" cy="460717"/>
          </a:xfrm>
          <a:prstGeom prst="roundRect">
            <a:avLst/>
          </a:prstGeom>
          <a:solidFill>
            <a:srgbClr val="FF655C"/>
          </a:solidFill>
          <a:ln>
            <a:noFill/>
          </a:ln>
          <a:effectLst/>
        </p:spPr>
        <p:txBody>
          <a:bodyPr wrap="none" lIns="0" tIns="0" rIns="0" bIns="0" anchor="ctr">
            <a:noAutofit/>
          </a:bodyPr>
          <a:lstStyle/>
          <a:p>
            <a:pPr algn="ctr">
              <a:defRPr sz="1000" b="1">
                <a:solidFill>
                  <a:srgbClr val="17181C"/>
                </a:solidFill>
                <a:latin typeface="Aptos"/>
              </a:defRPr>
            </a:pPr>
            <a:r>
              <a:rPr sz="3200" dirty="0">
                <a:solidFill>
                  <a:srgbClr val="17181C"/>
                </a:solidFill>
              </a:rPr>
              <a:t>REPRODUCTION PACK</a:t>
            </a:r>
          </a:p>
        </p:txBody>
      </p:sp>
      <p:sp>
        <p:nvSpPr>
          <p:cNvPr id="3" name="Headline"/>
          <p:cNvSpPr txBox="1"/>
          <p:nvPr/>
        </p:nvSpPr>
        <p:spPr>
          <a:xfrm>
            <a:off x="594360" y="1270000"/>
            <a:ext cx="11003280" cy="609600"/>
          </a:xfrm>
          <a:prstGeom prst="rect">
            <a:avLst/>
          </a:prstGeom>
          <a:noFill/>
        </p:spPr>
        <p:txBody>
          <a:bodyPr wrap="square" lIns="0" tIns="0" rIns="0" bIns="0" anchor="t">
            <a:noAutofit/>
          </a:bodyPr>
          <a:lstStyle/>
          <a:p>
            <a:r>
              <a:rPr lang="en-US" sz="3600" b="1" dirty="0">
                <a:solidFill>
                  <a:srgbClr val="FFFFFF"/>
                </a:solidFill>
                <a:latin typeface="Aptos Display"/>
              </a:rPr>
              <a:t>Dishonest does not mean unreproducible</a:t>
            </a:r>
          </a:p>
        </p:txBody>
      </p:sp>
      <p:sp>
        <p:nvSpPr>
          <p:cNvPr id="5" name="Rounded Rectangle 4"/>
          <p:cNvSpPr/>
          <p:nvPr/>
        </p:nvSpPr>
        <p:spPr>
          <a:xfrm>
            <a:off x="594360" y="2184400"/>
            <a:ext cx="5361940" cy="1280160"/>
          </a:xfrm>
          <a:prstGeom prst="roundRect">
            <a:avLst>
              <a:gd name="adj" fmla="val 9000"/>
            </a:avLst>
          </a:prstGeom>
          <a:gradFill rotWithShape="1">
            <a:gsLst>
              <a:gs pos="0">
                <a:srgbClr val="00C2D6">
                  <a:alpha val="22000"/>
                </a:srgbClr>
              </a:gs>
              <a:gs pos="55000">
                <a:srgbClr val="222329"/>
              </a:gs>
              <a:gs pos="100000">
                <a:srgbClr val="222329"/>
              </a:gs>
            </a:gsLst>
            <a:lin ang="0" scaled="1"/>
          </a:gradFill>
          <a:ln w="15875">
            <a:solidFill>
              <a:srgbClr val="00C2D6">
                <a:alpha val="45000"/>
              </a:srgbClr>
            </a:solidFill>
          </a:ln>
          <a:effectLst/>
        </p:spPr>
        <p:txBody>
          <a:bodyPr rtlCol="0" anchor="ctr"/>
          <a:lstStyle/>
          <a:p>
            <a:pPr algn="ctr"/>
            <a:endParaRPr/>
          </a:p>
        </p:txBody>
      </p:sp>
      <p:sp>
        <p:nvSpPr>
          <p:cNvPr id="60" name="Icon Disc 1"/>
          <p:cNvSpPr/>
          <p:nvPr/>
        </p:nvSpPr>
        <p:spPr>
          <a:xfrm>
            <a:off x="873760" y="2443480"/>
            <a:ext cx="762000" cy="762000"/>
          </a:xfrm>
          <a:prstGeom prst="ellipse">
            <a:avLst/>
          </a:prstGeom>
          <a:solidFill>
            <a:srgbClr val="00C2D6">
              <a:alpha val="20000"/>
            </a:srgbClr>
          </a:solidFill>
          <a:ln w="12700">
            <a:solidFill>
              <a:srgbClr val="00C2D6">
                <a:alpha val="70000"/>
              </a:srgbClr>
            </a:solidFill>
          </a:ln>
        </p:spPr>
        <p:txBody>
          <a:bodyPr/>
          <a:lstStyle/>
          <a:p>
            <a:endParaRPr lang="en-US"/>
          </a:p>
        </p:txBody>
      </p:sp>
      <p:sp>
        <p:nvSpPr>
          <p:cNvPr id="6" name="TextBox 5"/>
          <p:cNvSpPr txBox="1"/>
          <p:nvPr/>
        </p:nvSpPr>
        <p:spPr>
          <a:xfrm>
            <a:off x="1864360" y="2336800"/>
            <a:ext cx="3812540" cy="975360"/>
          </a:xfrm>
          <a:prstGeom prst="rect">
            <a:avLst/>
          </a:prstGeom>
          <a:noFill/>
        </p:spPr>
        <p:txBody>
          <a:bodyPr wrap="square" lIns="0" tIns="0" bIns="0" anchor="ctr">
            <a:spAutoFit/>
          </a:bodyPr>
          <a:lstStyle/>
          <a:p>
            <a:pPr>
              <a:spcAft>
                <a:spcPts val="200"/>
              </a:spcAft>
            </a:pPr>
            <a:r>
              <a:rPr lang="en-US" sz="1400" b="1" spc="100" dirty="0">
                <a:solidFill>
                  <a:srgbClr val="00C2D6"/>
                </a:solidFill>
                <a:latin typeface="Aptos"/>
              </a:rPr>
              <a:t>01</a:t>
            </a:r>
          </a:p>
          <a:p>
            <a:r>
              <a:rPr lang="en-US" sz="2000" b="1" dirty="0">
                <a:solidFill>
                  <a:srgbClr val="FFFFFF"/>
                </a:solidFill>
                <a:latin typeface="Aptos"/>
              </a:rPr>
              <a:t>schema + pgbench workloads</a:t>
            </a:r>
          </a:p>
        </p:txBody>
      </p:sp>
      <p:sp>
        <p:nvSpPr>
          <p:cNvPr id="7" name="Rounded Rectangle 6"/>
          <p:cNvSpPr/>
          <p:nvPr/>
        </p:nvSpPr>
        <p:spPr>
          <a:xfrm>
            <a:off x="6235700" y="2184400"/>
            <a:ext cx="5361940" cy="1280160"/>
          </a:xfrm>
          <a:prstGeom prst="roundRect">
            <a:avLst>
              <a:gd name="adj" fmla="val 9000"/>
            </a:avLst>
          </a:prstGeom>
          <a:gradFill rotWithShape="1">
            <a:gsLst>
              <a:gs pos="0">
                <a:srgbClr val="F7C548">
                  <a:alpha val="22000"/>
                </a:srgbClr>
              </a:gs>
              <a:gs pos="55000">
                <a:srgbClr val="222329"/>
              </a:gs>
              <a:gs pos="100000">
                <a:srgbClr val="222329"/>
              </a:gs>
            </a:gsLst>
            <a:lin ang="0" scaled="1"/>
          </a:gradFill>
          <a:ln w="15875">
            <a:solidFill>
              <a:srgbClr val="F7C548">
                <a:alpha val="45000"/>
              </a:srgbClr>
            </a:solidFill>
          </a:ln>
          <a:effectLst/>
        </p:spPr>
        <p:txBody>
          <a:bodyPr rtlCol="0" anchor="ctr"/>
          <a:lstStyle/>
          <a:p>
            <a:pPr algn="ctr"/>
            <a:endParaRPr/>
          </a:p>
        </p:txBody>
      </p:sp>
      <p:sp>
        <p:nvSpPr>
          <p:cNvPr id="61" name="Icon Disc 2"/>
          <p:cNvSpPr/>
          <p:nvPr/>
        </p:nvSpPr>
        <p:spPr>
          <a:xfrm>
            <a:off x="6515100" y="2443480"/>
            <a:ext cx="762000" cy="762000"/>
          </a:xfrm>
          <a:prstGeom prst="ellipse">
            <a:avLst/>
          </a:prstGeom>
          <a:solidFill>
            <a:srgbClr val="F7C548">
              <a:alpha val="20000"/>
            </a:srgbClr>
          </a:solidFill>
          <a:ln w="12700">
            <a:solidFill>
              <a:srgbClr val="F7C548">
                <a:alpha val="70000"/>
              </a:srgbClr>
            </a:solidFill>
          </a:ln>
        </p:spPr>
        <p:txBody>
          <a:bodyPr/>
          <a:lstStyle/>
          <a:p>
            <a:endParaRPr lang="en-US"/>
          </a:p>
        </p:txBody>
      </p:sp>
      <p:sp>
        <p:nvSpPr>
          <p:cNvPr id="8" name="TextBox 7"/>
          <p:cNvSpPr txBox="1"/>
          <p:nvPr/>
        </p:nvSpPr>
        <p:spPr>
          <a:xfrm>
            <a:off x="7505700" y="2336800"/>
            <a:ext cx="3812540" cy="975360"/>
          </a:xfrm>
          <a:prstGeom prst="rect">
            <a:avLst/>
          </a:prstGeom>
          <a:noFill/>
        </p:spPr>
        <p:txBody>
          <a:bodyPr wrap="square" lIns="0" tIns="0" bIns="0" anchor="ctr">
            <a:spAutoFit/>
          </a:bodyPr>
          <a:lstStyle/>
          <a:p>
            <a:pPr>
              <a:spcAft>
                <a:spcPts val="200"/>
              </a:spcAft>
            </a:pPr>
            <a:r>
              <a:rPr lang="en-US" sz="1400" b="1" spc="100" dirty="0">
                <a:solidFill>
                  <a:srgbClr val="F7C548"/>
                </a:solidFill>
                <a:latin typeface="Aptos"/>
              </a:rPr>
              <a:t>02</a:t>
            </a:r>
          </a:p>
          <a:p>
            <a:r>
              <a:rPr lang="en-US" sz="2000" b="1" dirty="0">
                <a:solidFill>
                  <a:srgbClr val="FFFFFF"/>
                </a:solidFill>
                <a:latin typeface="Aptos"/>
              </a:rPr>
              <a:t>reset scripts + cheat variants</a:t>
            </a:r>
          </a:p>
        </p:txBody>
      </p:sp>
      <p:sp>
        <p:nvSpPr>
          <p:cNvPr id="9" name="Rounded Rectangle 8"/>
          <p:cNvSpPr/>
          <p:nvPr/>
        </p:nvSpPr>
        <p:spPr>
          <a:xfrm>
            <a:off x="594360" y="3743960"/>
            <a:ext cx="5361940" cy="1280160"/>
          </a:xfrm>
          <a:prstGeom prst="roundRect">
            <a:avLst>
              <a:gd name="adj" fmla="val 9000"/>
            </a:avLst>
          </a:prstGeom>
          <a:gradFill rotWithShape="1">
            <a:gsLst>
              <a:gs pos="0">
                <a:srgbClr val="FF655C">
                  <a:alpha val="22000"/>
                </a:srgbClr>
              </a:gs>
              <a:gs pos="55000">
                <a:srgbClr val="222329"/>
              </a:gs>
              <a:gs pos="100000">
                <a:srgbClr val="222329"/>
              </a:gs>
            </a:gsLst>
            <a:lin ang="0" scaled="1"/>
          </a:gradFill>
          <a:ln w="15875">
            <a:solidFill>
              <a:srgbClr val="FF655C">
                <a:alpha val="45000"/>
              </a:srgbClr>
            </a:solidFill>
          </a:ln>
          <a:effectLst/>
        </p:spPr>
        <p:txBody>
          <a:bodyPr rtlCol="0" anchor="ctr"/>
          <a:lstStyle/>
          <a:p>
            <a:pPr algn="ctr"/>
            <a:endParaRPr/>
          </a:p>
        </p:txBody>
      </p:sp>
      <p:sp>
        <p:nvSpPr>
          <p:cNvPr id="62" name="Icon Disc 3"/>
          <p:cNvSpPr/>
          <p:nvPr/>
        </p:nvSpPr>
        <p:spPr>
          <a:xfrm>
            <a:off x="873760" y="4003040"/>
            <a:ext cx="762000" cy="762000"/>
          </a:xfrm>
          <a:prstGeom prst="ellipse">
            <a:avLst/>
          </a:prstGeom>
          <a:solidFill>
            <a:srgbClr val="FF655C">
              <a:alpha val="20000"/>
            </a:srgbClr>
          </a:solidFill>
          <a:ln w="12700">
            <a:solidFill>
              <a:srgbClr val="FF655C">
                <a:alpha val="70000"/>
              </a:srgbClr>
            </a:solidFill>
          </a:ln>
        </p:spPr>
        <p:txBody>
          <a:bodyPr/>
          <a:lstStyle/>
          <a:p>
            <a:endParaRPr lang="en-US"/>
          </a:p>
        </p:txBody>
      </p:sp>
      <p:sp>
        <p:nvSpPr>
          <p:cNvPr id="10" name="TextBox 9"/>
          <p:cNvSpPr txBox="1"/>
          <p:nvPr/>
        </p:nvSpPr>
        <p:spPr>
          <a:xfrm>
            <a:off x="1864360" y="3896360"/>
            <a:ext cx="3812540" cy="975360"/>
          </a:xfrm>
          <a:prstGeom prst="rect">
            <a:avLst/>
          </a:prstGeom>
          <a:noFill/>
        </p:spPr>
        <p:txBody>
          <a:bodyPr wrap="square" lIns="0" tIns="0" bIns="0" anchor="ctr">
            <a:spAutoFit/>
          </a:bodyPr>
          <a:lstStyle/>
          <a:p>
            <a:pPr>
              <a:spcAft>
                <a:spcPts val="200"/>
              </a:spcAft>
            </a:pPr>
            <a:r>
              <a:rPr lang="en-US" sz="1400" b="1" spc="100" dirty="0">
                <a:solidFill>
                  <a:srgbClr val="FF655C"/>
                </a:solidFill>
                <a:latin typeface="Aptos"/>
              </a:rPr>
              <a:t>03</a:t>
            </a:r>
          </a:p>
          <a:p>
            <a:r>
              <a:rPr lang="en-US" sz="2000" b="1" dirty="0">
                <a:solidFill>
                  <a:srgbClr val="FFFFFF"/>
                </a:solidFill>
                <a:latin typeface="Aptos"/>
              </a:rPr>
              <a:t>result collection</a:t>
            </a:r>
          </a:p>
        </p:txBody>
      </p:sp>
      <p:sp>
        <p:nvSpPr>
          <p:cNvPr id="11" name="Rounded Rectangle 10"/>
          <p:cNvSpPr/>
          <p:nvPr/>
        </p:nvSpPr>
        <p:spPr>
          <a:xfrm>
            <a:off x="6235700" y="3743960"/>
            <a:ext cx="5361940" cy="1280160"/>
          </a:xfrm>
          <a:prstGeom prst="roundRect">
            <a:avLst>
              <a:gd name="adj" fmla="val 9000"/>
            </a:avLst>
          </a:prstGeom>
          <a:gradFill rotWithShape="1">
            <a:gsLst>
              <a:gs pos="0">
                <a:srgbClr val="B794F6">
                  <a:alpha val="22000"/>
                </a:srgbClr>
              </a:gs>
              <a:gs pos="55000">
                <a:srgbClr val="222329"/>
              </a:gs>
              <a:gs pos="100000">
                <a:srgbClr val="222329"/>
              </a:gs>
            </a:gsLst>
            <a:lin ang="0" scaled="1"/>
          </a:gradFill>
          <a:ln w="15875">
            <a:solidFill>
              <a:srgbClr val="B794F6">
                <a:alpha val="45000"/>
              </a:srgbClr>
            </a:solidFill>
          </a:ln>
          <a:effectLst/>
        </p:spPr>
        <p:txBody>
          <a:bodyPr rtlCol="0" anchor="ctr"/>
          <a:lstStyle/>
          <a:p>
            <a:pPr algn="ctr"/>
            <a:endParaRPr/>
          </a:p>
        </p:txBody>
      </p:sp>
      <p:sp>
        <p:nvSpPr>
          <p:cNvPr id="63" name="Icon Disc 4"/>
          <p:cNvSpPr/>
          <p:nvPr/>
        </p:nvSpPr>
        <p:spPr>
          <a:xfrm>
            <a:off x="6515100" y="4003040"/>
            <a:ext cx="762000" cy="762000"/>
          </a:xfrm>
          <a:prstGeom prst="ellipse">
            <a:avLst/>
          </a:prstGeom>
          <a:solidFill>
            <a:srgbClr val="B794F6">
              <a:alpha val="20000"/>
            </a:srgbClr>
          </a:solidFill>
          <a:ln w="12700">
            <a:solidFill>
              <a:srgbClr val="B794F6">
                <a:alpha val="70000"/>
              </a:srgbClr>
            </a:solidFill>
          </a:ln>
        </p:spPr>
        <p:txBody>
          <a:bodyPr/>
          <a:lstStyle/>
          <a:p>
            <a:endParaRPr lang="en-US"/>
          </a:p>
        </p:txBody>
      </p:sp>
      <p:sp>
        <p:nvSpPr>
          <p:cNvPr id="12" name="TextBox 11"/>
          <p:cNvSpPr txBox="1"/>
          <p:nvPr/>
        </p:nvSpPr>
        <p:spPr>
          <a:xfrm>
            <a:off x="7505700" y="3896360"/>
            <a:ext cx="3812540" cy="975360"/>
          </a:xfrm>
          <a:prstGeom prst="rect">
            <a:avLst/>
          </a:prstGeom>
          <a:noFill/>
        </p:spPr>
        <p:txBody>
          <a:bodyPr wrap="square" lIns="0" tIns="0" bIns="0" anchor="ctr">
            <a:spAutoFit/>
          </a:bodyPr>
          <a:lstStyle/>
          <a:p>
            <a:pPr>
              <a:spcAft>
                <a:spcPts val="200"/>
              </a:spcAft>
            </a:pPr>
            <a:r>
              <a:rPr lang="en-US" sz="1400" b="1" spc="100" dirty="0">
                <a:solidFill>
                  <a:srgbClr val="B794F6"/>
                </a:solidFill>
                <a:latin typeface="Aptos"/>
              </a:rPr>
              <a:t>04</a:t>
            </a:r>
          </a:p>
          <a:p>
            <a:r>
              <a:rPr lang="en-US" sz="2000" b="1" dirty="0">
                <a:solidFill>
                  <a:srgbClr val="FFFFFF"/>
                </a:solidFill>
                <a:latin typeface="Aptos"/>
              </a:rPr>
              <a:t>chart/report generation code</a:t>
            </a:r>
          </a:p>
        </p:txBody>
      </p:sp>
      <p:sp>
        <p:nvSpPr>
          <p:cNvPr id="13" name="Rounded Rectangle 12"/>
          <p:cNvSpPr/>
          <p:nvPr/>
        </p:nvSpPr>
        <p:spPr>
          <a:xfrm>
            <a:off x="594360" y="5354320"/>
            <a:ext cx="11003280" cy="685800"/>
          </a:xfrm>
          <a:prstGeom prst="roundRect">
            <a:avLst/>
          </a:prstGeom>
          <a:solidFill>
            <a:srgbClr val="222329"/>
          </a:solidFill>
          <a:ln w="25400">
            <a:gradFill>
              <a:gsLst>
                <a:gs pos="0">
                  <a:srgbClr val="00C2D6"/>
                </a:gs>
                <a:gs pos="50000">
                  <a:srgbClr val="F7C548"/>
                </a:gs>
                <a:gs pos="100000">
                  <a:srgbClr val="FF655C"/>
                </a:gs>
              </a:gsLst>
              <a:lin ang="0" scaled="1"/>
            </a:gradFill>
          </a:ln>
          <a:effectLst/>
        </p:spPr>
        <p:txBody>
          <a:bodyPr rtlCol="0" anchor="ctr"/>
          <a:lstStyle/>
          <a:p>
            <a:pPr algn="ctr"/>
            <a:endParaRPr/>
          </a:p>
        </p:txBody>
      </p:sp>
      <p:sp>
        <p:nvSpPr>
          <p:cNvPr id="14" name="TextBox 13"/>
          <p:cNvSpPr txBox="1"/>
          <p:nvPr/>
        </p:nvSpPr>
        <p:spPr>
          <a:xfrm>
            <a:off x="1356360" y="5354320"/>
            <a:ext cx="9987280" cy="685800"/>
          </a:xfrm>
          <a:prstGeom prst="rect">
            <a:avLst/>
          </a:prstGeom>
          <a:noFill/>
        </p:spPr>
        <p:txBody>
          <a:bodyPr wrap="square" lIns="0" anchor="ctr">
            <a:spAutoFit/>
          </a:bodyPr>
          <a:lstStyle/>
          <a:p>
            <a:pPr algn="l">
              <a:defRPr sz="1600" b="0">
                <a:solidFill>
                  <a:srgbClr val="00C2D6"/>
                </a:solidFill>
                <a:latin typeface="DejaVu Sans Mono"/>
              </a:defRPr>
            </a:pPr>
            <a:r>
              <a:t>github.com/secp256k1-sha256/talks_and_blogs/tree/main/dishonest_benchmark</a:t>
            </a:r>
          </a:p>
        </p:txBody>
      </p:sp>
      <p:sp>
        <p:nvSpPr>
          <p:cNvPr id="15" name="TextBox 14"/>
          <p:cNvSpPr txBox="1"/>
          <p:nvPr/>
        </p:nvSpPr>
        <p:spPr>
          <a:xfrm>
            <a:off x="502920" y="6510528"/>
            <a:ext cx="2377440" cy="164592"/>
          </a:xfrm>
          <a:prstGeom prst="rect">
            <a:avLst/>
          </a:prstGeom>
          <a:noFill/>
        </p:spPr>
        <p:txBody>
          <a:bodyPr wrap="square" anchor="t">
            <a:spAutoFit/>
          </a:bodyPr>
          <a:lstStyle/>
          <a:p>
            <a:pPr algn="l">
              <a:defRPr sz="750" b="1">
                <a:solidFill>
                  <a:srgbClr val="AAAAAA"/>
                </a:solidFill>
                <a:latin typeface="Aptos"/>
              </a:defRPr>
            </a:pPr>
            <a:r>
              <a:t>MY DISHONEST BENCHMARK</a:t>
            </a:r>
          </a:p>
        </p:txBody>
      </p:sp>
      <p:sp>
        <p:nvSpPr>
          <p:cNvPr id="16" name="TextBox 15"/>
          <p:cNvSpPr txBox="1"/>
          <p:nvPr/>
        </p:nvSpPr>
        <p:spPr>
          <a:xfrm>
            <a:off x="11155680" y="6473952"/>
            <a:ext cx="502920" cy="182880"/>
          </a:xfrm>
          <a:prstGeom prst="rect">
            <a:avLst/>
          </a:prstGeom>
          <a:noFill/>
        </p:spPr>
        <p:txBody>
          <a:bodyPr wrap="square" anchor="t">
            <a:spAutoFit/>
          </a:bodyPr>
          <a:lstStyle/>
          <a:p>
            <a:pPr algn="r">
              <a:defRPr sz="800" b="1">
                <a:solidFill>
                  <a:srgbClr val="AAAAAA"/>
                </a:solidFill>
                <a:latin typeface="Aptos"/>
              </a:defRPr>
            </a:pPr>
            <a:r>
              <a:t>11</a:t>
            </a:r>
          </a:p>
        </p:txBody>
      </p:sp>
      <p:pic>
        <p:nvPicPr>
          <p:cNvPr id="64" name="Graphic 64" descr="Database"/>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1560" y="2621280"/>
            <a:ext cx="406400" cy="406400"/>
          </a:xfrm>
          <a:prstGeom prst="rect">
            <a:avLst/>
          </a:prstGeom>
        </p:spPr>
      </p:pic>
      <p:pic>
        <p:nvPicPr>
          <p:cNvPr id="65" name="Graphic 65" descr="Reset"/>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92900" y="2621280"/>
            <a:ext cx="406400" cy="406400"/>
          </a:xfrm>
          <a:prstGeom prst="rect">
            <a:avLst/>
          </a:prstGeom>
        </p:spPr>
      </p:pic>
      <p:pic>
        <p:nvPicPr>
          <p:cNvPr id="66" name="Graphic 66" descr="Result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51560" y="4180840"/>
            <a:ext cx="406400" cy="406400"/>
          </a:xfrm>
          <a:prstGeom prst="rect">
            <a:avLst/>
          </a:prstGeom>
        </p:spPr>
      </p:pic>
      <p:pic>
        <p:nvPicPr>
          <p:cNvPr id="67" name="Graphic 67" descr="Charts"/>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92900" y="4180840"/>
            <a:ext cx="406400" cy="406400"/>
          </a:xfrm>
          <a:prstGeom prst="rect">
            <a:avLst/>
          </a:prstGeom>
        </p:spPr>
      </p:pic>
      <p:pic>
        <p:nvPicPr>
          <p:cNvPr id="68" name="Graphic 68" descr="Link"/>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3760" y="5544820"/>
            <a:ext cx="304800" cy="304800"/>
          </a:xfrm>
          <a:prstGeom prst="rect">
            <a:avLst/>
          </a:prstGeom>
        </p:spPr>
      </p:pic>
    </p:spTree>
    <p:extLst>
      <p:ext uri="{BB962C8B-B14F-4D97-AF65-F5344CB8AC3E}">
        <p14:creationId xmlns:p14="http://schemas.microsoft.com/office/powerpoint/2010/main" val="26709018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4" name="TextBox 3"/>
          <p:cNvSpPr txBox="1"/>
          <p:nvPr/>
        </p:nvSpPr>
        <p:spPr>
          <a:xfrm>
            <a:off x="749808" y="1600200"/>
            <a:ext cx="10607040" cy="2926080"/>
          </a:xfrm>
          <a:prstGeom prst="rect">
            <a:avLst/>
          </a:prstGeom>
          <a:noFill/>
        </p:spPr>
        <p:txBody>
          <a:bodyPr wrap="square" anchor="ctr">
            <a:spAutoFit/>
          </a:bodyPr>
          <a:lstStyle/>
          <a:p>
            <a:pPr algn="l">
              <a:defRPr sz="4200" b="1">
                <a:solidFill>
                  <a:srgbClr val="FFFFFF"/>
                </a:solidFill>
                <a:latin typeface="Aptos Display"/>
              </a:defRPr>
            </a:pPr>
            <a:r>
              <a:t>Tiny TPC-C-flavoured accounting.</a:t>
            </a:r>
          </a:p>
        </p:txBody>
      </p:sp>
      <p:sp>
        <p:nvSpPr>
          <p:cNvPr id="5" name="TextBox 4"/>
          <p:cNvSpPr txBox="1"/>
          <p:nvPr/>
        </p:nvSpPr>
        <p:spPr>
          <a:xfrm>
            <a:off x="777240" y="4892040"/>
            <a:ext cx="10058400" cy="369332"/>
          </a:xfrm>
          <a:prstGeom prst="rect">
            <a:avLst/>
          </a:prstGeom>
          <a:noFill/>
        </p:spPr>
        <p:txBody>
          <a:bodyPr wrap="square" anchor="t">
            <a:spAutoFit/>
          </a:bodyPr>
          <a:lstStyle/>
          <a:p>
            <a:pPr algn="l">
              <a:defRPr sz="1800" b="0">
                <a:solidFill>
                  <a:srgbClr val="BEBEBE"/>
                </a:solidFill>
                <a:latin typeface="Aptos"/>
              </a:defRPr>
            </a:pPr>
            <a:r>
              <a:rPr dirty="0"/>
              <a:t>Not TPC-C. Not compliant. Just OLTP-shaped enough to feel familiar.</a:t>
            </a:r>
          </a:p>
        </p:txBody>
      </p:sp>
      <p:sp>
        <p:nvSpPr>
          <p:cNvPr id="6" name="TextBox 5"/>
          <p:cNvSpPr txBox="1"/>
          <p:nvPr/>
        </p:nvSpPr>
        <p:spPr>
          <a:xfrm>
            <a:off x="502920" y="6510528"/>
            <a:ext cx="2377440" cy="164592"/>
          </a:xfrm>
          <a:prstGeom prst="rect">
            <a:avLst/>
          </a:prstGeom>
          <a:noFill/>
        </p:spPr>
        <p:txBody>
          <a:bodyPr wrap="square" anchor="t">
            <a:spAutoFit/>
          </a:bodyPr>
          <a:lstStyle/>
          <a:p>
            <a:pPr algn="l">
              <a:defRPr sz="750" b="1">
                <a:solidFill>
                  <a:srgbClr val="AAAAAA"/>
                </a:solidFill>
                <a:latin typeface="Aptos"/>
              </a:defRPr>
            </a:pPr>
            <a:r>
              <a:t>MY DISHONEST BENCHMARK</a:t>
            </a:r>
          </a:p>
        </p:txBody>
      </p:sp>
      <p:sp>
        <p:nvSpPr>
          <p:cNvPr id="7" name="TextBox 6"/>
          <p:cNvSpPr txBox="1"/>
          <p:nvPr/>
        </p:nvSpPr>
        <p:spPr>
          <a:xfrm>
            <a:off x="11155680" y="6473952"/>
            <a:ext cx="502920" cy="182880"/>
          </a:xfrm>
          <a:prstGeom prst="rect">
            <a:avLst/>
          </a:prstGeom>
          <a:noFill/>
        </p:spPr>
        <p:txBody>
          <a:bodyPr wrap="square" anchor="t">
            <a:spAutoFit/>
          </a:bodyPr>
          <a:lstStyle/>
          <a:p>
            <a:pPr algn="r">
              <a:defRPr sz="800" b="1">
                <a:solidFill>
                  <a:srgbClr val="AAAAAA"/>
                </a:solidFill>
                <a:latin typeface="Aptos"/>
              </a:defRPr>
            </a:pPr>
            <a:r>
              <a:t>12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11" name="Tag"/>
          <p:cNvSpPr txBox="1"/>
          <p:nvPr/>
        </p:nvSpPr>
        <p:spPr>
          <a:xfrm>
            <a:off x="498347" y="594359"/>
            <a:ext cx="3200400" cy="460717"/>
          </a:xfrm>
          <a:prstGeom prst="roundRect">
            <a:avLst/>
          </a:prstGeom>
          <a:solidFill>
            <a:srgbClr val="FF655C"/>
          </a:solidFill>
          <a:ln>
            <a:noFill/>
          </a:ln>
        </p:spPr>
        <p:txBody>
          <a:bodyPr wrap="none" lIns="0" tIns="0" rIns="0" bIns="0" anchor="ctr">
            <a:noAutofit/>
          </a:bodyPr>
          <a:lstStyle/>
          <a:p>
            <a:pPr algn="ctr"/>
            <a:r>
              <a:rPr lang="en-US" sz="3200" b="1" dirty="0">
                <a:solidFill>
                  <a:srgbClr val="17181C"/>
                </a:solidFill>
                <a:latin typeface="Aptos"/>
              </a:rPr>
              <a:t>SCHEMA.SQL</a:t>
            </a:r>
          </a:p>
        </p:txBody>
      </p:sp>
      <p:sp>
        <p:nvSpPr>
          <p:cNvPr id="12" name="Subtitle"/>
          <p:cNvSpPr txBox="1"/>
          <p:nvPr/>
        </p:nvSpPr>
        <p:spPr>
          <a:xfrm>
            <a:off x="498347" y="1188720"/>
            <a:ext cx="11195306" cy="548640"/>
          </a:xfrm>
          <a:prstGeom prst="rect">
            <a:avLst/>
          </a:prstGeom>
          <a:noFill/>
        </p:spPr>
        <p:txBody>
          <a:bodyPr wrap="square" lIns="0" tIns="0" rIns="0" bIns="0" rtlCol="0" anchor="ctr">
            <a:noAutofit/>
          </a:bodyPr>
          <a:lstStyle/>
          <a:p>
            <a:pPr algn="l"/>
            <a:r>
              <a:rPr lang="en-US" sz="2800" b="1" dirty="0">
                <a:solidFill>
                  <a:srgbClr val="FFFFFF"/>
                </a:solidFill>
                <a:latin typeface="Aptos Display"/>
              </a:rPr>
              <a:t>Four tables, seeded with 100 branches and 1M accounts</a:t>
            </a:r>
          </a:p>
        </p:txBody>
      </p:sp>
      <p:sp>
        <p:nvSpPr>
          <p:cNvPr id="13" name="Code card 1"/>
          <p:cNvSpPr/>
          <p:nvPr/>
        </p:nvSpPr>
        <p:spPr>
          <a:xfrm>
            <a:off x="498347" y="1965960"/>
            <a:ext cx="3609848" cy="4114800"/>
          </a:xfrm>
          <a:prstGeom prst="roundRect">
            <a:avLst>
              <a:gd name="adj" fmla="val 4000"/>
            </a:avLst>
          </a:prstGeom>
          <a:solidFill>
            <a:srgbClr val="202127"/>
          </a:solidFill>
          <a:ln w="12700">
            <a:solidFill>
              <a:srgbClr val="3A3C45"/>
            </a:solidFill>
          </a:ln>
        </p:spPr>
        <p:txBody>
          <a:bodyPr/>
          <a:lstStyle/>
          <a:p>
            <a:endParaRPr lang="en-US"/>
          </a:p>
        </p:txBody>
      </p:sp>
      <p:sp>
        <p:nvSpPr>
          <p:cNvPr id="14" name="Card bar 1"/>
          <p:cNvSpPr/>
          <p:nvPr/>
        </p:nvSpPr>
        <p:spPr>
          <a:xfrm>
            <a:off x="676147" y="2194560"/>
            <a:ext cx="548640" cy="54864"/>
          </a:xfrm>
          <a:prstGeom prst="roundRect">
            <a:avLst>
              <a:gd name="adj" fmla="val 50000"/>
            </a:avLst>
          </a:prstGeom>
          <a:solidFill>
            <a:srgbClr val="00C2D6"/>
          </a:solidFill>
          <a:ln>
            <a:noFill/>
          </a:ln>
        </p:spPr>
        <p:txBody>
          <a:bodyPr/>
          <a:lstStyle/>
          <a:p>
            <a:endParaRPr lang="en-US"/>
          </a:p>
        </p:txBody>
      </p:sp>
      <p:sp>
        <p:nvSpPr>
          <p:cNvPr id="15" name="Card label 1"/>
          <p:cNvSpPr txBox="1"/>
          <p:nvPr/>
        </p:nvSpPr>
        <p:spPr>
          <a:xfrm>
            <a:off x="676147" y="2331720"/>
            <a:ext cx="3254248" cy="274320"/>
          </a:xfrm>
          <a:prstGeom prst="rect">
            <a:avLst/>
          </a:prstGeom>
          <a:noFill/>
        </p:spPr>
        <p:txBody>
          <a:bodyPr wrap="square" lIns="0" tIns="0" rIns="0" bIns="0" rtlCol="0" anchor="t">
            <a:noAutofit/>
          </a:bodyPr>
          <a:lstStyle/>
          <a:p>
            <a:pPr algn="l"/>
            <a:r>
              <a:rPr lang="en-US" sz="1400" b="1" spc="50" dirty="0">
                <a:solidFill>
                  <a:srgbClr val="FFFFFF"/>
                </a:solidFill>
                <a:latin typeface="Aptos"/>
              </a:rPr>
              <a:t>CORE TABLES</a:t>
            </a:r>
          </a:p>
        </p:txBody>
      </p:sp>
      <p:sp>
        <p:nvSpPr>
          <p:cNvPr id="16" name="Code 1"/>
          <p:cNvSpPr txBox="1"/>
          <p:nvPr/>
        </p:nvSpPr>
        <p:spPr>
          <a:xfrm>
            <a:off x="676147" y="2743200"/>
            <a:ext cx="3254248" cy="3154680"/>
          </a:xfrm>
          <a:prstGeom prst="rect">
            <a:avLst/>
          </a:prstGeom>
          <a:noFill/>
        </p:spPr>
        <p:txBody>
          <a:bodyPr wrap="square" lIns="0" tIns="0" rIns="0" bIns="0" rtlCol="0" anchor="t">
            <a:noAutofit/>
          </a:bodyPr>
          <a:lstStyle/>
          <a:p>
            <a:pPr>
              <a:lnSpc>
                <a:spcPct val="118000"/>
              </a:lnSpc>
            </a:pPr>
            <a:r>
              <a:rPr lang="en-US" sz="1100" b="1" dirty="0">
                <a:solidFill>
                  <a:srgbClr val="00C2D6"/>
                </a:solidFill>
                <a:latin typeface="Consolas"/>
                <a:cs typeface="Consolas"/>
              </a:rPr>
              <a:t>CREATE TABLE </a:t>
            </a:r>
            <a:r>
              <a:rPr lang="en-US" sz="1100" dirty="0">
                <a:solidFill>
                  <a:srgbClr val="FFFFFF"/>
                </a:solidFill>
                <a:latin typeface="Consolas"/>
                <a:cs typeface="Consolas"/>
              </a:rPr>
              <a:t>bench_branches </a:t>
            </a:r>
            <a:r>
              <a:rPr lang="en-US" sz="1100" dirty="0">
                <a:solidFill>
                  <a:srgbClr val="7E8391"/>
                </a:solidFill>
                <a:latin typeface="Consolas"/>
                <a:cs typeface="Consolas"/>
              </a:rPr>
              <a:t>(</a:t>
            </a:r>
          </a:p>
          <a:p>
            <a:pPr>
              <a:lnSpc>
                <a:spcPct val="118000"/>
              </a:lnSpc>
            </a:pPr>
            <a:r>
              <a:rPr lang="en-US" sz="1100" dirty="0">
                <a:solidFill>
                  <a:srgbClr val="C9CCD6"/>
                </a:solidFill>
                <a:latin typeface="Consolas"/>
                <a:cs typeface="Consolas"/>
              </a:rPr>
              <a:t>  branch_id </a:t>
            </a:r>
            <a:r>
              <a:rPr lang="en-US" sz="1100" dirty="0">
                <a:solidFill>
                  <a:srgbClr val="FF9F43"/>
                </a:solidFill>
                <a:latin typeface="Consolas"/>
                <a:cs typeface="Consolas"/>
              </a:rPr>
              <a:t>int </a:t>
            </a:r>
            <a:r>
              <a:rPr lang="en-US" sz="1100" b="1" dirty="0">
                <a:solidFill>
                  <a:srgbClr val="00C2D6"/>
                </a:solidFill>
                <a:latin typeface="Consolas"/>
                <a:cs typeface="Consolas"/>
              </a:rPr>
              <a:t>PRIMARY KEY</a:t>
            </a:r>
            <a:r>
              <a:rPr lang="en-US" sz="1100" dirty="0">
                <a:solidFill>
                  <a:srgbClr val="7E8391"/>
                </a:solidFill>
                <a:latin typeface="Consolas"/>
                <a:cs typeface="Consolas"/>
              </a:rPr>
              <a:t>,</a:t>
            </a:r>
          </a:p>
          <a:p>
            <a:pPr>
              <a:lnSpc>
                <a:spcPct val="118000"/>
              </a:lnSpc>
            </a:pPr>
            <a:r>
              <a:rPr lang="en-US" sz="1100" dirty="0">
                <a:solidFill>
                  <a:srgbClr val="C9CCD6"/>
                </a:solidFill>
                <a:latin typeface="Consolas"/>
                <a:cs typeface="Consolas"/>
              </a:rPr>
              <a:t>  balance </a:t>
            </a:r>
            <a:r>
              <a:rPr lang="en-US" sz="1100" dirty="0">
                <a:solidFill>
                  <a:srgbClr val="FF9F43"/>
                </a:solidFill>
                <a:latin typeface="Consolas"/>
                <a:cs typeface="Consolas"/>
              </a:rPr>
              <a:t>bigint </a:t>
            </a:r>
            <a:r>
              <a:rPr lang="en-US" sz="1100" b="1" dirty="0">
                <a:solidFill>
                  <a:srgbClr val="00C2D6"/>
                </a:solidFill>
                <a:latin typeface="Consolas"/>
                <a:cs typeface="Consolas"/>
              </a:rPr>
              <a:t>NOT NULL DEFAULT </a:t>
            </a:r>
            <a:r>
              <a:rPr lang="en-US" sz="1100" dirty="0">
                <a:solidFill>
                  <a:srgbClr val="AEE057"/>
                </a:solidFill>
                <a:latin typeface="Consolas"/>
                <a:cs typeface="Consolas"/>
              </a:rPr>
              <a:t>0</a:t>
            </a:r>
          </a:p>
          <a:p>
            <a:pPr>
              <a:lnSpc>
                <a:spcPct val="118000"/>
              </a:lnSpc>
            </a:pPr>
            <a:r>
              <a:rPr lang="en-US" sz="1100" dirty="0">
                <a:solidFill>
                  <a:srgbClr val="7E8391"/>
                </a:solidFill>
                <a:latin typeface="Consolas"/>
                <a:cs typeface="Consolas"/>
              </a:rPr>
              <a:t>);</a:t>
            </a:r>
          </a:p>
          <a:p>
            <a:pPr>
              <a:lnSpc>
                <a:spcPct val="118000"/>
              </a:lnSpc>
            </a:pPr>
            <a:endParaRPr lang="en-US" sz="1100" dirty="0">
              <a:latin typeface="Consolas"/>
            </a:endParaRPr>
          </a:p>
          <a:p>
            <a:pPr>
              <a:lnSpc>
                <a:spcPct val="118000"/>
              </a:lnSpc>
            </a:pPr>
            <a:r>
              <a:rPr lang="en-US" sz="1100" b="1" dirty="0">
                <a:solidFill>
                  <a:srgbClr val="00C2D6"/>
                </a:solidFill>
                <a:latin typeface="Consolas"/>
                <a:cs typeface="Consolas"/>
              </a:rPr>
              <a:t>CREATE TABLE </a:t>
            </a:r>
            <a:r>
              <a:rPr lang="en-US" sz="1100" dirty="0">
                <a:solidFill>
                  <a:srgbClr val="FFFFFF"/>
                </a:solidFill>
                <a:latin typeface="Consolas"/>
                <a:cs typeface="Consolas"/>
              </a:rPr>
              <a:t>bench_accounts </a:t>
            </a:r>
            <a:r>
              <a:rPr lang="en-US" sz="1100" dirty="0">
                <a:solidFill>
                  <a:srgbClr val="7E8391"/>
                </a:solidFill>
                <a:latin typeface="Consolas"/>
                <a:cs typeface="Consolas"/>
              </a:rPr>
              <a:t>(</a:t>
            </a:r>
          </a:p>
          <a:p>
            <a:pPr>
              <a:lnSpc>
                <a:spcPct val="118000"/>
              </a:lnSpc>
            </a:pPr>
            <a:r>
              <a:rPr lang="en-US" sz="1100" dirty="0">
                <a:solidFill>
                  <a:srgbClr val="C9CCD6"/>
                </a:solidFill>
                <a:latin typeface="Consolas"/>
                <a:cs typeface="Consolas"/>
              </a:rPr>
              <a:t>  account_id </a:t>
            </a:r>
            <a:r>
              <a:rPr lang="en-US" sz="1100" dirty="0">
                <a:solidFill>
                  <a:srgbClr val="FF9F43"/>
                </a:solidFill>
                <a:latin typeface="Consolas"/>
                <a:cs typeface="Consolas"/>
              </a:rPr>
              <a:t>bigint </a:t>
            </a:r>
            <a:r>
              <a:rPr lang="en-US" sz="1100" b="1" dirty="0">
                <a:solidFill>
                  <a:srgbClr val="00C2D6"/>
                </a:solidFill>
                <a:latin typeface="Consolas"/>
                <a:cs typeface="Consolas"/>
              </a:rPr>
              <a:t>PRIMARY KEY</a:t>
            </a:r>
            <a:r>
              <a:rPr lang="en-US" sz="1100" dirty="0">
                <a:solidFill>
                  <a:srgbClr val="7E8391"/>
                </a:solidFill>
                <a:latin typeface="Consolas"/>
                <a:cs typeface="Consolas"/>
              </a:rPr>
              <a:t>,</a:t>
            </a:r>
          </a:p>
          <a:p>
            <a:pPr>
              <a:lnSpc>
                <a:spcPct val="118000"/>
              </a:lnSpc>
            </a:pPr>
            <a:r>
              <a:rPr lang="en-US" sz="1100" dirty="0">
                <a:solidFill>
                  <a:srgbClr val="C9CCD6"/>
                </a:solidFill>
                <a:latin typeface="Consolas"/>
                <a:cs typeface="Consolas"/>
              </a:rPr>
              <a:t>  branch_id </a:t>
            </a:r>
            <a:r>
              <a:rPr lang="en-US" sz="1100" dirty="0">
                <a:solidFill>
                  <a:srgbClr val="FF9F43"/>
                </a:solidFill>
                <a:latin typeface="Consolas"/>
                <a:cs typeface="Consolas"/>
              </a:rPr>
              <a:t>int </a:t>
            </a:r>
            <a:r>
              <a:rPr lang="en-US" sz="1100" b="1" dirty="0">
                <a:solidFill>
                  <a:srgbClr val="00C2D6"/>
                </a:solidFill>
                <a:latin typeface="Consolas"/>
                <a:cs typeface="Consolas"/>
              </a:rPr>
              <a:t>NOT NULL</a:t>
            </a:r>
          </a:p>
          <a:p>
            <a:pPr>
              <a:lnSpc>
                <a:spcPct val="118000"/>
              </a:lnSpc>
            </a:pPr>
            <a:r>
              <a:rPr lang="en-US" sz="1100" dirty="0">
                <a:solidFill>
                  <a:srgbClr val="C9CCD6"/>
                </a:solidFill>
                <a:latin typeface="Consolas"/>
                <a:cs typeface="Consolas"/>
              </a:rPr>
              <a:t>    </a:t>
            </a:r>
            <a:r>
              <a:rPr lang="en-US" sz="1100" b="1" dirty="0">
                <a:solidFill>
                  <a:srgbClr val="00C2D6"/>
                </a:solidFill>
                <a:latin typeface="Consolas"/>
                <a:cs typeface="Consolas"/>
              </a:rPr>
              <a:t>REFERENCES </a:t>
            </a:r>
            <a:r>
              <a:rPr lang="en-US" sz="1100" dirty="0">
                <a:solidFill>
                  <a:srgbClr val="FFFFFF"/>
                </a:solidFill>
                <a:latin typeface="Consolas"/>
                <a:cs typeface="Consolas"/>
              </a:rPr>
              <a:t>bench_branches</a:t>
            </a:r>
            <a:r>
              <a:rPr lang="en-US" sz="1100" dirty="0">
                <a:solidFill>
                  <a:srgbClr val="7E8391"/>
                </a:solidFill>
                <a:latin typeface="Consolas"/>
                <a:cs typeface="Consolas"/>
              </a:rPr>
              <a:t>(</a:t>
            </a:r>
            <a:r>
              <a:rPr lang="en-US" sz="1100" dirty="0">
                <a:solidFill>
                  <a:srgbClr val="C9CCD6"/>
                </a:solidFill>
                <a:latin typeface="Consolas"/>
                <a:cs typeface="Consolas"/>
              </a:rPr>
              <a:t>branch_id</a:t>
            </a:r>
            <a:r>
              <a:rPr lang="en-US" sz="1100" dirty="0">
                <a:solidFill>
                  <a:srgbClr val="7E8391"/>
                </a:solidFill>
                <a:latin typeface="Consolas"/>
                <a:cs typeface="Consolas"/>
              </a:rPr>
              <a:t>),</a:t>
            </a:r>
          </a:p>
          <a:p>
            <a:pPr>
              <a:lnSpc>
                <a:spcPct val="118000"/>
              </a:lnSpc>
            </a:pPr>
            <a:r>
              <a:rPr lang="en-US" sz="1100" dirty="0">
                <a:solidFill>
                  <a:srgbClr val="C9CCD6"/>
                </a:solidFill>
                <a:latin typeface="Consolas"/>
                <a:cs typeface="Consolas"/>
              </a:rPr>
              <a:t>  balance </a:t>
            </a:r>
            <a:r>
              <a:rPr lang="en-US" sz="1100" dirty="0">
                <a:solidFill>
                  <a:srgbClr val="FF9F43"/>
                </a:solidFill>
                <a:latin typeface="Consolas"/>
                <a:cs typeface="Consolas"/>
              </a:rPr>
              <a:t>bigint </a:t>
            </a:r>
            <a:r>
              <a:rPr lang="en-US" sz="1100" b="1" dirty="0">
                <a:solidFill>
                  <a:srgbClr val="00C2D6"/>
                </a:solidFill>
                <a:latin typeface="Consolas"/>
                <a:cs typeface="Consolas"/>
              </a:rPr>
              <a:t>NOT NULL DEFAULT </a:t>
            </a:r>
            <a:r>
              <a:rPr lang="en-US" sz="1100" dirty="0">
                <a:solidFill>
                  <a:srgbClr val="AEE057"/>
                </a:solidFill>
                <a:latin typeface="Consolas"/>
                <a:cs typeface="Consolas"/>
              </a:rPr>
              <a:t>0</a:t>
            </a:r>
          </a:p>
          <a:p>
            <a:pPr>
              <a:lnSpc>
                <a:spcPct val="118000"/>
              </a:lnSpc>
            </a:pPr>
            <a:r>
              <a:rPr lang="en-US" sz="1100" dirty="0">
                <a:solidFill>
                  <a:srgbClr val="7E8391"/>
                </a:solidFill>
                <a:latin typeface="Consolas"/>
                <a:cs typeface="Consolas"/>
              </a:rPr>
              <a:t>);</a:t>
            </a:r>
          </a:p>
        </p:txBody>
      </p:sp>
      <p:sp>
        <p:nvSpPr>
          <p:cNvPr id="17" name="Code card 2"/>
          <p:cNvSpPr/>
          <p:nvPr/>
        </p:nvSpPr>
        <p:spPr>
          <a:xfrm>
            <a:off x="4291075" y="1965960"/>
            <a:ext cx="3609848" cy="4114800"/>
          </a:xfrm>
          <a:prstGeom prst="roundRect">
            <a:avLst>
              <a:gd name="adj" fmla="val 4000"/>
            </a:avLst>
          </a:prstGeom>
          <a:solidFill>
            <a:srgbClr val="202127"/>
          </a:solidFill>
          <a:ln w="12700">
            <a:solidFill>
              <a:srgbClr val="3A3C45"/>
            </a:solidFill>
          </a:ln>
        </p:spPr>
        <p:txBody>
          <a:bodyPr/>
          <a:lstStyle/>
          <a:p>
            <a:endParaRPr lang="en-US"/>
          </a:p>
        </p:txBody>
      </p:sp>
      <p:sp>
        <p:nvSpPr>
          <p:cNvPr id="18" name="Card bar 2"/>
          <p:cNvSpPr/>
          <p:nvPr/>
        </p:nvSpPr>
        <p:spPr>
          <a:xfrm>
            <a:off x="4468875" y="2194560"/>
            <a:ext cx="548640" cy="54864"/>
          </a:xfrm>
          <a:prstGeom prst="roundRect">
            <a:avLst>
              <a:gd name="adj" fmla="val 50000"/>
            </a:avLst>
          </a:prstGeom>
          <a:solidFill>
            <a:srgbClr val="F7C548"/>
          </a:solidFill>
          <a:ln>
            <a:noFill/>
          </a:ln>
        </p:spPr>
        <p:txBody>
          <a:bodyPr/>
          <a:lstStyle/>
          <a:p>
            <a:endParaRPr lang="en-US"/>
          </a:p>
        </p:txBody>
      </p:sp>
      <p:sp>
        <p:nvSpPr>
          <p:cNvPr id="19" name="Card label 2"/>
          <p:cNvSpPr txBox="1"/>
          <p:nvPr/>
        </p:nvSpPr>
        <p:spPr>
          <a:xfrm>
            <a:off x="4468875" y="2331720"/>
            <a:ext cx="3254248" cy="274320"/>
          </a:xfrm>
          <a:prstGeom prst="rect">
            <a:avLst/>
          </a:prstGeom>
          <a:noFill/>
        </p:spPr>
        <p:txBody>
          <a:bodyPr wrap="square" lIns="0" tIns="0" rIns="0" bIns="0" rtlCol="0" anchor="t">
            <a:noAutofit/>
          </a:bodyPr>
          <a:lstStyle/>
          <a:p>
            <a:pPr algn="l"/>
            <a:r>
              <a:rPr lang="en-US" sz="1400" b="1" spc="50" dirty="0">
                <a:solidFill>
                  <a:srgbClr val="FFFFFF"/>
                </a:solidFill>
                <a:latin typeface="Aptos"/>
              </a:rPr>
              <a:t>LEDGER AND AUDIT TABLES</a:t>
            </a:r>
          </a:p>
        </p:txBody>
      </p:sp>
      <p:sp>
        <p:nvSpPr>
          <p:cNvPr id="20" name="Code 2"/>
          <p:cNvSpPr txBox="1"/>
          <p:nvPr/>
        </p:nvSpPr>
        <p:spPr>
          <a:xfrm>
            <a:off x="4468875" y="2743200"/>
            <a:ext cx="3254248" cy="3154680"/>
          </a:xfrm>
          <a:prstGeom prst="rect">
            <a:avLst/>
          </a:prstGeom>
          <a:noFill/>
        </p:spPr>
        <p:txBody>
          <a:bodyPr wrap="square" lIns="0" tIns="0" rIns="0" bIns="0" rtlCol="0" anchor="t">
            <a:noAutofit/>
          </a:bodyPr>
          <a:lstStyle/>
          <a:p>
            <a:pPr>
              <a:lnSpc>
                <a:spcPct val="118000"/>
              </a:lnSpc>
            </a:pPr>
            <a:r>
              <a:rPr lang="en-US" sz="1100" b="1" dirty="0">
                <a:solidFill>
                  <a:srgbClr val="00C2D6"/>
                </a:solidFill>
                <a:latin typeface="Consolas"/>
                <a:cs typeface="Consolas"/>
              </a:rPr>
              <a:t>CREATE TABLE </a:t>
            </a:r>
            <a:r>
              <a:rPr lang="en-US" sz="1100" dirty="0">
                <a:solidFill>
                  <a:srgbClr val="FFFFFF"/>
                </a:solidFill>
                <a:latin typeface="Consolas"/>
                <a:cs typeface="Consolas"/>
              </a:rPr>
              <a:t>bench_ledger </a:t>
            </a:r>
            <a:r>
              <a:rPr lang="en-US" sz="1100" dirty="0">
                <a:solidFill>
                  <a:srgbClr val="7E8391"/>
                </a:solidFill>
                <a:latin typeface="Consolas"/>
                <a:cs typeface="Consolas"/>
              </a:rPr>
              <a:t>(</a:t>
            </a:r>
          </a:p>
          <a:p>
            <a:pPr>
              <a:lnSpc>
                <a:spcPct val="118000"/>
              </a:lnSpc>
            </a:pPr>
            <a:r>
              <a:rPr lang="en-US" sz="1100" dirty="0">
                <a:solidFill>
                  <a:srgbClr val="C9CCD6"/>
                </a:solidFill>
                <a:latin typeface="Consolas"/>
                <a:cs typeface="Consolas"/>
              </a:rPr>
              <a:t>  ledger_id </a:t>
            </a:r>
            <a:r>
              <a:rPr lang="en-US" sz="1100" dirty="0">
                <a:solidFill>
                  <a:srgbClr val="FF9F43"/>
                </a:solidFill>
                <a:latin typeface="Consolas"/>
                <a:cs typeface="Consolas"/>
              </a:rPr>
              <a:t>bigserial </a:t>
            </a:r>
            <a:r>
              <a:rPr lang="en-US" sz="1100" b="1" dirty="0">
                <a:solidFill>
                  <a:srgbClr val="00C2D6"/>
                </a:solidFill>
                <a:latin typeface="Consolas"/>
                <a:cs typeface="Consolas"/>
              </a:rPr>
              <a:t>PRIMARY KEY</a:t>
            </a:r>
            <a:r>
              <a:rPr lang="en-US" sz="1100" dirty="0">
                <a:solidFill>
                  <a:srgbClr val="7E8391"/>
                </a:solidFill>
                <a:latin typeface="Consolas"/>
                <a:cs typeface="Consolas"/>
              </a:rPr>
              <a:t>,</a:t>
            </a:r>
          </a:p>
          <a:p>
            <a:pPr>
              <a:lnSpc>
                <a:spcPct val="118000"/>
              </a:lnSpc>
            </a:pPr>
            <a:r>
              <a:rPr lang="en-US" sz="1100" dirty="0">
                <a:solidFill>
                  <a:srgbClr val="C9CCD6"/>
                </a:solidFill>
                <a:latin typeface="Consolas"/>
                <a:cs typeface="Consolas"/>
              </a:rPr>
              <a:t>  account_id </a:t>
            </a:r>
            <a:r>
              <a:rPr lang="en-US" sz="1100" dirty="0">
                <a:solidFill>
                  <a:srgbClr val="FF9F43"/>
                </a:solidFill>
                <a:latin typeface="Consolas"/>
                <a:cs typeface="Consolas"/>
              </a:rPr>
              <a:t>bigint </a:t>
            </a:r>
            <a:r>
              <a:rPr lang="en-US" sz="1100" b="1" dirty="0">
                <a:solidFill>
                  <a:srgbClr val="00C2D6"/>
                </a:solidFill>
                <a:latin typeface="Consolas"/>
                <a:cs typeface="Consolas"/>
              </a:rPr>
              <a:t>NOT NULL</a:t>
            </a:r>
            <a:r>
              <a:rPr lang="en-US" sz="1100" dirty="0">
                <a:solidFill>
                  <a:srgbClr val="7E8391"/>
                </a:solidFill>
                <a:latin typeface="Consolas"/>
                <a:cs typeface="Consolas"/>
              </a:rPr>
              <a:t>,</a:t>
            </a:r>
          </a:p>
          <a:p>
            <a:pPr>
              <a:lnSpc>
                <a:spcPct val="118000"/>
              </a:lnSpc>
            </a:pPr>
            <a:r>
              <a:rPr lang="en-US" sz="1100" dirty="0">
                <a:solidFill>
                  <a:srgbClr val="C9CCD6"/>
                </a:solidFill>
                <a:latin typeface="Consolas"/>
                <a:cs typeface="Consolas"/>
              </a:rPr>
              <a:t>  branch_id </a:t>
            </a:r>
            <a:r>
              <a:rPr lang="en-US" sz="1100" dirty="0">
                <a:solidFill>
                  <a:srgbClr val="FF9F43"/>
                </a:solidFill>
                <a:latin typeface="Consolas"/>
                <a:cs typeface="Consolas"/>
              </a:rPr>
              <a:t>int </a:t>
            </a:r>
            <a:r>
              <a:rPr lang="en-US" sz="1100" b="1" dirty="0">
                <a:solidFill>
                  <a:srgbClr val="00C2D6"/>
                </a:solidFill>
                <a:latin typeface="Consolas"/>
                <a:cs typeface="Consolas"/>
              </a:rPr>
              <a:t>NOT NULL</a:t>
            </a:r>
            <a:r>
              <a:rPr lang="en-US" sz="1100" dirty="0">
                <a:solidFill>
                  <a:srgbClr val="7E8391"/>
                </a:solidFill>
                <a:latin typeface="Consolas"/>
                <a:cs typeface="Consolas"/>
              </a:rPr>
              <a:t>,</a:t>
            </a:r>
          </a:p>
          <a:p>
            <a:pPr>
              <a:lnSpc>
                <a:spcPct val="118000"/>
              </a:lnSpc>
            </a:pPr>
            <a:r>
              <a:rPr lang="en-US" sz="1100" dirty="0">
                <a:solidFill>
                  <a:srgbClr val="C9CCD6"/>
                </a:solidFill>
                <a:latin typeface="Consolas"/>
                <a:cs typeface="Consolas"/>
              </a:rPr>
              <a:t>  amount </a:t>
            </a:r>
            <a:r>
              <a:rPr lang="en-US" sz="1100" dirty="0">
                <a:solidFill>
                  <a:srgbClr val="FF9F43"/>
                </a:solidFill>
                <a:latin typeface="Consolas"/>
                <a:cs typeface="Consolas"/>
              </a:rPr>
              <a:t>int </a:t>
            </a:r>
            <a:r>
              <a:rPr lang="en-US" sz="1100" b="1" dirty="0">
                <a:solidFill>
                  <a:srgbClr val="00C2D6"/>
                </a:solidFill>
                <a:latin typeface="Consolas"/>
                <a:cs typeface="Consolas"/>
              </a:rPr>
              <a:t>NOT NULL</a:t>
            </a:r>
            <a:r>
              <a:rPr lang="en-US" sz="1100" dirty="0">
                <a:solidFill>
                  <a:srgbClr val="7E8391"/>
                </a:solidFill>
                <a:latin typeface="Consolas"/>
                <a:cs typeface="Consolas"/>
              </a:rPr>
              <a:t>,</a:t>
            </a:r>
          </a:p>
          <a:p>
            <a:pPr>
              <a:lnSpc>
                <a:spcPct val="118000"/>
              </a:lnSpc>
            </a:pPr>
            <a:r>
              <a:rPr lang="en-US" sz="1100" dirty="0">
                <a:solidFill>
                  <a:srgbClr val="C9CCD6"/>
                </a:solidFill>
                <a:latin typeface="Consolas"/>
                <a:cs typeface="Consolas"/>
              </a:rPr>
              <a:t>  created_at </a:t>
            </a:r>
            <a:r>
              <a:rPr lang="en-US" sz="1100" dirty="0">
                <a:solidFill>
                  <a:srgbClr val="FF9F43"/>
                </a:solidFill>
                <a:latin typeface="Consolas"/>
                <a:cs typeface="Consolas"/>
              </a:rPr>
              <a:t>timestamptz </a:t>
            </a:r>
            <a:r>
              <a:rPr lang="en-US" sz="1100" b="1" dirty="0">
                <a:solidFill>
                  <a:srgbClr val="00C2D6"/>
                </a:solidFill>
                <a:latin typeface="Consolas"/>
                <a:cs typeface="Consolas"/>
              </a:rPr>
              <a:t>NOT NULL</a:t>
            </a:r>
          </a:p>
          <a:p>
            <a:pPr>
              <a:lnSpc>
                <a:spcPct val="118000"/>
              </a:lnSpc>
            </a:pPr>
            <a:r>
              <a:rPr lang="en-US" sz="1100" dirty="0">
                <a:solidFill>
                  <a:srgbClr val="C9CCD6"/>
                </a:solidFill>
                <a:latin typeface="Consolas"/>
                <a:cs typeface="Consolas"/>
              </a:rPr>
              <a:t>    </a:t>
            </a:r>
            <a:r>
              <a:rPr lang="en-US" sz="1100" b="1" dirty="0">
                <a:solidFill>
                  <a:srgbClr val="00C2D6"/>
                </a:solidFill>
                <a:latin typeface="Consolas"/>
                <a:cs typeface="Consolas"/>
              </a:rPr>
              <a:t>DEFAULT </a:t>
            </a:r>
            <a:r>
              <a:rPr lang="en-US" sz="1100" dirty="0">
                <a:solidFill>
                  <a:srgbClr val="F7C548"/>
                </a:solidFill>
                <a:latin typeface="Consolas"/>
                <a:cs typeface="Consolas"/>
              </a:rPr>
              <a:t>clock_timestamp</a:t>
            </a:r>
            <a:r>
              <a:rPr lang="en-US" sz="1100" dirty="0">
                <a:solidFill>
                  <a:srgbClr val="7E8391"/>
                </a:solidFill>
                <a:latin typeface="Consolas"/>
                <a:cs typeface="Consolas"/>
              </a:rPr>
              <a:t>()</a:t>
            </a:r>
          </a:p>
          <a:p>
            <a:pPr>
              <a:lnSpc>
                <a:spcPct val="118000"/>
              </a:lnSpc>
            </a:pPr>
            <a:r>
              <a:rPr lang="en-US" sz="1100" dirty="0">
                <a:solidFill>
                  <a:srgbClr val="7E8391"/>
                </a:solidFill>
                <a:latin typeface="Consolas"/>
                <a:cs typeface="Consolas"/>
              </a:rPr>
              <a:t>);</a:t>
            </a:r>
          </a:p>
          <a:p>
            <a:pPr>
              <a:lnSpc>
                <a:spcPct val="118000"/>
              </a:lnSpc>
            </a:pPr>
            <a:endParaRPr lang="en-US" sz="1100" dirty="0">
              <a:latin typeface="Consolas"/>
            </a:endParaRPr>
          </a:p>
          <a:p>
            <a:pPr>
              <a:lnSpc>
                <a:spcPct val="118000"/>
              </a:lnSpc>
            </a:pPr>
            <a:r>
              <a:rPr lang="en-US" sz="1100" b="1" dirty="0">
                <a:solidFill>
                  <a:srgbClr val="00C2D6"/>
                </a:solidFill>
                <a:latin typeface="Consolas"/>
                <a:cs typeface="Consolas"/>
              </a:rPr>
              <a:t>CREATE TABLE </a:t>
            </a:r>
            <a:r>
              <a:rPr lang="en-US" sz="1100" dirty="0">
                <a:solidFill>
                  <a:srgbClr val="FFFFFF"/>
                </a:solidFill>
                <a:latin typeface="Consolas"/>
                <a:cs typeface="Consolas"/>
              </a:rPr>
              <a:t>bench_audit </a:t>
            </a:r>
            <a:r>
              <a:rPr lang="en-US" sz="1100" dirty="0">
                <a:solidFill>
                  <a:srgbClr val="7E8391"/>
                </a:solidFill>
                <a:latin typeface="Consolas"/>
                <a:cs typeface="Consolas"/>
              </a:rPr>
              <a:t>(</a:t>
            </a:r>
          </a:p>
          <a:p>
            <a:pPr>
              <a:lnSpc>
                <a:spcPct val="118000"/>
              </a:lnSpc>
            </a:pPr>
            <a:r>
              <a:rPr lang="en-US" sz="1100" dirty="0">
                <a:solidFill>
                  <a:srgbClr val="C9CCD6"/>
                </a:solidFill>
                <a:latin typeface="Consolas"/>
                <a:cs typeface="Consolas"/>
              </a:rPr>
              <a:t>  audit_id </a:t>
            </a:r>
            <a:r>
              <a:rPr lang="en-US" sz="1100" dirty="0">
                <a:solidFill>
                  <a:srgbClr val="FF9F43"/>
                </a:solidFill>
                <a:latin typeface="Consolas"/>
                <a:cs typeface="Consolas"/>
              </a:rPr>
              <a:t>bigserial </a:t>
            </a:r>
            <a:r>
              <a:rPr lang="en-US" sz="1100" b="1" dirty="0">
                <a:solidFill>
                  <a:srgbClr val="00C2D6"/>
                </a:solidFill>
                <a:latin typeface="Consolas"/>
                <a:cs typeface="Consolas"/>
              </a:rPr>
              <a:t>PRIMARY KEY</a:t>
            </a:r>
            <a:r>
              <a:rPr lang="en-US" sz="1100" dirty="0">
                <a:solidFill>
                  <a:srgbClr val="7E8391"/>
                </a:solidFill>
                <a:latin typeface="Consolas"/>
                <a:cs typeface="Consolas"/>
              </a:rPr>
              <a:t>,</a:t>
            </a:r>
          </a:p>
          <a:p>
            <a:pPr>
              <a:lnSpc>
                <a:spcPct val="118000"/>
              </a:lnSpc>
            </a:pPr>
            <a:r>
              <a:rPr lang="en-US" sz="1100" dirty="0">
                <a:solidFill>
                  <a:srgbClr val="C9CCD6"/>
                </a:solidFill>
                <a:latin typeface="Consolas"/>
                <a:cs typeface="Consolas"/>
              </a:rPr>
              <a:t>  account_id </a:t>
            </a:r>
            <a:r>
              <a:rPr lang="en-US" sz="1100" dirty="0">
                <a:solidFill>
                  <a:srgbClr val="FF9F43"/>
                </a:solidFill>
                <a:latin typeface="Consolas"/>
                <a:cs typeface="Consolas"/>
              </a:rPr>
              <a:t>bigint </a:t>
            </a:r>
            <a:r>
              <a:rPr lang="en-US" sz="1100" b="1" dirty="0">
                <a:solidFill>
                  <a:srgbClr val="00C2D6"/>
                </a:solidFill>
                <a:latin typeface="Consolas"/>
                <a:cs typeface="Consolas"/>
              </a:rPr>
              <a:t>NOT NULL</a:t>
            </a:r>
            <a:r>
              <a:rPr lang="en-US" sz="1100" dirty="0">
                <a:solidFill>
                  <a:srgbClr val="7E8391"/>
                </a:solidFill>
                <a:latin typeface="Consolas"/>
                <a:cs typeface="Consolas"/>
              </a:rPr>
              <a:t>,</a:t>
            </a:r>
          </a:p>
          <a:p>
            <a:pPr>
              <a:lnSpc>
                <a:spcPct val="118000"/>
              </a:lnSpc>
            </a:pPr>
            <a:r>
              <a:rPr lang="en-US" sz="1100" dirty="0">
                <a:solidFill>
                  <a:srgbClr val="C9CCD6"/>
                </a:solidFill>
                <a:latin typeface="Consolas"/>
                <a:cs typeface="Consolas"/>
              </a:rPr>
              <a:t>  action </a:t>
            </a:r>
            <a:r>
              <a:rPr lang="en-US" sz="1100" dirty="0">
                <a:solidFill>
                  <a:srgbClr val="FF9F43"/>
                </a:solidFill>
                <a:latin typeface="Consolas"/>
                <a:cs typeface="Consolas"/>
              </a:rPr>
              <a:t>text </a:t>
            </a:r>
            <a:r>
              <a:rPr lang="en-US" sz="1100" b="1" dirty="0">
                <a:solidFill>
                  <a:srgbClr val="00C2D6"/>
                </a:solidFill>
                <a:latin typeface="Consolas"/>
                <a:cs typeface="Consolas"/>
              </a:rPr>
              <a:t>NOT NULL</a:t>
            </a:r>
            <a:r>
              <a:rPr lang="en-US" sz="1100" dirty="0">
                <a:solidFill>
                  <a:srgbClr val="7E8391"/>
                </a:solidFill>
                <a:latin typeface="Consolas"/>
                <a:cs typeface="Consolas"/>
              </a:rPr>
              <a:t>,</a:t>
            </a:r>
          </a:p>
          <a:p>
            <a:pPr>
              <a:lnSpc>
                <a:spcPct val="118000"/>
              </a:lnSpc>
            </a:pPr>
            <a:r>
              <a:rPr lang="en-US" sz="1100" dirty="0">
                <a:solidFill>
                  <a:srgbClr val="C9CCD6"/>
                </a:solidFill>
                <a:latin typeface="Consolas"/>
                <a:cs typeface="Consolas"/>
              </a:rPr>
              <a:t>  created_at </a:t>
            </a:r>
            <a:r>
              <a:rPr lang="en-US" sz="1100" dirty="0">
                <a:solidFill>
                  <a:srgbClr val="FF9F43"/>
                </a:solidFill>
                <a:latin typeface="Consolas"/>
                <a:cs typeface="Consolas"/>
              </a:rPr>
              <a:t>timestamptz </a:t>
            </a:r>
            <a:r>
              <a:rPr lang="en-US" sz="1100" b="1" dirty="0">
                <a:solidFill>
                  <a:srgbClr val="00C2D6"/>
                </a:solidFill>
                <a:latin typeface="Consolas"/>
                <a:cs typeface="Consolas"/>
              </a:rPr>
              <a:t>NOT NULL</a:t>
            </a:r>
          </a:p>
          <a:p>
            <a:pPr>
              <a:lnSpc>
                <a:spcPct val="118000"/>
              </a:lnSpc>
            </a:pPr>
            <a:r>
              <a:rPr lang="en-US" sz="1100" dirty="0">
                <a:solidFill>
                  <a:srgbClr val="C9CCD6"/>
                </a:solidFill>
                <a:latin typeface="Consolas"/>
                <a:cs typeface="Consolas"/>
              </a:rPr>
              <a:t>    </a:t>
            </a:r>
            <a:r>
              <a:rPr lang="en-US" sz="1100" b="1" dirty="0">
                <a:solidFill>
                  <a:srgbClr val="00C2D6"/>
                </a:solidFill>
                <a:latin typeface="Consolas"/>
                <a:cs typeface="Consolas"/>
              </a:rPr>
              <a:t>DEFAULT </a:t>
            </a:r>
            <a:r>
              <a:rPr lang="en-US" sz="1100" dirty="0">
                <a:solidFill>
                  <a:srgbClr val="F7C548"/>
                </a:solidFill>
                <a:latin typeface="Consolas"/>
                <a:cs typeface="Consolas"/>
              </a:rPr>
              <a:t>clock_timestamp</a:t>
            </a:r>
            <a:r>
              <a:rPr lang="en-US" sz="1100" dirty="0">
                <a:solidFill>
                  <a:srgbClr val="7E8391"/>
                </a:solidFill>
                <a:latin typeface="Consolas"/>
                <a:cs typeface="Consolas"/>
              </a:rPr>
              <a:t>()</a:t>
            </a:r>
          </a:p>
          <a:p>
            <a:pPr>
              <a:lnSpc>
                <a:spcPct val="118000"/>
              </a:lnSpc>
            </a:pPr>
            <a:r>
              <a:rPr lang="en-US" sz="1100" dirty="0">
                <a:solidFill>
                  <a:srgbClr val="7E8391"/>
                </a:solidFill>
                <a:latin typeface="Consolas"/>
                <a:cs typeface="Consolas"/>
              </a:rPr>
              <a:t>);</a:t>
            </a:r>
          </a:p>
        </p:txBody>
      </p:sp>
      <p:sp>
        <p:nvSpPr>
          <p:cNvPr id="21" name="Code card 3"/>
          <p:cNvSpPr/>
          <p:nvPr/>
        </p:nvSpPr>
        <p:spPr>
          <a:xfrm>
            <a:off x="8083803" y="1965960"/>
            <a:ext cx="3609848" cy="4114800"/>
          </a:xfrm>
          <a:prstGeom prst="roundRect">
            <a:avLst>
              <a:gd name="adj" fmla="val 4000"/>
            </a:avLst>
          </a:prstGeom>
          <a:solidFill>
            <a:srgbClr val="202127"/>
          </a:solidFill>
          <a:ln w="12700">
            <a:solidFill>
              <a:srgbClr val="3A3C45"/>
            </a:solidFill>
          </a:ln>
        </p:spPr>
        <p:txBody>
          <a:bodyPr/>
          <a:lstStyle/>
          <a:p>
            <a:endParaRPr lang="en-US"/>
          </a:p>
        </p:txBody>
      </p:sp>
      <p:sp>
        <p:nvSpPr>
          <p:cNvPr id="22" name="Card bar 3"/>
          <p:cNvSpPr/>
          <p:nvPr/>
        </p:nvSpPr>
        <p:spPr>
          <a:xfrm>
            <a:off x="8261603" y="2194560"/>
            <a:ext cx="548640" cy="54864"/>
          </a:xfrm>
          <a:prstGeom prst="roundRect">
            <a:avLst>
              <a:gd name="adj" fmla="val 50000"/>
            </a:avLst>
          </a:prstGeom>
          <a:solidFill>
            <a:srgbClr val="AEE057"/>
          </a:solidFill>
          <a:ln>
            <a:noFill/>
          </a:ln>
        </p:spPr>
        <p:txBody>
          <a:bodyPr/>
          <a:lstStyle/>
          <a:p>
            <a:endParaRPr lang="en-US"/>
          </a:p>
        </p:txBody>
      </p:sp>
      <p:sp>
        <p:nvSpPr>
          <p:cNvPr id="23" name="Card label 3"/>
          <p:cNvSpPr txBox="1"/>
          <p:nvPr/>
        </p:nvSpPr>
        <p:spPr>
          <a:xfrm>
            <a:off x="8261603" y="2331720"/>
            <a:ext cx="3254248" cy="274320"/>
          </a:xfrm>
          <a:prstGeom prst="rect">
            <a:avLst/>
          </a:prstGeom>
          <a:noFill/>
        </p:spPr>
        <p:txBody>
          <a:bodyPr wrap="square" lIns="0" tIns="0" rIns="0" bIns="0" rtlCol="0" anchor="t">
            <a:noAutofit/>
          </a:bodyPr>
          <a:lstStyle/>
          <a:p>
            <a:pPr algn="l"/>
            <a:r>
              <a:rPr lang="en-US" sz="1400" b="1" spc="50" dirty="0">
                <a:solidFill>
                  <a:srgbClr val="FFFFFF"/>
                </a:solidFill>
                <a:latin typeface="Aptos"/>
              </a:rPr>
              <a:t>SEED DATA</a:t>
            </a:r>
          </a:p>
        </p:txBody>
      </p:sp>
      <p:sp>
        <p:nvSpPr>
          <p:cNvPr id="24" name="Code 3"/>
          <p:cNvSpPr txBox="1"/>
          <p:nvPr/>
        </p:nvSpPr>
        <p:spPr>
          <a:xfrm>
            <a:off x="8261603" y="2743200"/>
            <a:ext cx="3254248" cy="3154680"/>
          </a:xfrm>
          <a:prstGeom prst="rect">
            <a:avLst/>
          </a:prstGeom>
          <a:noFill/>
        </p:spPr>
        <p:txBody>
          <a:bodyPr wrap="square" lIns="0" tIns="0" rIns="0" bIns="0" rtlCol="0" anchor="t">
            <a:noAutofit/>
          </a:bodyPr>
          <a:lstStyle/>
          <a:p>
            <a:pPr>
              <a:lnSpc>
                <a:spcPct val="118000"/>
              </a:lnSpc>
            </a:pPr>
            <a:r>
              <a:rPr lang="en-US" sz="1100" b="1" dirty="0">
                <a:solidFill>
                  <a:srgbClr val="00C2D6"/>
                </a:solidFill>
                <a:latin typeface="Consolas"/>
                <a:cs typeface="Consolas"/>
              </a:rPr>
              <a:t>INSERT INTO </a:t>
            </a:r>
            <a:r>
              <a:rPr lang="en-US" sz="1100" dirty="0">
                <a:solidFill>
                  <a:srgbClr val="FFFFFF"/>
                </a:solidFill>
                <a:latin typeface="Consolas"/>
                <a:cs typeface="Consolas"/>
              </a:rPr>
              <a:t>bench_branches</a:t>
            </a:r>
            <a:r>
              <a:rPr lang="en-US" sz="1100" dirty="0">
                <a:solidFill>
                  <a:srgbClr val="7E8391"/>
                </a:solidFill>
                <a:latin typeface="Consolas"/>
                <a:cs typeface="Consolas"/>
              </a:rPr>
              <a:t>(</a:t>
            </a:r>
            <a:r>
              <a:rPr lang="en-US" sz="1100" dirty="0">
                <a:solidFill>
                  <a:srgbClr val="C9CCD6"/>
                </a:solidFill>
                <a:latin typeface="Consolas"/>
                <a:cs typeface="Consolas"/>
              </a:rPr>
              <a:t>branch_id</a:t>
            </a:r>
            <a:r>
              <a:rPr lang="en-US" sz="1100" dirty="0">
                <a:solidFill>
                  <a:srgbClr val="7E8391"/>
                </a:solidFill>
                <a:latin typeface="Consolas"/>
                <a:cs typeface="Consolas"/>
              </a:rPr>
              <a:t>)</a:t>
            </a:r>
          </a:p>
          <a:p>
            <a:pPr>
              <a:lnSpc>
                <a:spcPct val="118000"/>
              </a:lnSpc>
            </a:pPr>
            <a:r>
              <a:rPr lang="en-US" sz="1100" b="1" dirty="0">
                <a:solidFill>
                  <a:srgbClr val="00C2D6"/>
                </a:solidFill>
                <a:latin typeface="Consolas"/>
                <a:cs typeface="Consolas"/>
              </a:rPr>
              <a:t>SELECT </a:t>
            </a:r>
            <a:r>
              <a:rPr lang="en-US" sz="1100" dirty="0">
                <a:solidFill>
                  <a:srgbClr val="C9CCD6"/>
                </a:solidFill>
                <a:latin typeface="Consolas"/>
                <a:cs typeface="Consolas"/>
              </a:rPr>
              <a:t>g</a:t>
            </a:r>
          </a:p>
          <a:p>
            <a:pPr>
              <a:lnSpc>
                <a:spcPct val="118000"/>
              </a:lnSpc>
            </a:pPr>
            <a:r>
              <a:rPr lang="en-US" sz="1100" b="1" dirty="0">
                <a:solidFill>
                  <a:srgbClr val="00C2D6"/>
                </a:solidFill>
                <a:latin typeface="Consolas"/>
                <a:cs typeface="Consolas"/>
              </a:rPr>
              <a:t>FROM </a:t>
            </a:r>
            <a:r>
              <a:rPr lang="en-US" sz="1100" dirty="0">
                <a:solidFill>
                  <a:srgbClr val="F7C548"/>
                </a:solidFill>
                <a:latin typeface="Consolas"/>
                <a:cs typeface="Consolas"/>
              </a:rPr>
              <a:t>generate_series</a:t>
            </a:r>
            <a:r>
              <a:rPr lang="en-US" sz="1100" dirty="0">
                <a:solidFill>
                  <a:srgbClr val="7E8391"/>
                </a:solidFill>
                <a:latin typeface="Consolas"/>
                <a:cs typeface="Consolas"/>
              </a:rPr>
              <a:t>(</a:t>
            </a:r>
            <a:r>
              <a:rPr lang="en-US" sz="1100" dirty="0">
                <a:solidFill>
                  <a:srgbClr val="AEE057"/>
                </a:solidFill>
                <a:latin typeface="Consolas"/>
                <a:cs typeface="Consolas"/>
              </a:rPr>
              <a:t>1</a:t>
            </a:r>
            <a:r>
              <a:rPr lang="en-US" sz="1100" dirty="0">
                <a:solidFill>
                  <a:srgbClr val="7E8391"/>
                </a:solidFill>
                <a:latin typeface="Consolas"/>
                <a:cs typeface="Consolas"/>
              </a:rPr>
              <a:t>, </a:t>
            </a:r>
            <a:r>
              <a:rPr lang="en-US" sz="1100" dirty="0">
                <a:solidFill>
                  <a:srgbClr val="AEE057"/>
                </a:solidFill>
                <a:latin typeface="Consolas"/>
                <a:cs typeface="Consolas"/>
              </a:rPr>
              <a:t>100</a:t>
            </a:r>
            <a:r>
              <a:rPr lang="en-US" sz="1100" dirty="0">
                <a:solidFill>
                  <a:srgbClr val="7E8391"/>
                </a:solidFill>
                <a:latin typeface="Consolas"/>
                <a:cs typeface="Consolas"/>
              </a:rPr>
              <a:t>) </a:t>
            </a:r>
            <a:r>
              <a:rPr lang="en-US" sz="1100" b="1" dirty="0">
                <a:solidFill>
                  <a:srgbClr val="00C2D6"/>
                </a:solidFill>
                <a:latin typeface="Consolas"/>
                <a:cs typeface="Consolas"/>
              </a:rPr>
              <a:t>AS </a:t>
            </a:r>
            <a:r>
              <a:rPr lang="en-US" sz="1100" dirty="0">
                <a:solidFill>
                  <a:srgbClr val="C9CCD6"/>
                </a:solidFill>
                <a:latin typeface="Consolas"/>
                <a:cs typeface="Consolas"/>
              </a:rPr>
              <a:t>g</a:t>
            </a:r>
            <a:r>
              <a:rPr lang="en-US" sz="1100" dirty="0">
                <a:solidFill>
                  <a:srgbClr val="7E8391"/>
                </a:solidFill>
                <a:latin typeface="Consolas"/>
                <a:cs typeface="Consolas"/>
              </a:rPr>
              <a:t>;</a:t>
            </a:r>
          </a:p>
          <a:p>
            <a:pPr>
              <a:lnSpc>
                <a:spcPct val="118000"/>
              </a:lnSpc>
            </a:pPr>
            <a:endParaRPr lang="en-US" sz="1100" dirty="0">
              <a:latin typeface="Consolas"/>
            </a:endParaRPr>
          </a:p>
          <a:p>
            <a:pPr>
              <a:lnSpc>
                <a:spcPct val="118000"/>
              </a:lnSpc>
            </a:pPr>
            <a:r>
              <a:rPr lang="en-US" sz="1100" b="1" dirty="0">
                <a:solidFill>
                  <a:srgbClr val="00C2D6"/>
                </a:solidFill>
                <a:latin typeface="Consolas"/>
                <a:cs typeface="Consolas"/>
              </a:rPr>
              <a:t>INSERT INTO </a:t>
            </a:r>
            <a:r>
              <a:rPr lang="en-US" sz="1100" dirty="0">
                <a:solidFill>
                  <a:srgbClr val="FFFFFF"/>
                </a:solidFill>
                <a:latin typeface="Consolas"/>
                <a:cs typeface="Consolas"/>
              </a:rPr>
              <a:t>bench_accounts</a:t>
            </a:r>
          </a:p>
          <a:p>
            <a:pPr>
              <a:lnSpc>
                <a:spcPct val="118000"/>
              </a:lnSpc>
            </a:pPr>
            <a:r>
              <a:rPr lang="en-US" sz="1100" dirty="0">
                <a:solidFill>
                  <a:srgbClr val="C9CCD6"/>
                </a:solidFill>
                <a:latin typeface="Consolas"/>
                <a:cs typeface="Consolas"/>
              </a:rPr>
              <a:t>  </a:t>
            </a:r>
            <a:r>
              <a:rPr lang="en-US" sz="1100" dirty="0">
                <a:solidFill>
                  <a:srgbClr val="7E8391"/>
                </a:solidFill>
                <a:latin typeface="Consolas"/>
                <a:cs typeface="Consolas"/>
              </a:rPr>
              <a:t>(</a:t>
            </a:r>
            <a:r>
              <a:rPr lang="en-US" sz="1100" dirty="0">
                <a:solidFill>
                  <a:srgbClr val="C9CCD6"/>
                </a:solidFill>
                <a:latin typeface="Consolas"/>
                <a:cs typeface="Consolas"/>
              </a:rPr>
              <a:t>account_id</a:t>
            </a:r>
            <a:r>
              <a:rPr lang="en-US" sz="1100" dirty="0">
                <a:solidFill>
                  <a:srgbClr val="7E8391"/>
                </a:solidFill>
                <a:latin typeface="Consolas"/>
                <a:cs typeface="Consolas"/>
              </a:rPr>
              <a:t>, </a:t>
            </a:r>
            <a:r>
              <a:rPr lang="en-US" sz="1100" dirty="0">
                <a:solidFill>
                  <a:srgbClr val="C9CCD6"/>
                </a:solidFill>
                <a:latin typeface="Consolas"/>
                <a:cs typeface="Consolas"/>
              </a:rPr>
              <a:t>branch_id</a:t>
            </a:r>
            <a:r>
              <a:rPr lang="en-US" sz="1100" dirty="0">
                <a:solidFill>
                  <a:srgbClr val="7E8391"/>
                </a:solidFill>
                <a:latin typeface="Consolas"/>
                <a:cs typeface="Consolas"/>
              </a:rPr>
              <a:t>, </a:t>
            </a:r>
            <a:r>
              <a:rPr lang="en-US" sz="1100" dirty="0">
                <a:solidFill>
                  <a:srgbClr val="C9CCD6"/>
                </a:solidFill>
                <a:latin typeface="Consolas"/>
                <a:cs typeface="Consolas"/>
              </a:rPr>
              <a:t>balance</a:t>
            </a:r>
            <a:r>
              <a:rPr lang="en-US" sz="1100" dirty="0">
                <a:solidFill>
                  <a:srgbClr val="7E8391"/>
                </a:solidFill>
                <a:latin typeface="Consolas"/>
                <a:cs typeface="Consolas"/>
              </a:rPr>
              <a:t>)</a:t>
            </a:r>
          </a:p>
          <a:p>
            <a:pPr>
              <a:lnSpc>
                <a:spcPct val="118000"/>
              </a:lnSpc>
            </a:pPr>
            <a:r>
              <a:rPr lang="en-US" sz="1100" b="1" dirty="0">
                <a:solidFill>
                  <a:srgbClr val="00C2D6"/>
                </a:solidFill>
                <a:latin typeface="Consolas"/>
                <a:cs typeface="Consolas"/>
              </a:rPr>
              <a:t>SELECT </a:t>
            </a:r>
            <a:r>
              <a:rPr lang="en-US" sz="1100" dirty="0">
                <a:solidFill>
                  <a:srgbClr val="C9CCD6"/>
                </a:solidFill>
                <a:latin typeface="Consolas"/>
                <a:cs typeface="Consolas"/>
              </a:rPr>
              <a:t>g</a:t>
            </a:r>
            <a:r>
              <a:rPr lang="en-US" sz="1100" dirty="0">
                <a:solidFill>
                  <a:srgbClr val="7E8391"/>
                </a:solidFill>
                <a:latin typeface="Consolas"/>
                <a:cs typeface="Consolas"/>
              </a:rPr>
              <a:t>, </a:t>
            </a:r>
            <a:r>
              <a:rPr lang="en-US" sz="1100" dirty="0">
                <a:solidFill>
                  <a:srgbClr val="AEE057"/>
                </a:solidFill>
                <a:latin typeface="Consolas"/>
                <a:cs typeface="Consolas"/>
              </a:rPr>
              <a:t>1 </a:t>
            </a:r>
            <a:r>
              <a:rPr lang="en-US" sz="1100" dirty="0">
                <a:solidFill>
                  <a:srgbClr val="7E8391"/>
                </a:solidFill>
                <a:latin typeface="Consolas"/>
                <a:cs typeface="Consolas"/>
              </a:rPr>
              <a:t>+ (</a:t>
            </a:r>
            <a:r>
              <a:rPr lang="en-US" sz="1100" dirty="0">
                <a:solidFill>
                  <a:srgbClr val="C9CCD6"/>
                </a:solidFill>
                <a:latin typeface="Consolas"/>
                <a:cs typeface="Consolas"/>
              </a:rPr>
              <a:t>g </a:t>
            </a:r>
            <a:r>
              <a:rPr lang="en-US" sz="1100" dirty="0">
                <a:solidFill>
                  <a:srgbClr val="7E8391"/>
                </a:solidFill>
                <a:latin typeface="Consolas"/>
                <a:cs typeface="Consolas"/>
              </a:rPr>
              <a:t>% </a:t>
            </a:r>
            <a:r>
              <a:rPr lang="en-US" sz="1100" dirty="0">
                <a:solidFill>
                  <a:srgbClr val="AEE057"/>
                </a:solidFill>
                <a:latin typeface="Consolas"/>
                <a:cs typeface="Consolas"/>
              </a:rPr>
              <a:t>100</a:t>
            </a:r>
            <a:r>
              <a:rPr lang="en-US" sz="1100" dirty="0">
                <a:solidFill>
                  <a:srgbClr val="7E8391"/>
                </a:solidFill>
                <a:latin typeface="Consolas"/>
                <a:cs typeface="Consolas"/>
              </a:rPr>
              <a:t>), </a:t>
            </a:r>
            <a:r>
              <a:rPr lang="en-US" sz="1100" dirty="0">
                <a:solidFill>
                  <a:srgbClr val="AEE057"/>
                </a:solidFill>
                <a:latin typeface="Consolas"/>
                <a:cs typeface="Consolas"/>
              </a:rPr>
              <a:t>100000</a:t>
            </a:r>
          </a:p>
          <a:p>
            <a:pPr>
              <a:lnSpc>
                <a:spcPct val="118000"/>
              </a:lnSpc>
            </a:pPr>
            <a:r>
              <a:rPr lang="en-US" sz="1100" b="1" dirty="0">
                <a:solidFill>
                  <a:srgbClr val="00C2D6"/>
                </a:solidFill>
                <a:latin typeface="Consolas"/>
                <a:cs typeface="Consolas"/>
              </a:rPr>
              <a:t>FROM </a:t>
            </a:r>
            <a:r>
              <a:rPr lang="en-US" sz="1100" dirty="0">
                <a:solidFill>
                  <a:srgbClr val="F7C548"/>
                </a:solidFill>
                <a:latin typeface="Consolas"/>
                <a:cs typeface="Consolas"/>
              </a:rPr>
              <a:t>generate_series</a:t>
            </a:r>
            <a:r>
              <a:rPr lang="en-US" sz="1100" dirty="0">
                <a:solidFill>
                  <a:srgbClr val="7E8391"/>
                </a:solidFill>
                <a:latin typeface="Consolas"/>
                <a:cs typeface="Consolas"/>
              </a:rPr>
              <a:t>(</a:t>
            </a:r>
            <a:r>
              <a:rPr lang="en-US" sz="1100" dirty="0">
                <a:solidFill>
                  <a:srgbClr val="AEE057"/>
                </a:solidFill>
                <a:latin typeface="Consolas"/>
                <a:cs typeface="Consolas"/>
              </a:rPr>
              <a:t>1</a:t>
            </a:r>
            <a:r>
              <a:rPr lang="en-US" sz="1100" dirty="0">
                <a:solidFill>
                  <a:srgbClr val="7E8391"/>
                </a:solidFill>
                <a:latin typeface="Consolas"/>
                <a:cs typeface="Consolas"/>
              </a:rPr>
              <a:t>, </a:t>
            </a:r>
            <a:r>
              <a:rPr lang="en-US" sz="1100" dirty="0">
                <a:solidFill>
                  <a:srgbClr val="AEE057"/>
                </a:solidFill>
                <a:latin typeface="Consolas"/>
                <a:cs typeface="Consolas"/>
              </a:rPr>
              <a:t>1000000</a:t>
            </a:r>
            <a:r>
              <a:rPr lang="en-US" sz="1100" dirty="0">
                <a:solidFill>
                  <a:srgbClr val="7E8391"/>
                </a:solidFill>
                <a:latin typeface="Consolas"/>
                <a:cs typeface="Consolas"/>
              </a:rPr>
              <a:t>) </a:t>
            </a:r>
            <a:r>
              <a:rPr lang="en-US" sz="1100" b="1" dirty="0">
                <a:solidFill>
                  <a:srgbClr val="00C2D6"/>
                </a:solidFill>
                <a:latin typeface="Consolas"/>
                <a:cs typeface="Consolas"/>
              </a:rPr>
              <a:t>AS </a:t>
            </a:r>
            <a:r>
              <a:rPr lang="en-US" sz="1100" dirty="0">
                <a:solidFill>
                  <a:srgbClr val="C9CCD6"/>
                </a:solidFill>
                <a:latin typeface="Consolas"/>
                <a:cs typeface="Consolas"/>
              </a:rPr>
              <a:t>g</a:t>
            </a:r>
            <a:r>
              <a:rPr lang="en-US" sz="1100" dirty="0">
                <a:solidFill>
                  <a:srgbClr val="7E8391"/>
                </a:solidFill>
                <a:latin typeface="Consolas"/>
                <a:cs typeface="Consolas"/>
              </a:rPr>
              <a:t>;</a:t>
            </a:r>
          </a:p>
          <a:p>
            <a:pPr>
              <a:lnSpc>
                <a:spcPct val="118000"/>
              </a:lnSpc>
            </a:pPr>
            <a:endParaRPr lang="en-US" sz="1100" dirty="0">
              <a:latin typeface="Consolas"/>
            </a:endParaRPr>
          </a:p>
        </p:txBody>
      </p:sp>
      <p:sp>
        <p:nvSpPr>
          <p:cNvPr id="25" name="Footer"/>
          <p:cNvSpPr txBox="1"/>
          <p:nvPr/>
        </p:nvSpPr>
        <p:spPr>
          <a:xfrm>
            <a:off x="502920" y="6510528"/>
            <a:ext cx="2377440" cy="164592"/>
          </a:xfrm>
          <a:prstGeom prst="rect">
            <a:avLst/>
          </a:prstGeom>
          <a:noFill/>
        </p:spPr>
        <p:txBody>
          <a:bodyPr wrap="square" lIns="0" tIns="0" rIns="0" bIns="0" rtlCol="0" anchor="t">
            <a:noAutofit/>
          </a:bodyPr>
          <a:lstStyle/>
          <a:p>
            <a:pPr algn="l"/>
            <a:r>
              <a:rPr lang="en-US" sz="750" b="1" dirty="0">
                <a:solidFill>
                  <a:srgbClr val="AAAAAA"/>
                </a:solidFill>
                <a:latin typeface="Aptos"/>
              </a:rPr>
              <a:t>MY DISHONEST BENCHMARK</a:t>
            </a:r>
          </a:p>
        </p:txBody>
      </p:sp>
      <p:sp>
        <p:nvSpPr>
          <p:cNvPr id="26" name="Page"/>
          <p:cNvSpPr txBox="1"/>
          <p:nvPr/>
        </p:nvSpPr>
        <p:spPr>
          <a:xfrm>
            <a:off x="11155680" y="6473952"/>
            <a:ext cx="502920" cy="182880"/>
          </a:xfrm>
          <a:prstGeom prst="rect">
            <a:avLst/>
          </a:prstGeom>
          <a:noFill/>
        </p:spPr>
        <p:txBody>
          <a:bodyPr wrap="square" lIns="0" tIns="0" rIns="0" bIns="0" rtlCol="0" anchor="t">
            <a:noAutofit/>
          </a:bodyPr>
          <a:lstStyle/>
          <a:p>
            <a:pPr algn="r"/>
            <a:r>
              <a:rPr lang="en-US" sz="800" b="1" dirty="0">
                <a:solidFill>
                  <a:srgbClr val="AAAAAA"/>
                </a:solidFill>
                <a:latin typeface="Aptos"/>
              </a:rPr>
              <a:t>15</a:t>
            </a:r>
          </a:p>
        </p:txBody>
      </p:sp>
    </p:spTree>
    <p:extLst>
      <p:ext uri="{BB962C8B-B14F-4D97-AF65-F5344CB8AC3E}">
        <p14:creationId xmlns:p14="http://schemas.microsoft.com/office/powerpoint/2010/main" val="30425858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 name="Tag"/>
          <p:cNvSpPr/>
          <p:nvPr/>
        </p:nvSpPr>
        <p:spPr>
          <a:xfrm>
            <a:off x="498347" y="594359"/>
            <a:ext cx="3749040" cy="460717"/>
          </a:xfrm>
          <a:prstGeom prst="roundRect">
            <a:avLst/>
          </a:prstGeom>
          <a:solidFill>
            <a:srgbClr val="FF655C"/>
          </a:solidFill>
          <a:ln>
            <a:noFill/>
          </a:ln>
        </p:spPr>
        <p:txBody>
          <a:bodyPr wrap="none" lIns="0" tIns="0" rIns="0" bIns="0" anchor="ctr">
            <a:noAutofit/>
          </a:bodyPr>
          <a:lstStyle/>
          <a:p>
            <a:pPr algn="ctr"/>
            <a:r>
              <a:rPr lang="en-US" sz="3200" b="1" spc="0" dirty="0">
                <a:solidFill>
                  <a:srgbClr val="17181C"/>
                </a:solidFill>
                <a:latin typeface="Aptos"/>
              </a:rPr>
              <a:t>THE WORKLOAD</a:t>
            </a:r>
          </a:p>
        </p:txBody>
      </p:sp>
      <p:sp>
        <p:nvSpPr>
          <p:cNvPr id="3" name="Headline"/>
          <p:cNvSpPr txBox="1"/>
          <p:nvPr/>
        </p:nvSpPr>
        <p:spPr>
          <a:xfrm>
            <a:off x="498347" y="1325880"/>
            <a:ext cx="11195306" cy="640080"/>
          </a:xfrm>
          <a:prstGeom prst="rect">
            <a:avLst/>
          </a:prstGeom>
          <a:noFill/>
        </p:spPr>
        <p:txBody>
          <a:bodyPr wrap="square" lIns="0" tIns="0" rIns="0" bIns="0" rtlCol="0" anchor="t">
            <a:noAutofit/>
          </a:bodyPr>
          <a:lstStyle/>
          <a:p>
            <a:pPr algn="l"/>
            <a:r>
              <a:rPr lang="en-US" sz="3600" b="1" spc="0" dirty="0">
                <a:solidFill>
                  <a:srgbClr val="FFFFFF"/>
                </a:solidFill>
                <a:latin typeface="Aptos Display"/>
              </a:rPr>
              <a:t>One transaction does six things</a:t>
            </a:r>
          </a:p>
        </p:txBody>
      </p:sp>
      <p:cxnSp>
        <p:nvCxnSpPr>
          <p:cNvPr id="4" name="Flow line"/>
          <p:cNvCxnSpPr/>
          <p:nvPr/>
        </p:nvCxnSpPr>
        <p:spPr>
          <a:xfrm>
            <a:off x="1374139" y="2971800"/>
            <a:ext cx="9443720" cy="0"/>
          </a:xfrm>
          <a:prstGeom prst="line">
            <a:avLst/>
          </a:prstGeom>
          <a:ln w="28575">
            <a:gradFill>
              <a:gsLst>
                <a:gs pos="0">
                  <a:srgbClr val="00C2D6"/>
                </a:gs>
                <a:gs pos="40000">
                  <a:srgbClr val="F7C548"/>
                </a:gs>
                <a:gs pos="70000">
                  <a:srgbClr val="FF655C"/>
                </a:gs>
                <a:gs pos="100000">
                  <a:srgbClr val="FF9F43"/>
                </a:gs>
              </a:gsLst>
              <a:lin ang="0" scaled="1"/>
            </a:gradFill>
            <a:tailEnd type="triangle" w="med" len="med"/>
          </a:ln>
        </p:spPr>
      </p:cxnSp>
      <p:sp>
        <p:nvSpPr>
          <p:cNvPr id="5" name="Dot 1"/>
          <p:cNvSpPr/>
          <p:nvPr/>
        </p:nvSpPr>
        <p:spPr>
          <a:xfrm>
            <a:off x="1168399" y="2766060"/>
            <a:ext cx="411480" cy="411480"/>
          </a:xfrm>
          <a:prstGeom prst="ellipse">
            <a:avLst/>
          </a:prstGeom>
          <a:solidFill>
            <a:srgbClr val="00C2D6"/>
          </a:solidFill>
          <a:ln w="38100">
            <a:solidFill>
              <a:srgbClr val="17181C"/>
            </a:solidFill>
          </a:ln>
          <a:effectLst>
            <a:glow rad="101600">
              <a:srgbClr val="00C2D6">
                <a:alpha val="35000"/>
              </a:srgbClr>
            </a:glow>
          </a:effectLst>
        </p:spPr>
        <p:txBody>
          <a:bodyPr wrap="none" lIns="0" tIns="0" rIns="0" bIns="0" anchor="ctr">
            <a:noAutofit/>
          </a:bodyPr>
          <a:lstStyle/>
          <a:p>
            <a:pPr algn="ctr"/>
            <a:r>
              <a:rPr lang="en-US" sz="1600" b="1" spc="0" dirty="0">
                <a:solidFill>
                  <a:srgbClr val="17181C"/>
                </a:solidFill>
                <a:latin typeface="Aptos"/>
              </a:rPr>
              <a:t>1</a:t>
            </a:r>
          </a:p>
        </p:txBody>
      </p:sp>
      <p:sp>
        <p:nvSpPr>
          <p:cNvPr id="6" name="Card 1"/>
          <p:cNvSpPr/>
          <p:nvPr/>
        </p:nvSpPr>
        <p:spPr>
          <a:xfrm>
            <a:off x="498347" y="3406140"/>
            <a:ext cx="1751584" cy="2103120"/>
          </a:xfrm>
          <a:prstGeom prst="roundRect">
            <a:avLst>
              <a:gd name="adj" fmla="val 8000"/>
            </a:avLst>
          </a:prstGeom>
          <a:gradFill>
            <a:gsLst>
              <a:gs pos="0">
                <a:srgbClr val="1E363E"/>
              </a:gs>
              <a:gs pos="100000">
                <a:srgbClr val="222329"/>
              </a:gs>
            </a:gsLst>
            <a:lin ang="5400000" scaled="1"/>
          </a:gradFill>
          <a:ln w="15875">
            <a:solidFill>
              <a:srgbClr val="00C2D6">
                <a:alpha val="60000"/>
              </a:srgbClr>
            </a:solidFill>
          </a:ln>
        </p:spPr>
        <p:txBody>
          <a:bodyPr/>
          <a:lstStyle/>
          <a:p>
            <a:endParaRPr lang="en-US"/>
          </a:p>
        </p:txBody>
      </p:sp>
      <p:sp>
        <p:nvSpPr>
          <p:cNvPr id="7" name="Verb 1"/>
          <p:cNvSpPr txBox="1"/>
          <p:nvPr/>
        </p:nvSpPr>
        <p:spPr>
          <a:xfrm>
            <a:off x="589787" y="4000500"/>
            <a:ext cx="1568704" cy="320040"/>
          </a:xfrm>
          <a:prstGeom prst="rect">
            <a:avLst/>
          </a:prstGeom>
          <a:noFill/>
        </p:spPr>
        <p:txBody>
          <a:bodyPr wrap="square" lIns="0" tIns="0" rIns="0" bIns="0" rtlCol="0" anchor="t">
            <a:noAutofit/>
          </a:bodyPr>
          <a:lstStyle/>
          <a:p>
            <a:pPr algn="ctr"/>
            <a:r>
              <a:rPr lang="en-US" sz="1600" b="1" spc="100" dirty="0">
                <a:solidFill>
                  <a:srgbClr val="00C2D6"/>
                </a:solidFill>
                <a:latin typeface="Aptos"/>
              </a:rPr>
              <a:t>READ</a:t>
            </a:r>
          </a:p>
        </p:txBody>
      </p:sp>
      <p:sp>
        <p:nvSpPr>
          <p:cNvPr id="8" name="Object 1"/>
          <p:cNvSpPr txBox="1"/>
          <p:nvPr/>
        </p:nvSpPr>
        <p:spPr>
          <a:xfrm>
            <a:off x="544067" y="4457700"/>
            <a:ext cx="1660144" cy="457200"/>
          </a:xfrm>
          <a:prstGeom prst="rect">
            <a:avLst/>
          </a:prstGeom>
          <a:noFill/>
        </p:spPr>
        <p:txBody>
          <a:bodyPr wrap="square" lIns="0" tIns="0" rIns="0" bIns="0" rtlCol="0" anchor="t">
            <a:noAutofit/>
          </a:bodyPr>
          <a:lstStyle/>
          <a:p>
            <a:pPr algn="ctr"/>
            <a:r>
              <a:rPr lang="en-US" sz="2000" b="1" spc="0" dirty="0">
                <a:solidFill>
                  <a:srgbClr val="FFFFFF"/>
                </a:solidFill>
                <a:latin typeface="Aptos"/>
              </a:rPr>
              <a:t>account</a:t>
            </a:r>
          </a:p>
        </p:txBody>
      </p:sp>
      <p:sp>
        <p:nvSpPr>
          <p:cNvPr id="9" name="Dot 2"/>
          <p:cNvSpPr/>
          <p:nvPr/>
        </p:nvSpPr>
        <p:spPr>
          <a:xfrm>
            <a:off x="3057143" y="2766060"/>
            <a:ext cx="411480" cy="411480"/>
          </a:xfrm>
          <a:prstGeom prst="ellipse">
            <a:avLst/>
          </a:prstGeom>
          <a:solidFill>
            <a:srgbClr val="F7C548"/>
          </a:solidFill>
          <a:ln w="38100">
            <a:solidFill>
              <a:srgbClr val="17181C"/>
            </a:solidFill>
          </a:ln>
          <a:effectLst>
            <a:glow rad="101600">
              <a:srgbClr val="F7C548">
                <a:alpha val="35000"/>
              </a:srgbClr>
            </a:glow>
          </a:effectLst>
        </p:spPr>
        <p:txBody>
          <a:bodyPr wrap="none" lIns="0" tIns="0" rIns="0" bIns="0" anchor="ctr">
            <a:noAutofit/>
          </a:bodyPr>
          <a:lstStyle/>
          <a:p>
            <a:pPr algn="ctr"/>
            <a:r>
              <a:rPr lang="en-US" sz="1600" b="1" spc="0" dirty="0">
                <a:solidFill>
                  <a:srgbClr val="17181C"/>
                </a:solidFill>
                <a:latin typeface="Aptos"/>
              </a:rPr>
              <a:t>2</a:t>
            </a:r>
          </a:p>
        </p:txBody>
      </p:sp>
      <p:sp>
        <p:nvSpPr>
          <p:cNvPr id="10" name="Card 2"/>
          <p:cNvSpPr/>
          <p:nvPr/>
        </p:nvSpPr>
        <p:spPr>
          <a:xfrm>
            <a:off x="2387091" y="3406140"/>
            <a:ext cx="1751584" cy="2103120"/>
          </a:xfrm>
          <a:prstGeom prst="roundRect">
            <a:avLst>
              <a:gd name="adj" fmla="val 8000"/>
            </a:avLst>
          </a:prstGeom>
          <a:gradFill>
            <a:gsLst>
              <a:gs pos="0">
                <a:srgbClr val="3C362D"/>
              </a:gs>
              <a:gs pos="100000">
                <a:srgbClr val="222329"/>
              </a:gs>
            </a:gsLst>
            <a:lin ang="5400000" scaled="1"/>
          </a:gradFill>
          <a:ln w="15875">
            <a:solidFill>
              <a:srgbClr val="F7C548">
                <a:alpha val="60000"/>
              </a:srgbClr>
            </a:solidFill>
          </a:ln>
        </p:spPr>
        <p:txBody>
          <a:bodyPr/>
          <a:lstStyle/>
          <a:p>
            <a:endParaRPr lang="en-US"/>
          </a:p>
        </p:txBody>
      </p:sp>
      <p:sp>
        <p:nvSpPr>
          <p:cNvPr id="11" name="Verb 2"/>
          <p:cNvSpPr txBox="1"/>
          <p:nvPr/>
        </p:nvSpPr>
        <p:spPr>
          <a:xfrm>
            <a:off x="2478531" y="4000500"/>
            <a:ext cx="1568704" cy="320040"/>
          </a:xfrm>
          <a:prstGeom prst="rect">
            <a:avLst/>
          </a:prstGeom>
          <a:noFill/>
        </p:spPr>
        <p:txBody>
          <a:bodyPr wrap="square" lIns="0" tIns="0" rIns="0" bIns="0" rtlCol="0" anchor="t">
            <a:noAutofit/>
          </a:bodyPr>
          <a:lstStyle/>
          <a:p>
            <a:pPr algn="ctr"/>
            <a:r>
              <a:rPr lang="en-US" sz="1600" b="1" spc="100" dirty="0">
                <a:solidFill>
                  <a:srgbClr val="F7C548"/>
                </a:solidFill>
                <a:latin typeface="Aptos"/>
              </a:rPr>
              <a:t>UPDATE</a:t>
            </a:r>
          </a:p>
        </p:txBody>
      </p:sp>
      <p:sp>
        <p:nvSpPr>
          <p:cNvPr id="12" name="Object 2"/>
          <p:cNvSpPr txBox="1"/>
          <p:nvPr/>
        </p:nvSpPr>
        <p:spPr>
          <a:xfrm>
            <a:off x="2432811" y="4457700"/>
            <a:ext cx="1660144" cy="457200"/>
          </a:xfrm>
          <a:prstGeom prst="rect">
            <a:avLst/>
          </a:prstGeom>
          <a:noFill/>
        </p:spPr>
        <p:txBody>
          <a:bodyPr wrap="square" lIns="0" tIns="0" rIns="0" bIns="0" rtlCol="0" anchor="t">
            <a:noAutofit/>
          </a:bodyPr>
          <a:lstStyle/>
          <a:p>
            <a:pPr algn="ctr"/>
            <a:r>
              <a:rPr lang="en-US" sz="2000" b="1" spc="0" dirty="0">
                <a:solidFill>
                  <a:srgbClr val="FFFFFF"/>
                </a:solidFill>
                <a:latin typeface="Aptos"/>
              </a:rPr>
              <a:t>balance</a:t>
            </a:r>
          </a:p>
        </p:txBody>
      </p:sp>
      <p:sp>
        <p:nvSpPr>
          <p:cNvPr id="13" name="Dot 3"/>
          <p:cNvSpPr/>
          <p:nvPr/>
        </p:nvSpPr>
        <p:spPr>
          <a:xfrm>
            <a:off x="4945887" y="2766060"/>
            <a:ext cx="411480" cy="411480"/>
          </a:xfrm>
          <a:prstGeom prst="ellipse">
            <a:avLst/>
          </a:prstGeom>
          <a:solidFill>
            <a:srgbClr val="FF655C"/>
          </a:solidFill>
          <a:ln w="38100">
            <a:solidFill>
              <a:srgbClr val="17181C"/>
            </a:solidFill>
          </a:ln>
          <a:effectLst>
            <a:glow rad="101600">
              <a:srgbClr val="FF655C">
                <a:alpha val="35000"/>
              </a:srgbClr>
            </a:glow>
          </a:effectLst>
        </p:spPr>
        <p:txBody>
          <a:bodyPr wrap="none" lIns="0" tIns="0" rIns="0" bIns="0" anchor="ctr">
            <a:noAutofit/>
          </a:bodyPr>
          <a:lstStyle/>
          <a:p>
            <a:pPr algn="ctr"/>
            <a:r>
              <a:rPr lang="en-US" sz="1600" b="1" spc="0" dirty="0">
                <a:solidFill>
                  <a:srgbClr val="17181C"/>
                </a:solidFill>
                <a:latin typeface="Aptos"/>
              </a:rPr>
              <a:t>3</a:t>
            </a:r>
          </a:p>
        </p:txBody>
      </p:sp>
      <p:sp>
        <p:nvSpPr>
          <p:cNvPr id="14" name="Card 3"/>
          <p:cNvSpPr/>
          <p:nvPr/>
        </p:nvSpPr>
        <p:spPr>
          <a:xfrm>
            <a:off x="4275835" y="3406140"/>
            <a:ext cx="1751584" cy="2103120"/>
          </a:xfrm>
          <a:prstGeom prst="roundRect">
            <a:avLst>
              <a:gd name="adj" fmla="val 8000"/>
            </a:avLst>
          </a:prstGeom>
          <a:gradFill>
            <a:gsLst>
              <a:gs pos="0">
                <a:srgbClr val="3D2B2F"/>
              </a:gs>
              <a:gs pos="100000">
                <a:srgbClr val="222329"/>
              </a:gs>
            </a:gsLst>
            <a:lin ang="5400000" scaled="1"/>
          </a:gradFill>
          <a:ln w="15875">
            <a:solidFill>
              <a:srgbClr val="FF655C">
                <a:alpha val="60000"/>
              </a:srgbClr>
            </a:solidFill>
          </a:ln>
        </p:spPr>
        <p:txBody>
          <a:bodyPr/>
          <a:lstStyle/>
          <a:p>
            <a:endParaRPr lang="en-US"/>
          </a:p>
        </p:txBody>
      </p:sp>
      <p:sp>
        <p:nvSpPr>
          <p:cNvPr id="15" name="Verb 3"/>
          <p:cNvSpPr txBox="1"/>
          <p:nvPr/>
        </p:nvSpPr>
        <p:spPr>
          <a:xfrm>
            <a:off x="4367275" y="4000500"/>
            <a:ext cx="1568704" cy="320040"/>
          </a:xfrm>
          <a:prstGeom prst="rect">
            <a:avLst/>
          </a:prstGeom>
          <a:noFill/>
        </p:spPr>
        <p:txBody>
          <a:bodyPr wrap="square" lIns="0" tIns="0" rIns="0" bIns="0" rtlCol="0" anchor="t">
            <a:noAutofit/>
          </a:bodyPr>
          <a:lstStyle/>
          <a:p>
            <a:pPr algn="ctr"/>
            <a:r>
              <a:rPr lang="en-US" sz="1600" b="1" spc="100" dirty="0">
                <a:solidFill>
                  <a:srgbClr val="FF655C"/>
                </a:solidFill>
                <a:latin typeface="Aptos"/>
              </a:rPr>
              <a:t>INSERT</a:t>
            </a:r>
          </a:p>
        </p:txBody>
      </p:sp>
      <p:sp>
        <p:nvSpPr>
          <p:cNvPr id="16" name="Object 3"/>
          <p:cNvSpPr txBox="1"/>
          <p:nvPr/>
        </p:nvSpPr>
        <p:spPr>
          <a:xfrm>
            <a:off x="4321555" y="4457700"/>
            <a:ext cx="1660144" cy="457200"/>
          </a:xfrm>
          <a:prstGeom prst="rect">
            <a:avLst/>
          </a:prstGeom>
          <a:noFill/>
        </p:spPr>
        <p:txBody>
          <a:bodyPr wrap="square" lIns="0" tIns="0" rIns="0" bIns="0" rtlCol="0" anchor="t">
            <a:noAutofit/>
          </a:bodyPr>
          <a:lstStyle/>
          <a:p>
            <a:pPr algn="ctr"/>
            <a:r>
              <a:rPr lang="en-US" sz="2000" b="1" spc="0" dirty="0">
                <a:solidFill>
                  <a:srgbClr val="FFFFFF"/>
                </a:solidFill>
                <a:latin typeface="Aptos"/>
              </a:rPr>
              <a:t>ledger</a:t>
            </a:r>
          </a:p>
        </p:txBody>
      </p:sp>
      <p:sp>
        <p:nvSpPr>
          <p:cNvPr id="17" name="Dot 4"/>
          <p:cNvSpPr/>
          <p:nvPr/>
        </p:nvSpPr>
        <p:spPr>
          <a:xfrm>
            <a:off x="6834631" y="2766060"/>
            <a:ext cx="411480" cy="411480"/>
          </a:xfrm>
          <a:prstGeom prst="ellipse">
            <a:avLst/>
          </a:prstGeom>
          <a:solidFill>
            <a:srgbClr val="AEE057"/>
          </a:solidFill>
          <a:ln w="38100">
            <a:solidFill>
              <a:srgbClr val="17181C"/>
            </a:solidFill>
          </a:ln>
          <a:effectLst>
            <a:glow rad="101600">
              <a:srgbClr val="AEE057">
                <a:alpha val="35000"/>
              </a:srgbClr>
            </a:glow>
          </a:effectLst>
        </p:spPr>
        <p:txBody>
          <a:bodyPr wrap="none" lIns="0" tIns="0" rIns="0" bIns="0" anchor="ctr">
            <a:noAutofit/>
          </a:bodyPr>
          <a:lstStyle/>
          <a:p>
            <a:pPr algn="ctr"/>
            <a:r>
              <a:rPr lang="en-US" sz="1600" b="1" spc="0" dirty="0">
                <a:solidFill>
                  <a:srgbClr val="17181C"/>
                </a:solidFill>
                <a:latin typeface="Aptos"/>
              </a:rPr>
              <a:t>4</a:t>
            </a:r>
          </a:p>
        </p:txBody>
      </p:sp>
      <p:sp>
        <p:nvSpPr>
          <p:cNvPr id="18" name="Card 4"/>
          <p:cNvSpPr/>
          <p:nvPr/>
        </p:nvSpPr>
        <p:spPr>
          <a:xfrm>
            <a:off x="6164579" y="3406140"/>
            <a:ext cx="1751584" cy="2103120"/>
          </a:xfrm>
          <a:prstGeom prst="roundRect">
            <a:avLst>
              <a:gd name="adj" fmla="val 8000"/>
            </a:avLst>
          </a:prstGeom>
          <a:gradFill>
            <a:gsLst>
              <a:gs pos="0">
                <a:srgbClr val="333A2F"/>
              </a:gs>
              <a:gs pos="100000">
                <a:srgbClr val="222329"/>
              </a:gs>
            </a:gsLst>
            <a:lin ang="5400000" scaled="1"/>
          </a:gradFill>
          <a:ln w="15875">
            <a:solidFill>
              <a:srgbClr val="AEE057">
                <a:alpha val="60000"/>
              </a:srgbClr>
            </a:solidFill>
          </a:ln>
        </p:spPr>
        <p:txBody>
          <a:bodyPr/>
          <a:lstStyle/>
          <a:p>
            <a:endParaRPr lang="en-US"/>
          </a:p>
        </p:txBody>
      </p:sp>
      <p:sp>
        <p:nvSpPr>
          <p:cNvPr id="19" name="Verb 4"/>
          <p:cNvSpPr txBox="1"/>
          <p:nvPr/>
        </p:nvSpPr>
        <p:spPr>
          <a:xfrm>
            <a:off x="6256019" y="4000500"/>
            <a:ext cx="1568704" cy="320040"/>
          </a:xfrm>
          <a:prstGeom prst="rect">
            <a:avLst/>
          </a:prstGeom>
          <a:noFill/>
        </p:spPr>
        <p:txBody>
          <a:bodyPr wrap="square" lIns="0" tIns="0" rIns="0" bIns="0" rtlCol="0" anchor="t">
            <a:noAutofit/>
          </a:bodyPr>
          <a:lstStyle/>
          <a:p>
            <a:pPr algn="ctr"/>
            <a:r>
              <a:rPr lang="en-US" sz="1600" b="1" spc="100" dirty="0">
                <a:solidFill>
                  <a:srgbClr val="AEE057"/>
                </a:solidFill>
                <a:latin typeface="Aptos"/>
              </a:rPr>
              <a:t>INSERT</a:t>
            </a:r>
          </a:p>
        </p:txBody>
      </p:sp>
      <p:sp>
        <p:nvSpPr>
          <p:cNvPr id="20" name="Object 4"/>
          <p:cNvSpPr txBox="1"/>
          <p:nvPr/>
        </p:nvSpPr>
        <p:spPr>
          <a:xfrm>
            <a:off x="6210299" y="4457700"/>
            <a:ext cx="1660144" cy="457200"/>
          </a:xfrm>
          <a:prstGeom prst="rect">
            <a:avLst/>
          </a:prstGeom>
          <a:noFill/>
        </p:spPr>
        <p:txBody>
          <a:bodyPr wrap="square" lIns="0" tIns="0" rIns="0" bIns="0" rtlCol="0" anchor="t">
            <a:noAutofit/>
          </a:bodyPr>
          <a:lstStyle/>
          <a:p>
            <a:pPr algn="ctr"/>
            <a:r>
              <a:rPr lang="en-US" sz="2000" b="1" spc="0" dirty="0">
                <a:solidFill>
                  <a:srgbClr val="FFFFFF"/>
                </a:solidFill>
                <a:latin typeface="Aptos"/>
              </a:rPr>
              <a:t>audit</a:t>
            </a:r>
          </a:p>
        </p:txBody>
      </p:sp>
      <p:sp>
        <p:nvSpPr>
          <p:cNvPr id="21" name="Dot 5"/>
          <p:cNvSpPr/>
          <p:nvPr/>
        </p:nvSpPr>
        <p:spPr>
          <a:xfrm>
            <a:off x="8723375" y="2766060"/>
            <a:ext cx="411480" cy="411480"/>
          </a:xfrm>
          <a:prstGeom prst="ellipse">
            <a:avLst/>
          </a:prstGeom>
          <a:solidFill>
            <a:srgbClr val="B794F6"/>
          </a:solidFill>
          <a:ln w="38100">
            <a:solidFill>
              <a:srgbClr val="17181C"/>
            </a:solidFill>
          </a:ln>
          <a:effectLst>
            <a:glow rad="101600">
              <a:srgbClr val="B794F6">
                <a:alpha val="35000"/>
              </a:srgbClr>
            </a:glow>
          </a:effectLst>
        </p:spPr>
        <p:txBody>
          <a:bodyPr wrap="none" lIns="0" tIns="0" rIns="0" bIns="0" anchor="ctr">
            <a:noAutofit/>
          </a:bodyPr>
          <a:lstStyle/>
          <a:p>
            <a:pPr algn="ctr"/>
            <a:r>
              <a:rPr lang="en-US" sz="1600" b="1" spc="0" dirty="0">
                <a:solidFill>
                  <a:srgbClr val="17181C"/>
                </a:solidFill>
                <a:latin typeface="Aptos"/>
              </a:rPr>
              <a:t>5</a:t>
            </a:r>
          </a:p>
        </p:txBody>
      </p:sp>
      <p:sp>
        <p:nvSpPr>
          <p:cNvPr id="22" name="Card 5"/>
          <p:cNvSpPr/>
          <p:nvPr/>
        </p:nvSpPr>
        <p:spPr>
          <a:xfrm>
            <a:off x="8053323" y="3406140"/>
            <a:ext cx="1751584" cy="2103120"/>
          </a:xfrm>
          <a:prstGeom prst="roundRect">
            <a:avLst>
              <a:gd name="adj" fmla="val 8000"/>
            </a:avLst>
          </a:prstGeom>
          <a:gradFill>
            <a:gsLst>
              <a:gs pos="0">
                <a:srgbClr val="343142"/>
              </a:gs>
              <a:gs pos="100000">
                <a:srgbClr val="222329"/>
              </a:gs>
            </a:gsLst>
            <a:lin ang="5400000" scaled="1"/>
          </a:gradFill>
          <a:ln w="15875">
            <a:solidFill>
              <a:srgbClr val="B794F6">
                <a:alpha val="60000"/>
              </a:srgbClr>
            </a:solidFill>
          </a:ln>
        </p:spPr>
        <p:txBody>
          <a:bodyPr/>
          <a:lstStyle/>
          <a:p>
            <a:endParaRPr lang="en-US"/>
          </a:p>
        </p:txBody>
      </p:sp>
      <p:sp>
        <p:nvSpPr>
          <p:cNvPr id="23" name="Verb 5"/>
          <p:cNvSpPr txBox="1"/>
          <p:nvPr/>
        </p:nvSpPr>
        <p:spPr>
          <a:xfrm>
            <a:off x="8144763" y="4000500"/>
            <a:ext cx="1568704" cy="320040"/>
          </a:xfrm>
          <a:prstGeom prst="rect">
            <a:avLst/>
          </a:prstGeom>
          <a:noFill/>
        </p:spPr>
        <p:txBody>
          <a:bodyPr wrap="square" lIns="0" tIns="0" rIns="0" bIns="0" rtlCol="0" anchor="t">
            <a:noAutofit/>
          </a:bodyPr>
          <a:lstStyle/>
          <a:p>
            <a:pPr algn="ctr"/>
            <a:r>
              <a:rPr lang="en-US" sz="1600" b="1" spc="100" dirty="0">
                <a:solidFill>
                  <a:srgbClr val="B794F6"/>
                </a:solidFill>
                <a:latin typeface="Aptos"/>
              </a:rPr>
              <a:t>DELETE</a:t>
            </a:r>
          </a:p>
        </p:txBody>
      </p:sp>
      <p:sp>
        <p:nvSpPr>
          <p:cNvPr id="24" name="Object 5"/>
          <p:cNvSpPr txBox="1"/>
          <p:nvPr/>
        </p:nvSpPr>
        <p:spPr>
          <a:xfrm>
            <a:off x="8099043" y="4457700"/>
            <a:ext cx="1660144" cy="457200"/>
          </a:xfrm>
          <a:prstGeom prst="rect">
            <a:avLst/>
          </a:prstGeom>
          <a:noFill/>
        </p:spPr>
        <p:txBody>
          <a:bodyPr wrap="square" lIns="0" tIns="0" rIns="0" bIns="0" rtlCol="0" anchor="t">
            <a:noAutofit/>
          </a:bodyPr>
          <a:lstStyle/>
          <a:p>
            <a:pPr algn="ctr"/>
            <a:r>
              <a:rPr lang="en-US" sz="2000" b="1" spc="0" dirty="0">
                <a:solidFill>
                  <a:srgbClr val="FFFFFF"/>
                </a:solidFill>
                <a:latin typeface="Aptos"/>
              </a:rPr>
              <a:t>old audit</a:t>
            </a:r>
          </a:p>
        </p:txBody>
      </p:sp>
      <p:sp>
        <p:nvSpPr>
          <p:cNvPr id="25" name="Dot 6"/>
          <p:cNvSpPr/>
          <p:nvPr/>
        </p:nvSpPr>
        <p:spPr>
          <a:xfrm>
            <a:off x="10612119" y="2766060"/>
            <a:ext cx="411480" cy="411480"/>
          </a:xfrm>
          <a:prstGeom prst="ellipse">
            <a:avLst/>
          </a:prstGeom>
          <a:solidFill>
            <a:srgbClr val="FF9F43"/>
          </a:solidFill>
          <a:ln w="38100">
            <a:solidFill>
              <a:srgbClr val="17181C"/>
            </a:solidFill>
          </a:ln>
          <a:effectLst>
            <a:glow rad="101600">
              <a:srgbClr val="FF9F43">
                <a:alpha val="35000"/>
              </a:srgbClr>
            </a:glow>
          </a:effectLst>
        </p:spPr>
        <p:txBody>
          <a:bodyPr wrap="none" lIns="0" tIns="0" rIns="0" bIns="0" anchor="ctr">
            <a:noAutofit/>
          </a:bodyPr>
          <a:lstStyle/>
          <a:p>
            <a:pPr algn="ctr"/>
            <a:r>
              <a:rPr lang="en-US" sz="1600" b="1" spc="0" dirty="0">
                <a:solidFill>
                  <a:srgbClr val="17181C"/>
                </a:solidFill>
                <a:latin typeface="Aptos"/>
              </a:rPr>
              <a:t>6</a:t>
            </a:r>
          </a:p>
        </p:txBody>
      </p:sp>
      <p:sp>
        <p:nvSpPr>
          <p:cNvPr id="26" name="Card 6"/>
          <p:cNvSpPr/>
          <p:nvPr/>
        </p:nvSpPr>
        <p:spPr>
          <a:xfrm>
            <a:off x="9942067" y="3406140"/>
            <a:ext cx="1751584" cy="2103120"/>
          </a:xfrm>
          <a:prstGeom prst="roundRect">
            <a:avLst>
              <a:gd name="adj" fmla="val 8000"/>
            </a:avLst>
          </a:prstGeom>
          <a:gradFill>
            <a:gsLst>
              <a:gs pos="0">
                <a:srgbClr val="3D322C"/>
              </a:gs>
              <a:gs pos="100000">
                <a:srgbClr val="222329"/>
              </a:gs>
            </a:gsLst>
            <a:lin ang="5400000" scaled="1"/>
          </a:gradFill>
          <a:ln w="15875">
            <a:solidFill>
              <a:srgbClr val="FF9F43">
                <a:alpha val="60000"/>
              </a:srgbClr>
            </a:solidFill>
          </a:ln>
        </p:spPr>
        <p:txBody>
          <a:bodyPr/>
          <a:lstStyle/>
          <a:p>
            <a:endParaRPr lang="en-US"/>
          </a:p>
        </p:txBody>
      </p:sp>
      <p:sp>
        <p:nvSpPr>
          <p:cNvPr id="27" name="Verb 6"/>
          <p:cNvSpPr txBox="1"/>
          <p:nvPr/>
        </p:nvSpPr>
        <p:spPr>
          <a:xfrm>
            <a:off x="10033507" y="4000500"/>
            <a:ext cx="1568704" cy="320040"/>
          </a:xfrm>
          <a:prstGeom prst="rect">
            <a:avLst/>
          </a:prstGeom>
          <a:noFill/>
        </p:spPr>
        <p:txBody>
          <a:bodyPr wrap="square" lIns="0" tIns="0" rIns="0" bIns="0" rtlCol="0" anchor="t">
            <a:noAutofit/>
          </a:bodyPr>
          <a:lstStyle/>
          <a:p>
            <a:pPr algn="ctr"/>
            <a:r>
              <a:rPr lang="en-US" sz="1600" b="1" spc="100" dirty="0">
                <a:solidFill>
                  <a:srgbClr val="FF9F43"/>
                </a:solidFill>
                <a:latin typeface="Aptos"/>
              </a:rPr>
              <a:t>COMMIT</a:t>
            </a:r>
          </a:p>
        </p:txBody>
      </p:sp>
      <p:sp>
        <p:nvSpPr>
          <p:cNvPr id="28" name="Object 6"/>
          <p:cNvSpPr txBox="1"/>
          <p:nvPr/>
        </p:nvSpPr>
        <p:spPr>
          <a:xfrm>
            <a:off x="9987787" y="4457700"/>
            <a:ext cx="1660144" cy="457200"/>
          </a:xfrm>
          <a:prstGeom prst="rect">
            <a:avLst/>
          </a:prstGeom>
          <a:noFill/>
        </p:spPr>
        <p:txBody>
          <a:bodyPr wrap="square" lIns="0" tIns="0" rIns="0" bIns="0" rtlCol="0" anchor="t">
            <a:noAutofit/>
          </a:bodyPr>
          <a:lstStyle/>
          <a:p>
            <a:pPr algn="ctr"/>
            <a:r>
              <a:rPr lang="en-US" sz="2000" b="1" spc="0" dirty="0">
                <a:solidFill>
                  <a:srgbClr val="FFFFFF"/>
                </a:solidFill>
                <a:latin typeface="Aptos"/>
              </a:rPr>
              <a:t>transaction</a:t>
            </a:r>
          </a:p>
        </p:txBody>
      </p:sp>
      <p:sp>
        <p:nvSpPr>
          <p:cNvPr id="29" name="Footer"/>
          <p:cNvSpPr txBox="1"/>
          <p:nvPr/>
        </p:nvSpPr>
        <p:spPr>
          <a:xfrm>
            <a:off x="502920" y="6510528"/>
            <a:ext cx="2377440" cy="164592"/>
          </a:xfrm>
          <a:prstGeom prst="rect">
            <a:avLst/>
          </a:prstGeom>
          <a:noFill/>
        </p:spPr>
        <p:txBody>
          <a:bodyPr wrap="square" lIns="0" tIns="0" rIns="0" bIns="0" rtlCol="0" anchor="t">
            <a:noAutofit/>
          </a:bodyPr>
          <a:lstStyle/>
          <a:p>
            <a:pPr algn="l"/>
            <a:r>
              <a:rPr lang="en-US" sz="750" b="1" spc="0" dirty="0">
                <a:solidFill>
                  <a:srgbClr val="AAAAAA"/>
                </a:solidFill>
                <a:latin typeface="Aptos"/>
              </a:rPr>
              <a:t>MY DISHONEST BENCHMARK</a:t>
            </a:r>
          </a:p>
        </p:txBody>
      </p:sp>
      <p:sp>
        <p:nvSpPr>
          <p:cNvPr id="30" name="Page"/>
          <p:cNvSpPr txBox="1"/>
          <p:nvPr/>
        </p:nvSpPr>
        <p:spPr>
          <a:xfrm>
            <a:off x="11155680" y="6473952"/>
            <a:ext cx="502920" cy="182880"/>
          </a:xfrm>
          <a:prstGeom prst="rect">
            <a:avLst/>
          </a:prstGeom>
          <a:noFill/>
        </p:spPr>
        <p:txBody>
          <a:bodyPr wrap="square" lIns="0" tIns="0" rIns="0" bIns="0" rtlCol="0" anchor="t">
            <a:noAutofit/>
          </a:bodyPr>
          <a:lstStyle/>
          <a:p>
            <a:pPr algn="r"/>
            <a:r>
              <a:rPr lang="en-US" sz="800" b="1" spc="0" dirty="0">
                <a:solidFill>
                  <a:srgbClr val="AAAAAA"/>
                </a:solidFill>
                <a:latin typeface="Aptos"/>
              </a:rPr>
              <a:t>13</a:t>
            </a:r>
          </a:p>
        </p:txBody>
      </p:sp>
    </p:spTree>
    <p:extLst>
      <p:ext uri="{BB962C8B-B14F-4D97-AF65-F5344CB8AC3E}">
        <p14:creationId xmlns:p14="http://schemas.microsoft.com/office/powerpoint/2010/main" val="2194643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11" name="Tag"/>
          <p:cNvSpPr txBox="1"/>
          <p:nvPr/>
        </p:nvSpPr>
        <p:spPr>
          <a:xfrm>
            <a:off x="497840" y="594360"/>
            <a:ext cx="2400300" cy="461010"/>
          </a:xfrm>
          <a:prstGeom prst="roundRect">
            <a:avLst/>
          </a:prstGeom>
          <a:solidFill>
            <a:srgbClr val="FF655C"/>
          </a:solidFill>
          <a:ln>
            <a:noFill/>
          </a:ln>
        </p:spPr>
        <p:txBody>
          <a:bodyPr wrap="none" lIns="0" tIns="0" rIns="0" bIns="0" anchor="ctr">
            <a:noAutofit/>
          </a:bodyPr>
          <a:lstStyle/>
          <a:p>
            <a:pPr algn="ctr"/>
            <a:r>
              <a:rPr lang="en-US" sz="3200" b="1" dirty="0">
                <a:solidFill>
                  <a:srgbClr val="17181C"/>
                </a:solidFill>
                <a:latin typeface="Aptos"/>
              </a:rPr>
              <a:t>PGBENCH</a:t>
            </a:r>
          </a:p>
        </p:txBody>
      </p:sp>
      <p:sp>
        <p:nvSpPr>
          <p:cNvPr id="12" name="Subtitle"/>
          <p:cNvSpPr txBox="1"/>
          <p:nvPr/>
        </p:nvSpPr>
        <p:spPr>
          <a:xfrm>
            <a:off x="497840" y="1188720"/>
            <a:ext cx="11195050" cy="548640"/>
          </a:xfrm>
          <a:prstGeom prst="rect">
            <a:avLst/>
          </a:prstGeom>
          <a:noFill/>
        </p:spPr>
        <p:txBody>
          <a:bodyPr wrap="square" lIns="0" tIns="0" rIns="0" bIns="0" rtlCol="0" anchor="ctr">
            <a:noAutofit/>
          </a:bodyPr>
          <a:lstStyle/>
          <a:p>
            <a:pPr algn="l"/>
            <a:r>
              <a:rPr lang="en-US" sz="2800" b="1" dirty="0">
                <a:solidFill>
                  <a:srgbClr val="FFFFFF"/>
                </a:solidFill>
                <a:latin typeface="Aptos Display"/>
              </a:rPr>
              <a:t>32 clients run this five-statement transaction for 120 seconds</a:t>
            </a:r>
          </a:p>
        </p:txBody>
      </p:sp>
      <p:sp>
        <p:nvSpPr>
          <p:cNvPr id="13" name="Code card 1"/>
          <p:cNvSpPr/>
          <p:nvPr/>
        </p:nvSpPr>
        <p:spPr>
          <a:xfrm>
            <a:off x="497840" y="1930400"/>
            <a:ext cx="3630083" cy="4241800"/>
          </a:xfrm>
          <a:prstGeom prst="roundRect">
            <a:avLst>
              <a:gd name="adj" fmla="val 4000"/>
            </a:avLst>
          </a:prstGeom>
          <a:solidFill>
            <a:srgbClr val="202127"/>
          </a:solidFill>
          <a:ln w="12700">
            <a:solidFill>
              <a:srgbClr val="3A3C45"/>
            </a:solidFill>
          </a:ln>
        </p:spPr>
        <p:txBody>
          <a:bodyPr/>
          <a:lstStyle/>
          <a:p>
            <a:endParaRPr lang="en-US"/>
          </a:p>
        </p:txBody>
      </p:sp>
      <p:sp>
        <p:nvSpPr>
          <p:cNvPr id="14" name="Card bar 1"/>
          <p:cNvSpPr/>
          <p:nvPr/>
        </p:nvSpPr>
        <p:spPr>
          <a:xfrm>
            <a:off x="675640" y="2133600"/>
            <a:ext cx="548640" cy="54610"/>
          </a:xfrm>
          <a:prstGeom prst="roundRect">
            <a:avLst>
              <a:gd name="adj" fmla="val 50000"/>
            </a:avLst>
          </a:prstGeom>
          <a:solidFill>
            <a:srgbClr val="00C2D6"/>
          </a:solidFill>
          <a:ln>
            <a:noFill/>
          </a:ln>
        </p:spPr>
        <p:txBody>
          <a:bodyPr/>
          <a:lstStyle/>
          <a:p>
            <a:endParaRPr lang="en-US"/>
          </a:p>
        </p:txBody>
      </p:sp>
      <p:sp>
        <p:nvSpPr>
          <p:cNvPr id="15" name="Card label 1"/>
          <p:cNvSpPr txBox="1"/>
          <p:nvPr/>
        </p:nvSpPr>
        <p:spPr>
          <a:xfrm>
            <a:off x="675640" y="2273300"/>
            <a:ext cx="3274483" cy="254000"/>
          </a:xfrm>
          <a:prstGeom prst="rect">
            <a:avLst/>
          </a:prstGeom>
          <a:noFill/>
        </p:spPr>
        <p:txBody>
          <a:bodyPr wrap="square" lIns="0" tIns="0" rIns="0" bIns="0" rtlCol="0" anchor="t">
            <a:noAutofit/>
          </a:bodyPr>
          <a:lstStyle/>
          <a:p>
            <a:pPr algn="l"/>
            <a:r>
              <a:rPr lang="en-US" sz="1400" b="1" spc="50" dirty="0">
                <a:solidFill>
                  <a:srgbClr val="FFFFFF"/>
                </a:solidFill>
                <a:latin typeface="Aptos"/>
              </a:rPr>
              <a:t>1  SETUP, READ, UPDATE</a:t>
            </a:r>
          </a:p>
        </p:txBody>
      </p:sp>
      <p:sp>
        <p:nvSpPr>
          <p:cNvPr id="16" name="Code 1"/>
          <p:cNvSpPr txBox="1"/>
          <p:nvPr/>
        </p:nvSpPr>
        <p:spPr>
          <a:xfrm>
            <a:off x="675640" y="2692400"/>
            <a:ext cx="3376083" cy="3327400"/>
          </a:xfrm>
          <a:prstGeom prst="rect">
            <a:avLst/>
          </a:prstGeom>
          <a:noFill/>
        </p:spPr>
        <p:txBody>
          <a:bodyPr wrap="none" lIns="0" tIns="0" rIns="0" bIns="0" rtlCol="0" anchor="t">
            <a:noAutofit/>
          </a:bodyPr>
          <a:lstStyle/>
          <a:p>
            <a:pPr>
              <a:lnSpc>
                <a:spcPct val="108000"/>
              </a:lnSpc>
            </a:pPr>
            <a:r>
              <a:rPr lang="en-US" sz="1500" i="1" dirty="0">
                <a:solidFill>
                  <a:srgbClr val="A3A8B4"/>
                </a:solidFill>
                <a:latin typeface="Consolas"/>
                <a:cs typeface="Consolas"/>
              </a:rPr>
              <a:t>-- pgbench script for tests</a:t>
            </a:r>
          </a:p>
          <a:p>
            <a:pPr>
              <a:lnSpc>
                <a:spcPct val="108000"/>
              </a:lnSpc>
            </a:pPr>
            <a:r>
              <a:rPr lang="en-US" sz="1500" b="1" dirty="0">
                <a:solidFill>
                  <a:srgbClr val="00C2D6"/>
                </a:solidFill>
                <a:latin typeface="Consolas"/>
                <a:cs typeface="Consolas"/>
              </a:rPr>
              <a:t>\set</a:t>
            </a:r>
            <a:r>
              <a:rPr lang="en-US" sz="1500" dirty="0">
                <a:solidFill>
                  <a:srgbClr val="D5D8E0"/>
                </a:solidFill>
                <a:latin typeface="Consolas"/>
                <a:cs typeface="Consolas"/>
              </a:rPr>
              <a:t> aid </a:t>
            </a:r>
            <a:r>
              <a:rPr lang="en-US" sz="1500" dirty="0">
                <a:solidFill>
                  <a:srgbClr val="F7C548"/>
                </a:solidFill>
                <a:latin typeface="Consolas"/>
                <a:cs typeface="Consolas"/>
              </a:rPr>
              <a:t>random</a:t>
            </a:r>
            <a:r>
              <a:rPr lang="en-US" sz="1500" dirty="0">
                <a:solidFill>
                  <a:srgbClr val="A3A8B4"/>
                </a:solidFill>
                <a:latin typeface="Consolas"/>
                <a:cs typeface="Consolas"/>
              </a:rPr>
              <a:t>(</a:t>
            </a:r>
            <a:r>
              <a:rPr lang="en-US" sz="1500" dirty="0">
                <a:solidFill>
                  <a:srgbClr val="AEE057"/>
                </a:solidFill>
                <a:latin typeface="Consolas"/>
                <a:cs typeface="Consolas"/>
              </a:rPr>
              <a:t>1</a:t>
            </a:r>
            <a:r>
              <a:rPr lang="en-US" sz="1500" dirty="0">
                <a:solidFill>
                  <a:srgbClr val="A3A8B4"/>
                </a:solidFill>
                <a:latin typeface="Consolas"/>
                <a:cs typeface="Consolas"/>
              </a:rPr>
              <a:t>,</a:t>
            </a:r>
            <a:r>
              <a:rPr lang="en-US" sz="1500" dirty="0">
                <a:solidFill>
                  <a:srgbClr val="D5D8E0"/>
                </a:solidFill>
                <a:latin typeface="Consolas"/>
                <a:cs typeface="Consolas"/>
              </a:rPr>
              <a:t> </a:t>
            </a:r>
            <a:r>
              <a:rPr lang="en-US" sz="1500" dirty="0">
                <a:solidFill>
                  <a:srgbClr val="AEE057"/>
                </a:solidFill>
                <a:latin typeface="Consolas"/>
                <a:cs typeface="Consolas"/>
              </a:rPr>
              <a:t>1000000</a:t>
            </a:r>
            <a:r>
              <a:rPr lang="en-US" sz="1500" dirty="0">
                <a:solidFill>
                  <a:srgbClr val="A3A8B4"/>
                </a:solidFill>
                <a:latin typeface="Consolas"/>
                <a:cs typeface="Consolas"/>
              </a:rPr>
              <a:t>)</a:t>
            </a:r>
          </a:p>
          <a:p>
            <a:pPr>
              <a:lnSpc>
                <a:spcPct val="108000"/>
              </a:lnSpc>
            </a:pPr>
            <a:r>
              <a:rPr lang="en-US" sz="1500" b="1" dirty="0">
                <a:solidFill>
                  <a:srgbClr val="00C2D6"/>
                </a:solidFill>
                <a:latin typeface="Consolas"/>
                <a:cs typeface="Consolas"/>
              </a:rPr>
              <a:t>\set</a:t>
            </a:r>
            <a:r>
              <a:rPr lang="en-US" sz="1500" dirty="0">
                <a:solidFill>
                  <a:srgbClr val="D5D8E0"/>
                </a:solidFill>
                <a:latin typeface="Consolas"/>
                <a:cs typeface="Consolas"/>
              </a:rPr>
              <a:t> delta </a:t>
            </a:r>
            <a:r>
              <a:rPr lang="en-US" sz="1500" dirty="0">
                <a:solidFill>
                  <a:srgbClr val="F7C548"/>
                </a:solidFill>
                <a:latin typeface="Consolas"/>
                <a:cs typeface="Consolas"/>
              </a:rPr>
              <a:t>random</a:t>
            </a:r>
            <a:r>
              <a:rPr lang="en-US" sz="1500" dirty="0">
                <a:solidFill>
                  <a:srgbClr val="A3A8B4"/>
                </a:solidFill>
                <a:latin typeface="Consolas"/>
                <a:cs typeface="Consolas"/>
              </a:rPr>
              <a:t>(</a:t>
            </a:r>
            <a:r>
              <a:rPr lang="en-US" sz="1500" dirty="0">
                <a:solidFill>
                  <a:srgbClr val="AEE057"/>
                </a:solidFill>
                <a:latin typeface="Consolas"/>
                <a:cs typeface="Consolas"/>
              </a:rPr>
              <a:t>-500</a:t>
            </a:r>
            <a:r>
              <a:rPr lang="en-US" sz="1500" dirty="0">
                <a:solidFill>
                  <a:srgbClr val="A3A8B4"/>
                </a:solidFill>
                <a:latin typeface="Consolas"/>
                <a:cs typeface="Consolas"/>
              </a:rPr>
              <a:t>,</a:t>
            </a:r>
            <a:r>
              <a:rPr lang="en-US" sz="1500" dirty="0">
                <a:solidFill>
                  <a:srgbClr val="D5D8E0"/>
                </a:solidFill>
                <a:latin typeface="Consolas"/>
                <a:cs typeface="Consolas"/>
              </a:rPr>
              <a:t> </a:t>
            </a:r>
            <a:r>
              <a:rPr lang="en-US" sz="1500" dirty="0">
                <a:solidFill>
                  <a:srgbClr val="AEE057"/>
                </a:solidFill>
                <a:latin typeface="Consolas"/>
                <a:cs typeface="Consolas"/>
              </a:rPr>
              <a:t>500</a:t>
            </a:r>
            <a:r>
              <a:rPr lang="en-US" sz="1500" dirty="0">
                <a:solidFill>
                  <a:srgbClr val="A3A8B4"/>
                </a:solidFill>
                <a:latin typeface="Consolas"/>
                <a:cs typeface="Consolas"/>
              </a:rPr>
              <a:t>)</a:t>
            </a:r>
          </a:p>
          <a:p>
            <a:pPr>
              <a:lnSpc>
                <a:spcPct val="108000"/>
              </a:lnSpc>
              <a:spcBef>
                <a:spcPts val="1000"/>
              </a:spcBef>
            </a:pPr>
            <a:r>
              <a:rPr lang="en-US" sz="1500" b="1" dirty="0">
                <a:solidFill>
                  <a:srgbClr val="00C2D6"/>
                </a:solidFill>
                <a:latin typeface="Consolas"/>
                <a:cs typeface="Consolas"/>
              </a:rPr>
              <a:t>BEGIN</a:t>
            </a:r>
            <a:r>
              <a:rPr lang="en-US" sz="1500" dirty="0">
                <a:solidFill>
                  <a:srgbClr val="A3A8B4"/>
                </a:solidFill>
                <a:latin typeface="Consolas"/>
                <a:cs typeface="Consolas"/>
              </a:rPr>
              <a:t>;</a:t>
            </a:r>
          </a:p>
          <a:p>
            <a:pPr>
              <a:lnSpc>
                <a:spcPct val="108000"/>
              </a:lnSpc>
              <a:spcBef>
                <a:spcPts val="1000"/>
              </a:spcBef>
            </a:pPr>
            <a:r>
              <a:rPr lang="en-US" sz="1500" b="1" dirty="0">
                <a:solidFill>
                  <a:srgbClr val="00C2D6"/>
                </a:solidFill>
                <a:latin typeface="Consolas"/>
                <a:cs typeface="Consolas"/>
              </a:rPr>
              <a:t>SELECT</a:t>
            </a:r>
            <a:r>
              <a:rPr lang="en-US" sz="1500" dirty="0">
                <a:solidFill>
                  <a:srgbClr val="D5D8E0"/>
                </a:solidFill>
                <a:latin typeface="Consolas"/>
                <a:cs typeface="Consolas"/>
              </a:rPr>
              <a:t> balance</a:t>
            </a:r>
          </a:p>
          <a:p>
            <a:pPr>
              <a:lnSpc>
                <a:spcPct val="108000"/>
              </a:lnSpc>
            </a:pPr>
            <a:r>
              <a:rPr lang="en-US" sz="1500" b="1" dirty="0">
                <a:solidFill>
                  <a:srgbClr val="00C2D6"/>
                </a:solidFill>
                <a:latin typeface="Consolas"/>
                <a:cs typeface="Consolas"/>
              </a:rPr>
              <a:t>FROM</a:t>
            </a:r>
            <a:r>
              <a:rPr lang="en-US" sz="1500" dirty="0">
                <a:solidFill>
                  <a:srgbClr val="D5D8E0"/>
                </a:solidFill>
                <a:latin typeface="Consolas"/>
                <a:cs typeface="Consolas"/>
              </a:rPr>
              <a:t> </a:t>
            </a:r>
            <a:r>
              <a:rPr lang="en-US" sz="1500" dirty="0">
                <a:solidFill>
                  <a:srgbClr val="FFFFFF"/>
                </a:solidFill>
                <a:latin typeface="Consolas"/>
                <a:cs typeface="Consolas"/>
              </a:rPr>
              <a:t>bench_accounts</a:t>
            </a:r>
          </a:p>
          <a:p>
            <a:pPr>
              <a:lnSpc>
                <a:spcPct val="108000"/>
              </a:lnSpc>
            </a:pPr>
            <a:r>
              <a:rPr lang="en-US" sz="1500" b="1" dirty="0">
                <a:solidFill>
                  <a:srgbClr val="00C2D6"/>
                </a:solidFill>
                <a:latin typeface="Consolas"/>
                <a:cs typeface="Consolas"/>
              </a:rPr>
              <a:t>WHERE</a:t>
            </a:r>
            <a:r>
              <a:rPr lang="en-US" sz="1500" dirty="0">
                <a:solidFill>
                  <a:srgbClr val="D5D8E0"/>
                </a:solidFill>
                <a:latin typeface="Consolas"/>
                <a:cs typeface="Consolas"/>
              </a:rPr>
              <a:t> account_id </a:t>
            </a:r>
            <a:r>
              <a:rPr lang="en-US" sz="1500" dirty="0">
                <a:solidFill>
                  <a:srgbClr val="A3A8B4"/>
                </a:solidFill>
                <a:latin typeface="Consolas"/>
                <a:cs typeface="Consolas"/>
              </a:rPr>
              <a:t>=</a:t>
            </a:r>
            <a:r>
              <a:rPr lang="en-US" sz="1500" dirty="0">
                <a:solidFill>
                  <a:srgbClr val="D5D8E0"/>
                </a:solidFill>
                <a:latin typeface="Consolas"/>
                <a:cs typeface="Consolas"/>
              </a:rPr>
              <a:t> </a:t>
            </a:r>
            <a:r>
              <a:rPr lang="en-US" sz="1500" dirty="0">
                <a:solidFill>
                  <a:srgbClr val="FF9F43"/>
                </a:solidFill>
                <a:latin typeface="Consolas"/>
                <a:cs typeface="Consolas"/>
              </a:rPr>
              <a:t>:aid</a:t>
            </a:r>
            <a:r>
              <a:rPr lang="en-US" sz="1500" dirty="0">
                <a:solidFill>
                  <a:srgbClr val="A3A8B4"/>
                </a:solidFill>
                <a:latin typeface="Consolas"/>
                <a:cs typeface="Consolas"/>
              </a:rPr>
              <a:t>;</a:t>
            </a:r>
          </a:p>
          <a:p>
            <a:pPr>
              <a:lnSpc>
                <a:spcPct val="108000"/>
              </a:lnSpc>
              <a:spcBef>
                <a:spcPts val="1000"/>
              </a:spcBef>
            </a:pPr>
            <a:r>
              <a:rPr lang="en-US" sz="1500" b="1" dirty="0">
                <a:solidFill>
                  <a:srgbClr val="00C2D6"/>
                </a:solidFill>
                <a:latin typeface="Consolas"/>
                <a:cs typeface="Consolas"/>
              </a:rPr>
              <a:t>UPDATE</a:t>
            </a:r>
            <a:r>
              <a:rPr lang="en-US" sz="1500" dirty="0">
                <a:solidFill>
                  <a:srgbClr val="D5D8E0"/>
                </a:solidFill>
                <a:latin typeface="Consolas"/>
                <a:cs typeface="Consolas"/>
              </a:rPr>
              <a:t> </a:t>
            </a:r>
            <a:r>
              <a:rPr lang="en-US" sz="1500" dirty="0">
                <a:solidFill>
                  <a:srgbClr val="FFFFFF"/>
                </a:solidFill>
                <a:latin typeface="Consolas"/>
                <a:cs typeface="Consolas"/>
              </a:rPr>
              <a:t>bench_accounts</a:t>
            </a:r>
          </a:p>
          <a:p>
            <a:pPr>
              <a:lnSpc>
                <a:spcPct val="108000"/>
              </a:lnSpc>
            </a:pPr>
            <a:r>
              <a:rPr lang="en-US" sz="1500" b="1" dirty="0">
                <a:solidFill>
                  <a:srgbClr val="00C2D6"/>
                </a:solidFill>
                <a:latin typeface="Consolas"/>
                <a:cs typeface="Consolas"/>
              </a:rPr>
              <a:t>SET</a:t>
            </a:r>
            <a:r>
              <a:rPr lang="en-US" sz="1500" dirty="0">
                <a:solidFill>
                  <a:srgbClr val="D5D8E0"/>
                </a:solidFill>
                <a:latin typeface="Consolas"/>
                <a:cs typeface="Consolas"/>
              </a:rPr>
              <a:t> balance </a:t>
            </a:r>
            <a:r>
              <a:rPr lang="en-US" sz="1500" dirty="0">
                <a:solidFill>
                  <a:srgbClr val="A3A8B4"/>
                </a:solidFill>
                <a:latin typeface="Consolas"/>
                <a:cs typeface="Consolas"/>
              </a:rPr>
              <a:t>=</a:t>
            </a:r>
            <a:r>
              <a:rPr lang="en-US" sz="1500" dirty="0">
                <a:solidFill>
                  <a:srgbClr val="D5D8E0"/>
                </a:solidFill>
                <a:latin typeface="Consolas"/>
                <a:cs typeface="Consolas"/>
              </a:rPr>
              <a:t> balance </a:t>
            </a:r>
            <a:r>
              <a:rPr lang="en-US" sz="1500" dirty="0">
                <a:solidFill>
                  <a:srgbClr val="A3A8B4"/>
                </a:solidFill>
                <a:latin typeface="Consolas"/>
                <a:cs typeface="Consolas"/>
              </a:rPr>
              <a:t>+</a:t>
            </a:r>
            <a:r>
              <a:rPr lang="en-US" sz="1500" dirty="0">
                <a:solidFill>
                  <a:srgbClr val="D5D8E0"/>
                </a:solidFill>
                <a:latin typeface="Consolas"/>
                <a:cs typeface="Consolas"/>
              </a:rPr>
              <a:t> </a:t>
            </a:r>
            <a:r>
              <a:rPr lang="en-US" sz="1500" dirty="0">
                <a:solidFill>
                  <a:srgbClr val="FF9F43"/>
                </a:solidFill>
                <a:latin typeface="Consolas"/>
                <a:cs typeface="Consolas"/>
              </a:rPr>
              <a:t>:delta</a:t>
            </a:r>
          </a:p>
          <a:p>
            <a:pPr>
              <a:lnSpc>
                <a:spcPct val="108000"/>
              </a:lnSpc>
            </a:pPr>
            <a:r>
              <a:rPr lang="en-US" sz="1500" b="1" dirty="0">
                <a:solidFill>
                  <a:srgbClr val="00C2D6"/>
                </a:solidFill>
                <a:latin typeface="Consolas"/>
                <a:cs typeface="Consolas"/>
              </a:rPr>
              <a:t>WHERE</a:t>
            </a:r>
            <a:r>
              <a:rPr lang="en-US" sz="1500" dirty="0">
                <a:solidFill>
                  <a:srgbClr val="D5D8E0"/>
                </a:solidFill>
                <a:latin typeface="Consolas"/>
                <a:cs typeface="Consolas"/>
              </a:rPr>
              <a:t> account_id </a:t>
            </a:r>
            <a:r>
              <a:rPr lang="en-US" sz="1500" dirty="0">
                <a:solidFill>
                  <a:srgbClr val="A3A8B4"/>
                </a:solidFill>
                <a:latin typeface="Consolas"/>
                <a:cs typeface="Consolas"/>
              </a:rPr>
              <a:t>=</a:t>
            </a:r>
            <a:r>
              <a:rPr lang="en-US" sz="1500" dirty="0">
                <a:solidFill>
                  <a:srgbClr val="D5D8E0"/>
                </a:solidFill>
                <a:latin typeface="Consolas"/>
                <a:cs typeface="Consolas"/>
              </a:rPr>
              <a:t> </a:t>
            </a:r>
            <a:r>
              <a:rPr lang="en-US" sz="1500" dirty="0">
                <a:solidFill>
                  <a:srgbClr val="FF9F43"/>
                </a:solidFill>
                <a:latin typeface="Consolas"/>
                <a:cs typeface="Consolas"/>
              </a:rPr>
              <a:t>:aid</a:t>
            </a:r>
            <a:r>
              <a:rPr lang="en-US" sz="1500" dirty="0">
                <a:solidFill>
                  <a:srgbClr val="A3A8B4"/>
                </a:solidFill>
                <a:latin typeface="Consolas"/>
                <a:cs typeface="Consolas"/>
              </a:rPr>
              <a:t>;</a:t>
            </a:r>
          </a:p>
        </p:txBody>
      </p:sp>
      <p:sp>
        <p:nvSpPr>
          <p:cNvPr id="17" name="Code card 2"/>
          <p:cNvSpPr/>
          <p:nvPr/>
        </p:nvSpPr>
        <p:spPr>
          <a:xfrm>
            <a:off x="4280323" y="1930400"/>
            <a:ext cx="3630083" cy="4241800"/>
          </a:xfrm>
          <a:prstGeom prst="roundRect">
            <a:avLst>
              <a:gd name="adj" fmla="val 4000"/>
            </a:avLst>
          </a:prstGeom>
          <a:solidFill>
            <a:srgbClr val="202127"/>
          </a:solidFill>
          <a:ln w="12700">
            <a:solidFill>
              <a:srgbClr val="3A3C45"/>
            </a:solidFill>
          </a:ln>
        </p:spPr>
        <p:txBody>
          <a:bodyPr/>
          <a:lstStyle/>
          <a:p>
            <a:endParaRPr lang="en-US"/>
          </a:p>
        </p:txBody>
      </p:sp>
      <p:sp>
        <p:nvSpPr>
          <p:cNvPr id="18" name="Card bar 2"/>
          <p:cNvSpPr/>
          <p:nvPr/>
        </p:nvSpPr>
        <p:spPr>
          <a:xfrm>
            <a:off x="4458123" y="2133600"/>
            <a:ext cx="548640" cy="54610"/>
          </a:xfrm>
          <a:prstGeom prst="roundRect">
            <a:avLst>
              <a:gd name="adj" fmla="val 50000"/>
            </a:avLst>
          </a:prstGeom>
          <a:solidFill>
            <a:srgbClr val="F7C548"/>
          </a:solidFill>
          <a:ln>
            <a:noFill/>
          </a:ln>
        </p:spPr>
        <p:txBody>
          <a:bodyPr/>
          <a:lstStyle/>
          <a:p>
            <a:endParaRPr lang="en-US"/>
          </a:p>
        </p:txBody>
      </p:sp>
      <p:sp>
        <p:nvSpPr>
          <p:cNvPr id="19" name="Card label 2"/>
          <p:cNvSpPr txBox="1"/>
          <p:nvPr/>
        </p:nvSpPr>
        <p:spPr>
          <a:xfrm>
            <a:off x="4458123" y="2273300"/>
            <a:ext cx="3274483" cy="254000"/>
          </a:xfrm>
          <a:prstGeom prst="rect">
            <a:avLst/>
          </a:prstGeom>
          <a:noFill/>
        </p:spPr>
        <p:txBody>
          <a:bodyPr wrap="square" lIns="0" tIns="0" rIns="0" bIns="0" rtlCol="0" anchor="t">
            <a:noAutofit/>
          </a:bodyPr>
          <a:lstStyle/>
          <a:p>
            <a:pPr algn="l"/>
            <a:r>
              <a:rPr lang="en-US" sz="1400" b="1" spc="50" dirty="0">
                <a:solidFill>
                  <a:srgbClr val="FFFFFF"/>
                </a:solidFill>
                <a:latin typeface="Aptos"/>
              </a:rPr>
              <a:t>2  LEDGER AND AUDIT WRITES</a:t>
            </a:r>
          </a:p>
        </p:txBody>
      </p:sp>
      <p:sp>
        <p:nvSpPr>
          <p:cNvPr id="20" name="Code 2"/>
          <p:cNvSpPr txBox="1"/>
          <p:nvPr/>
        </p:nvSpPr>
        <p:spPr>
          <a:xfrm>
            <a:off x="4458123" y="2692400"/>
            <a:ext cx="3376083" cy="3327400"/>
          </a:xfrm>
          <a:prstGeom prst="rect">
            <a:avLst/>
          </a:prstGeom>
          <a:noFill/>
        </p:spPr>
        <p:txBody>
          <a:bodyPr wrap="none" lIns="0" tIns="0" rIns="0" bIns="0" rtlCol="0" anchor="t">
            <a:noAutofit/>
          </a:bodyPr>
          <a:lstStyle/>
          <a:p>
            <a:pPr>
              <a:lnSpc>
                <a:spcPct val="108000"/>
              </a:lnSpc>
            </a:pPr>
            <a:r>
              <a:rPr lang="en-US" sz="1500" b="1" dirty="0">
                <a:solidFill>
                  <a:srgbClr val="00C2D6"/>
                </a:solidFill>
                <a:latin typeface="Consolas"/>
                <a:cs typeface="Consolas"/>
              </a:rPr>
              <a:t>INSERT</a:t>
            </a:r>
            <a:r>
              <a:rPr lang="en-US" sz="1500" dirty="0">
                <a:solidFill>
                  <a:srgbClr val="D5D8E0"/>
                </a:solidFill>
                <a:latin typeface="Consolas"/>
                <a:cs typeface="Consolas"/>
              </a:rPr>
              <a:t> </a:t>
            </a:r>
            <a:r>
              <a:rPr lang="en-US" sz="1500" b="1" dirty="0">
                <a:solidFill>
                  <a:srgbClr val="00C2D6"/>
                </a:solidFill>
                <a:latin typeface="Consolas"/>
                <a:cs typeface="Consolas"/>
              </a:rPr>
              <a:t>INTO</a:t>
            </a:r>
            <a:r>
              <a:rPr lang="en-US" sz="1500" dirty="0">
                <a:solidFill>
                  <a:srgbClr val="D5D8E0"/>
                </a:solidFill>
                <a:latin typeface="Consolas"/>
                <a:cs typeface="Consolas"/>
              </a:rPr>
              <a:t> </a:t>
            </a:r>
            <a:r>
              <a:rPr lang="en-US" sz="1500" dirty="0">
                <a:solidFill>
                  <a:srgbClr val="FFFFFF"/>
                </a:solidFill>
                <a:latin typeface="Consolas"/>
                <a:cs typeface="Consolas"/>
              </a:rPr>
              <a:t>bench_ledger</a:t>
            </a:r>
          </a:p>
          <a:p>
            <a:pPr>
              <a:lnSpc>
                <a:spcPct val="108000"/>
              </a:lnSpc>
            </a:pPr>
            <a:r>
              <a:rPr lang="en-US" sz="1500" dirty="0">
                <a:solidFill>
                  <a:srgbClr val="D5D8E0"/>
                </a:solidFill>
                <a:latin typeface="Consolas"/>
                <a:cs typeface="Consolas"/>
              </a:rPr>
              <a:t>  </a:t>
            </a:r>
            <a:r>
              <a:rPr lang="en-US" sz="1500" dirty="0">
                <a:solidFill>
                  <a:srgbClr val="A3A8B4"/>
                </a:solidFill>
                <a:latin typeface="Consolas"/>
                <a:cs typeface="Consolas"/>
              </a:rPr>
              <a:t>(</a:t>
            </a:r>
            <a:r>
              <a:rPr lang="en-US" sz="1500" dirty="0">
                <a:solidFill>
                  <a:srgbClr val="D5D8E0"/>
                </a:solidFill>
                <a:latin typeface="Consolas"/>
                <a:cs typeface="Consolas"/>
              </a:rPr>
              <a:t>account_id</a:t>
            </a:r>
            <a:r>
              <a:rPr lang="en-US" sz="1500" dirty="0">
                <a:solidFill>
                  <a:srgbClr val="A3A8B4"/>
                </a:solidFill>
                <a:latin typeface="Consolas"/>
                <a:cs typeface="Consolas"/>
              </a:rPr>
              <a:t>,</a:t>
            </a:r>
            <a:r>
              <a:rPr lang="en-US" sz="1500" dirty="0">
                <a:solidFill>
                  <a:srgbClr val="D5D8E0"/>
                </a:solidFill>
                <a:latin typeface="Consolas"/>
                <a:cs typeface="Consolas"/>
              </a:rPr>
              <a:t> branch_id</a:t>
            </a:r>
            <a:r>
              <a:rPr lang="en-US" sz="1500" dirty="0">
                <a:solidFill>
                  <a:srgbClr val="A3A8B4"/>
                </a:solidFill>
                <a:latin typeface="Consolas"/>
                <a:cs typeface="Consolas"/>
              </a:rPr>
              <a:t>,</a:t>
            </a:r>
          </a:p>
          <a:p>
            <a:pPr>
              <a:lnSpc>
                <a:spcPct val="108000"/>
              </a:lnSpc>
            </a:pPr>
            <a:r>
              <a:rPr lang="en-US" sz="1500" dirty="0">
                <a:solidFill>
                  <a:srgbClr val="D5D8E0"/>
                </a:solidFill>
                <a:latin typeface="Consolas"/>
                <a:cs typeface="Consolas"/>
              </a:rPr>
              <a:t>   amount</a:t>
            </a:r>
            <a:r>
              <a:rPr lang="en-US" sz="1500" dirty="0">
                <a:solidFill>
                  <a:srgbClr val="A3A8B4"/>
                </a:solidFill>
                <a:latin typeface="Consolas"/>
                <a:cs typeface="Consolas"/>
              </a:rPr>
              <a:t>)</a:t>
            </a:r>
          </a:p>
          <a:p>
            <a:pPr>
              <a:lnSpc>
                <a:spcPct val="108000"/>
              </a:lnSpc>
            </a:pPr>
            <a:r>
              <a:rPr lang="en-US" sz="1500" b="1" dirty="0">
                <a:solidFill>
                  <a:srgbClr val="00C2D6"/>
                </a:solidFill>
                <a:latin typeface="Consolas"/>
                <a:cs typeface="Consolas"/>
              </a:rPr>
              <a:t>SELECT</a:t>
            </a:r>
            <a:r>
              <a:rPr lang="en-US" sz="1500" dirty="0">
                <a:solidFill>
                  <a:srgbClr val="D5D8E0"/>
                </a:solidFill>
                <a:latin typeface="Consolas"/>
                <a:cs typeface="Consolas"/>
              </a:rPr>
              <a:t> account_id</a:t>
            </a:r>
            <a:r>
              <a:rPr lang="en-US" sz="1500" dirty="0">
                <a:solidFill>
                  <a:srgbClr val="A3A8B4"/>
                </a:solidFill>
                <a:latin typeface="Consolas"/>
                <a:cs typeface="Consolas"/>
              </a:rPr>
              <a:t>,</a:t>
            </a:r>
            <a:r>
              <a:rPr lang="en-US" sz="1500" dirty="0">
                <a:solidFill>
                  <a:srgbClr val="D5D8E0"/>
                </a:solidFill>
                <a:latin typeface="Consolas"/>
                <a:cs typeface="Consolas"/>
              </a:rPr>
              <a:t> branch_id</a:t>
            </a:r>
            <a:r>
              <a:rPr lang="en-US" sz="1500" dirty="0">
                <a:solidFill>
                  <a:srgbClr val="A3A8B4"/>
                </a:solidFill>
                <a:latin typeface="Consolas"/>
                <a:cs typeface="Consolas"/>
              </a:rPr>
              <a:t>,</a:t>
            </a:r>
          </a:p>
          <a:p>
            <a:pPr>
              <a:lnSpc>
                <a:spcPct val="108000"/>
              </a:lnSpc>
            </a:pPr>
            <a:r>
              <a:rPr lang="en-US" sz="1500" dirty="0">
                <a:solidFill>
                  <a:srgbClr val="D5D8E0"/>
                </a:solidFill>
                <a:latin typeface="Consolas"/>
                <a:cs typeface="Consolas"/>
              </a:rPr>
              <a:t>       </a:t>
            </a:r>
            <a:r>
              <a:rPr lang="en-US" sz="1500" dirty="0">
                <a:solidFill>
                  <a:srgbClr val="FF9F43"/>
                </a:solidFill>
                <a:latin typeface="Consolas"/>
                <a:cs typeface="Consolas"/>
              </a:rPr>
              <a:t>:delta</a:t>
            </a:r>
          </a:p>
          <a:p>
            <a:pPr>
              <a:lnSpc>
                <a:spcPct val="108000"/>
              </a:lnSpc>
            </a:pPr>
            <a:r>
              <a:rPr lang="en-US" sz="1500" b="1" dirty="0">
                <a:solidFill>
                  <a:srgbClr val="00C2D6"/>
                </a:solidFill>
                <a:latin typeface="Consolas"/>
                <a:cs typeface="Consolas"/>
              </a:rPr>
              <a:t>FROM</a:t>
            </a:r>
            <a:r>
              <a:rPr lang="en-US" sz="1500" dirty="0">
                <a:solidFill>
                  <a:srgbClr val="D5D8E0"/>
                </a:solidFill>
                <a:latin typeface="Consolas"/>
                <a:cs typeface="Consolas"/>
              </a:rPr>
              <a:t> </a:t>
            </a:r>
            <a:r>
              <a:rPr lang="en-US" sz="1500" dirty="0">
                <a:solidFill>
                  <a:srgbClr val="FFFFFF"/>
                </a:solidFill>
                <a:latin typeface="Consolas"/>
                <a:cs typeface="Consolas"/>
              </a:rPr>
              <a:t>bench_accounts</a:t>
            </a:r>
          </a:p>
          <a:p>
            <a:pPr>
              <a:lnSpc>
                <a:spcPct val="108000"/>
              </a:lnSpc>
            </a:pPr>
            <a:r>
              <a:rPr lang="en-US" sz="1500" b="1" dirty="0">
                <a:solidFill>
                  <a:srgbClr val="00C2D6"/>
                </a:solidFill>
                <a:latin typeface="Consolas"/>
                <a:cs typeface="Consolas"/>
              </a:rPr>
              <a:t>WHERE</a:t>
            </a:r>
            <a:r>
              <a:rPr lang="en-US" sz="1500" dirty="0">
                <a:solidFill>
                  <a:srgbClr val="D5D8E0"/>
                </a:solidFill>
                <a:latin typeface="Consolas"/>
                <a:cs typeface="Consolas"/>
              </a:rPr>
              <a:t> account_id </a:t>
            </a:r>
            <a:r>
              <a:rPr lang="en-US" sz="1500" dirty="0">
                <a:solidFill>
                  <a:srgbClr val="A3A8B4"/>
                </a:solidFill>
                <a:latin typeface="Consolas"/>
                <a:cs typeface="Consolas"/>
              </a:rPr>
              <a:t>=</a:t>
            </a:r>
            <a:r>
              <a:rPr lang="en-US" sz="1500" dirty="0">
                <a:solidFill>
                  <a:srgbClr val="D5D8E0"/>
                </a:solidFill>
                <a:latin typeface="Consolas"/>
                <a:cs typeface="Consolas"/>
              </a:rPr>
              <a:t> </a:t>
            </a:r>
            <a:r>
              <a:rPr lang="en-US" sz="1500" dirty="0">
                <a:solidFill>
                  <a:srgbClr val="FF9F43"/>
                </a:solidFill>
                <a:latin typeface="Consolas"/>
                <a:cs typeface="Consolas"/>
              </a:rPr>
              <a:t>:aid</a:t>
            </a:r>
            <a:r>
              <a:rPr lang="en-US" sz="1500" dirty="0">
                <a:solidFill>
                  <a:srgbClr val="A3A8B4"/>
                </a:solidFill>
                <a:latin typeface="Consolas"/>
                <a:cs typeface="Consolas"/>
              </a:rPr>
              <a:t>;</a:t>
            </a:r>
          </a:p>
          <a:p>
            <a:pPr>
              <a:lnSpc>
                <a:spcPct val="108000"/>
              </a:lnSpc>
              <a:spcBef>
                <a:spcPts val="1000"/>
              </a:spcBef>
            </a:pPr>
            <a:r>
              <a:rPr lang="en-US" sz="1500" b="1" dirty="0">
                <a:solidFill>
                  <a:srgbClr val="00C2D6"/>
                </a:solidFill>
                <a:latin typeface="Consolas"/>
                <a:cs typeface="Consolas"/>
              </a:rPr>
              <a:t>INSERT</a:t>
            </a:r>
            <a:r>
              <a:rPr lang="en-US" sz="1500" dirty="0">
                <a:solidFill>
                  <a:srgbClr val="D5D8E0"/>
                </a:solidFill>
                <a:latin typeface="Consolas"/>
                <a:cs typeface="Consolas"/>
              </a:rPr>
              <a:t> </a:t>
            </a:r>
            <a:r>
              <a:rPr lang="en-US" sz="1500" b="1" dirty="0">
                <a:solidFill>
                  <a:srgbClr val="00C2D6"/>
                </a:solidFill>
                <a:latin typeface="Consolas"/>
                <a:cs typeface="Consolas"/>
              </a:rPr>
              <a:t>INTO</a:t>
            </a:r>
            <a:r>
              <a:rPr lang="en-US" sz="1500" dirty="0">
                <a:solidFill>
                  <a:srgbClr val="D5D8E0"/>
                </a:solidFill>
                <a:latin typeface="Consolas"/>
                <a:cs typeface="Consolas"/>
              </a:rPr>
              <a:t> </a:t>
            </a:r>
            <a:r>
              <a:rPr lang="en-US" sz="1500" dirty="0">
                <a:solidFill>
                  <a:srgbClr val="FFFFFF"/>
                </a:solidFill>
                <a:latin typeface="Consolas"/>
                <a:cs typeface="Consolas"/>
              </a:rPr>
              <a:t>bench_audit</a:t>
            </a:r>
          </a:p>
          <a:p>
            <a:pPr>
              <a:lnSpc>
                <a:spcPct val="108000"/>
              </a:lnSpc>
            </a:pPr>
            <a:r>
              <a:rPr lang="en-US" sz="1500" dirty="0">
                <a:solidFill>
                  <a:srgbClr val="D5D8E0"/>
                </a:solidFill>
                <a:latin typeface="Consolas"/>
                <a:cs typeface="Consolas"/>
              </a:rPr>
              <a:t>  </a:t>
            </a:r>
            <a:r>
              <a:rPr lang="en-US" sz="1500" dirty="0">
                <a:solidFill>
                  <a:srgbClr val="A3A8B4"/>
                </a:solidFill>
                <a:latin typeface="Consolas"/>
                <a:cs typeface="Consolas"/>
              </a:rPr>
              <a:t>(</a:t>
            </a:r>
            <a:r>
              <a:rPr lang="en-US" sz="1500" dirty="0">
                <a:solidFill>
                  <a:srgbClr val="D5D8E0"/>
                </a:solidFill>
                <a:latin typeface="Consolas"/>
                <a:cs typeface="Consolas"/>
              </a:rPr>
              <a:t>account_id</a:t>
            </a:r>
            <a:r>
              <a:rPr lang="en-US" sz="1500" dirty="0">
                <a:solidFill>
                  <a:srgbClr val="A3A8B4"/>
                </a:solidFill>
                <a:latin typeface="Consolas"/>
                <a:cs typeface="Consolas"/>
              </a:rPr>
              <a:t>,</a:t>
            </a:r>
            <a:r>
              <a:rPr lang="en-US" sz="1500" dirty="0">
                <a:solidFill>
                  <a:srgbClr val="D5D8E0"/>
                </a:solidFill>
                <a:latin typeface="Consolas"/>
                <a:cs typeface="Consolas"/>
              </a:rPr>
              <a:t> action</a:t>
            </a:r>
            <a:r>
              <a:rPr lang="en-US" sz="1500" dirty="0">
                <a:solidFill>
                  <a:srgbClr val="A3A8B4"/>
                </a:solidFill>
                <a:latin typeface="Consolas"/>
                <a:cs typeface="Consolas"/>
              </a:rPr>
              <a:t>)</a:t>
            </a:r>
          </a:p>
          <a:p>
            <a:pPr>
              <a:lnSpc>
                <a:spcPct val="108000"/>
              </a:lnSpc>
            </a:pPr>
            <a:r>
              <a:rPr lang="en-US" sz="1500" b="1" dirty="0">
                <a:solidFill>
                  <a:srgbClr val="00C2D6"/>
                </a:solidFill>
                <a:latin typeface="Consolas"/>
                <a:cs typeface="Consolas"/>
              </a:rPr>
              <a:t>VALUES</a:t>
            </a:r>
            <a:r>
              <a:rPr lang="en-US" sz="1500" dirty="0">
                <a:solidFill>
                  <a:srgbClr val="D5D8E0"/>
                </a:solidFill>
                <a:latin typeface="Consolas"/>
                <a:cs typeface="Consolas"/>
              </a:rPr>
              <a:t> </a:t>
            </a:r>
            <a:r>
              <a:rPr lang="en-US" sz="1500" dirty="0">
                <a:solidFill>
                  <a:srgbClr val="A3A8B4"/>
                </a:solidFill>
                <a:latin typeface="Consolas"/>
                <a:cs typeface="Consolas"/>
              </a:rPr>
              <a:t>(</a:t>
            </a:r>
            <a:r>
              <a:rPr lang="en-US" sz="1500" dirty="0">
                <a:solidFill>
                  <a:srgbClr val="FF9F43"/>
                </a:solidFill>
                <a:latin typeface="Consolas"/>
                <a:cs typeface="Consolas"/>
              </a:rPr>
              <a:t>:aid</a:t>
            </a:r>
            <a:r>
              <a:rPr lang="en-US" sz="1500" dirty="0">
                <a:solidFill>
                  <a:srgbClr val="A3A8B4"/>
                </a:solidFill>
                <a:latin typeface="Consolas"/>
                <a:cs typeface="Consolas"/>
              </a:rPr>
              <a:t>,</a:t>
            </a:r>
            <a:r>
              <a:rPr lang="en-US" sz="1500" dirty="0">
                <a:solidFill>
                  <a:srgbClr val="D5D8E0"/>
                </a:solidFill>
                <a:latin typeface="Consolas"/>
                <a:cs typeface="Consolas"/>
              </a:rPr>
              <a:t> </a:t>
            </a:r>
            <a:r>
              <a:rPr lang="en-US" sz="1500" dirty="0">
                <a:solidFill>
                  <a:srgbClr val="FF655C"/>
                </a:solidFill>
                <a:latin typeface="Consolas"/>
                <a:cs typeface="Consolas"/>
              </a:rPr>
              <a:t>'debit_credit'</a:t>
            </a:r>
            <a:r>
              <a:rPr lang="en-US" sz="1500" dirty="0">
                <a:solidFill>
                  <a:srgbClr val="A3A8B4"/>
                </a:solidFill>
                <a:latin typeface="Consolas"/>
                <a:cs typeface="Consolas"/>
              </a:rPr>
              <a:t>);</a:t>
            </a:r>
          </a:p>
        </p:txBody>
      </p:sp>
      <p:sp>
        <p:nvSpPr>
          <p:cNvPr id="21" name="Code card 3"/>
          <p:cNvSpPr/>
          <p:nvPr/>
        </p:nvSpPr>
        <p:spPr>
          <a:xfrm>
            <a:off x="8062807" y="1930400"/>
            <a:ext cx="3630083" cy="4241800"/>
          </a:xfrm>
          <a:prstGeom prst="roundRect">
            <a:avLst>
              <a:gd name="adj" fmla="val 4000"/>
            </a:avLst>
          </a:prstGeom>
          <a:solidFill>
            <a:srgbClr val="202127"/>
          </a:solidFill>
          <a:ln w="12700">
            <a:solidFill>
              <a:srgbClr val="3A3C45"/>
            </a:solidFill>
          </a:ln>
        </p:spPr>
        <p:txBody>
          <a:bodyPr/>
          <a:lstStyle/>
          <a:p>
            <a:endParaRPr lang="en-US"/>
          </a:p>
        </p:txBody>
      </p:sp>
      <p:sp>
        <p:nvSpPr>
          <p:cNvPr id="22" name="Card bar 3"/>
          <p:cNvSpPr/>
          <p:nvPr/>
        </p:nvSpPr>
        <p:spPr>
          <a:xfrm>
            <a:off x="8240607" y="2133600"/>
            <a:ext cx="548640" cy="54610"/>
          </a:xfrm>
          <a:prstGeom prst="roundRect">
            <a:avLst>
              <a:gd name="adj" fmla="val 50000"/>
            </a:avLst>
          </a:prstGeom>
          <a:solidFill>
            <a:srgbClr val="AEE057"/>
          </a:solidFill>
          <a:ln>
            <a:noFill/>
          </a:ln>
        </p:spPr>
        <p:txBody>
          <a:bodyPr/>
          <a:lstStyle/>
          <a:p>
            <a:endParaRPr lang="en-US"/>
          </a:p>
        </p:txBody>
      </p:sp>
      <p:sp>
        <p:nvSpPr>
          <p:cNvPr id="23" name="Card label 3"/>
          <p:cNvSpPr txBox="1"/>
          <p:nvPr/>
        </p:nvSpPr>
        <p:spPr>
          <a:xfrm>
            <a:off x="8240607" y="2273300"/>
            <a:ext cx="3274483" cy="254000"/>
          </a:xfrm>
          <a:prstGeom prst="rect">
            <a:avLst/>
          </a:prstGeom>
          <a:noFill/>
        </p:spPr>
        <p:txBody>
          <a:bodyPr wrap="square" lIns="0" tIns="0" rIns="0" bIns="0" rtlCol="0" anchor="t">
            <a:noAutofit/>
          </a:bodyPr>
          <a:lstStyle/>
          <a:p>
            <a:pPr algn="l"/>
            <a:r>
              <a:rPr lang="en-US" sz="1400" b="1" spc="50" dirty="0">
                <a:solidFill>
                  <a:srgbClr val="FFFFFF"/>
                </a:solidFill>
                <a:latin typeface="Aptos"/>
              </a:rPr>
              <a:t>3  CLEANUP AND COMMIT</a:t>
            </a:r>
          </a:p>
        </p:txBody>
      </p:sp>
      <p:sp>
        <p:nvSpPr>
          <p:cNvPr id="24" name="Code 3"/>
          <p:cNvSpPr txBox="1"/>
          <p:nvPr/>
        </p:nvSpPr>
        <p:spPr>
          <a:xfrm>
            <a:off x="8240607" y="2692400"/>
            <a:ext cx="3376083" cy="3327400"/>
          </a:xfrm>
          <a:prstGeom prst="rect">
            <a:avLst/>
          </a:prstGeom>
          <a:noFill/>
        </p:spPr>
        <p:txBody>
          <a:bodyPr wrap="none" lIns="0" tIns="0" rIns="0" bIns="0" rtlCol="0" anchor="t">
            <a:noAutofit/>
          </a:bodyPr>
          <a:lstStyle/>
          <a:p>
            <a:pPr>
              <a:lnSpc>
                <a:spcPct val="108000"/>
              </a:lnSpc>
            </a:pPr>
            <a:r>
              <a:rPr lang="en-US" sz="1500" b="1" dirty="0">
                <a:solidFill>
                  <a:srgbClr val="00C2D6"/>
                </a:solidFill>
                <a:latin typeface="Consolas"/>
                <a:cs typeface="Consolas"/>
              </a:rPr>
              <a:t>DELETE</a:t>
            </a:r>
            <a:r>
              <a:rPr lang="en-US" sz="1500" dirty="0">
                <a:solidFill>
                  <a:srgbClr val="D5D8E0"/>
                </a:solidFill>
                <a:latin typeface="Consolas"/>
                <a:cs typeface="Consolas"/>
              </a:rPr>
              <a:t> </a:t>
            </a:r>
            <a:r>
              <a:rPr lang="en-US" sz="1500" b="1" dirty="0">
                <a:solidFill>
                  <a:srgbClr val="00C2D6"/>
                </a:solidFill>
                <a:latin typeface="Consolas"/>
                <a:cs typeface="Consolas"/>
              </a:rPr>
              <a:t>FROM</a:t>
            </a:r>
            <a:r>
              <a:rPr lang="en-US" sz="1500" dirty="0">
                <a:solidFill>
                  <a:srgbClr val="D5D8E0"/>
                </a:solidFill>
                <a:latin typeface="Consolas"/>
                <a:cs typeface="Consolas"/>
              </a:rPr>
              <a:t> </a:t>
            </a:r>
            <a:r>
              <a:rPr lang="en-US" sz="1500" dirty="0">
                <a:solidFill>
                  <a:srgbClr val="FFFFFF"/>
                </a:solidFill>
                <a:latin typeface="Consolas"/>
                <a:cs typeface="Consolas"/>
              </a:rPr>
              <a:t>bench_audit</a:t>
            </a:r>
          </a:p>
          <a:p>
            <a:pPr>
              <a:lnSpc>
                <a:spcPct val="108000"/>
              </a:lnSpc>
            </a:pPr>
            <a:r>
              <a:rPr lang="en-US" sz="1500" b="1" dirty="0">
                <a:solidFill>
                  <a:srgbClr val="00C2D6"/>
                </a:solidFill>
                <a:latin typeface="Consolas"/>
                <a:cs typeface="Consolas"/>
              </a:rPr>
              <a:t>WHERE</a:t>
            </a:r>
            <a:r>
              <a:rPr lang="en-US" sz="1500" dirty="0">
                <a:solidFill>
                  <a:srgbClr val="D5D8E0"/>
                </a:solidFill>
                <a:latin typeface="Consolas"/>
                <a:cs typeface="Consolas"/>
              </a:rPr>
              <a:t> audit_id </a:t>
            </a:r>
            <a:r>
              <a:rPr lang="en-US" sz="1500" b="1" dirty="0">
                <a:solidFill>
                  <a:srgbClr val="00C2D6"/>
                </a:solidFill>
                <a:latin typeface="Consolas"/>
                <a:cs typeface="Consolas"/>
              </a:rPr>
              <a:t>IN</a:t>
            </a:r>
            <a:r>
              <a:rPr lang="en-US" sz="1500" dirty="0">
                <a:solidFill>
                  <a:srgbClr val="D5D8E0"/>
                </a:solidFill>
                <a:latin typeface="Consolas"/>
                <a:cs typeface="Consolas"/>
              </a:rPr>
              <a:t> </a:t>
            </a:r>
            <a:r>
              <a:rPr lang="en-US" sz="1500" dirty="0">
                <a:solidFill>
                  <a:srgbClr val="A3A8B4"/>
                </a:solidFill>
                <a:latin typeface="Consolas"/>
                <a:cs typeface="Consolas"/>
              </a:rPr>
              <a:t>(</a:t>
            </a:r>
          </a:p>
          <a:p>
            <a:pPr>
              <a:lnSpc>
                <a:spcPct val="108000"/>
              </a:lnSpc>
            </a:pPr>
            <a:r>
              <a:rPr lang="en-US" sz="1500" dirty="0">
                <a:solidFill>
                  <a:srgbClr val="D5D8E0"/>
                </a:solidFill>
                <a:latin typeface="Consolas"/>
                <a:cs typeface="Consolas"/>
              </a:rPr>
              <a:t>  </a:t>
            </a:r>
            <a:r>
              <a:rPr lang="en-US" sz="1500" b="1" dirty="0">
                <a:solidFill>
                  <a:srgbClr val="00C2D6"/>
                </a:solidFill>
                <a:latin typeface="Consolas"/>
                <a:cs typeface="Consolas"/>
              </a:rPr>
              <a:t>SELECT</a:t>
            </a:r>
            <a:r>
              <a:rPr lang="en-US" sz="1500" dirty="0">
                <a:solidFill>
                  <a:srgbClr val="D5D8E0"/>
                </a:solidFill>
                <a:latin typeface="Consolas"/>
                <a:cs typeface="Consolas"/>
              </a:rPr>
              <a:t> audit_id</a:t>
            </a:r>
          </a:p>
          <a:p>
            <a:pPr>
              <a:lnSpc>
                <a:spcPct val="108000"/>
              </a:lnSpc>
            </a:pPr>
            <a:r>
              <a:rPr lang="en-US" sz="1500" dirty="0">
                <a:solidFill>
                  <a:srgbClr val="D5D8E0"/>
                </a:solidFill>
                <a:latin typeface="Consolas"/>
                <a:cs typeface="Consolas"/>
              </a:rPr>
              <a:t>  </a:t>
            </a:r>
            <a:r>
              <a:rPr lang="en-US" sz="1500" b="1" dirty="0">
                <a:solidFill>
                  <a:srgbClr val="00C2D6"/>
                </a:solidFill>
                <a:latin typeface="Consolas"/>
                <a:cs typeface="Consolas"/>
              </a:rPr>
              <a:t>FROM</a:t>
            </a:r>
            <a:r>
              <a:rPr lang="en-US" sz="1500" dirty="0">
                <a:solidFill>
                  <a:srgbClr val="D5D8E0"/>
                </a:solidFill>
                <a:latin typeface="Consolas"/>
                <a:cs typeface="Consolas"/>
              </a:rPr>
              <a:t> </a:t>
            </a:r>
            <a:r>
              <a:rPr lang="en-US" sz="1500" dirty="0">
                <a:solidFill>
                  <a:srgbClr val="FFFFFF"/>
                </a:solidFill>
                <a:latin typeface="Consolas"/>
                <a:cs typeface="Consolas"/>
              </a:rPr>
              <a:t>bench_audit</a:t>
            </a:r>
          </a:p>
          <a:p>
            <a:pPr>
              <a:lnSpc>
                <a:spcPct val="108000"/>
              </a:lnSpc>
            </a:pPr>
            <a:r>
              <a:rPr lang="en-US" sz="1500" dirty="0">
                <a:solidFill>
                  <a:srgbClr val="D5D8E0"/>
                </a:solidFill>
                <a:latin typeface="Consolas"/>
                <a:cs typeface="Consolas"/>
              </a:rPr>
              <a:t>  </a:t>
            </a:r>
            <a:r>
              <a:rPr lang="en-US" sz="1500" b="1" dirty="0">
                <a:solidFill>
                  <a:srgbClr val="00C2D6"/>
                </a:solidFill>
                <a:latin typeface="Consolas"/>
                <a:cs typeface="Consolas"/>
              </a:rPr>
              <a:t>WHERE</a:t>
            </a:r>
            <a:r>
              <a:rPr lang="en-US" sz="1500" dirty="0">
                <a:solidFill>
                  <a:srgbClr val="D5D8E0"/>
                </a:solidFill>
                <a:latin typeface="Consolas"/>
                <a:cs typeface="Consolas"/>
              </a:rPr>
              <a:t> created_at </a:t>
            </a:r>
            <a:r>
              <a:rPr lang="en-US" sz="1500" dirty="0">
                <a:solidFill>
                  <a:srgbClr val="A3A8B4"/>
                </a:solidFill>
                <a:latin typeface="Consolas"/>
                <a:cs typeface="Consolas"/>
              </a:rPr>
              <a:t>&lt;</a:t>
            </a:r>
            <a:r>
              <a:rPr lang="en-US" sz="1500" dirty="0">
                <a:solidFill>
                  <a:srgbClr val="D5D8E0"/>
                </a:solidFill>
                <a:latin typeface="Consolas"/>
                <a:cs typeface="Consolas"/>
              </a:rPr>
              <a:t> </a:t>
            </a:r>
            <a:r>
              <a:rPr lang="en-US" sz="1500" dirty="0">
                <a:solidFill>
                  <a:srgbClr val="F7C548"/>
                </a:solidFill>
                <a:latin typeface="Consolas"/>
                <a:cs typeface="Consolas"/>
              </a:rPr>
              <a:t>now</a:t>
            </a:r>
            <a:r>
              <a:rPr lang="en-US" sz="1500" dirty="0">
                <a:solidFill>
                  <a:srgbClr val="A3A8B4"/>
                </a:solidFill>
                <a:latin typeface="Consolas"/>
                <a:cs typeface="Consolas"/>
              </a:rPr>
              <a:t>()</a:t>
            </a:r>
          </a:p>
          <a:p>
            <a:pPr>
              <a:lnSpc>
                <a:spcPct val="108000"/>
              </a:lnSpc>
            </a:pPr>
            <a:r>
              <a:rPr lang="en-US" sz="1500" dirty="0">
                <a:solidFill>
                  <a:srgbClr val="D5D8E0"/>
                </a:solidFill>
                <a:latin typeface="Consolas"/>
                <a:cs typeface="Consolas"/>
              </a:rPr>
              <a:t>    </a:t>
            </a:r>
            <a:r>
              <a:rPr lang="en-US" sz="1500" dirty="0">
                <a:solidFill>
                  <a:srgbClr val="A3A8B4"/>
                </a:solidFill>
                <a:latin typeface="Consolas"/>
                <a:cs typeface="Consolas"/>
              </a:rPr>
              <a:t>-</a:t>
            </a:r>
            <a:r>
              <a:rPr lang="en-US" sz="1500" dirty="0">
                <a:solidFill>
                  <a:srgbClr val="D5D8E0"/>
                </a:solidFill>
                <a:latin typeface="Consolas"/>
                <a:cs typeface="Consolas"/>
              </a:rPr>
              <a:t> </a:t>
            </a:r>
            <a:r>
              <a:rPr lang="en-US" sz="1500" b="1" dirty="0">
                <a:solidFill>
                  <a:srgbClr val="00C2D6"/>
                </a:solidFill>
                <a:latin typeface="Consolas"/>
                <a:cs typeface="Consolas"/>
              </a:rPr>
              <a:t>interval</a:t>
            </a:r>
            <a:r>
              <a:rPr lang="en-US" sz="1500" dirty="0">
                <a:solidFill>
                  <a:srgbClr val="D5D8E0"/>
                </a:solidFill>
                <a:latin typeface="Consolas"/>
                <a:cs typeface="Consolas"/>
              </a:rPr>
              <a:t> </a:t>
            </a:r>
            <a:r>
              <a:rPr lang="en-US" sz="1500" dirty="0">
                <a:solidFill>
                  <a:srgbClr val="FF655C"/>
                </a:solidFill>
                <a:latin typeface="Consolas"/>
                <a:cs typeface="Consolas"/>
              </a:rPr>
              <a:t>'10 minutes'</a:t>
            </a:r>
          </a:p>
          <a:p>
            <a:pPr>
              <a:lnSpc>
                <a:spcPct val="108000"/>
              </a:lnSpc>
            </a:pPr>
            <a:r>
              <a:rPr lang="en-US" sz="1500" dirty="0">
                <a:solidFill>
                  <a:srgbClr val="D5D8E0"/>
                </a:solidFill>
                <a:latin typeface="Consolas"/>
                <a:cs typeface="Consolas"/>
              </a:rPr>
              <a:t>  </a:t>
            </a:r>
            <a:r>
              <a:rPr lang="en-US" sz="1500" b="1" dirty="0">
                <a:solidFill>
                  <a:srgbClr val="00C2D6"/>
                </a:solidFill>
                <a:latin typeface="Consolas"/>
                <a:cs typeface="Consolas"/>
              </a:rPr>
              <a:t>ORDER</a:t>
            </a:r>
            <a:r>
              <a:rPr lang="en-US" sz="1500" dirty="0">
                <a:solidFill>
                  <a:srgbClr val="D5D8E0"/>
                </a:solidFill>
                <a:latin typeface="Consolas"/>
                <a:cs typeface="Consolas"/>
              </a:rPr>
              <a:t> </a:t>
            </a:r>
            <a:r>
              <a:rPr lang="en-US" sz="1500" b="1" dirty="0">
                <a:solidFill>
                  <a:srgbClr val="00C2D6"/>
                </a:solidFill>
                <a:latin typeface="Consolas"/>
                <a:cs typeface="Consolas"/>
              </a:rPr>
              <a:t>BY</a:t>
            </a:r>
            <a:r>
              <a:rPr lang="en-US" sz="1500" dirty="0">
                <a:solidFill>
                  <a:srgbClr val="D5D8E0"/>
                </a:solidFill>
                <a:latin typeface="Consolas"/>
                <a:cs typeface="Consolas"/>
              </a:rPr>
              <a:t> created_at</a:t>
            </a:r>
          </a:p>
          <a:p>
            <a:pPr>
              <a:lnSpc>
                <a:spcPct val="108000"/>
              </a:lnSpc>
            </a:pPr>
            <a:r>
              <a:rPr lang="en-US" sz="1500" dirty="0">
                <a:solidFill>
                  <a:srgbClr val="D5D8E0"/>
                </a:solidFill>
                <a:latin typeface="Consolas"/>
                <a:cs typeface="Consolas"/>
              </a:rPr>
              <a:t>  </a:t>
            </a:r>
            <a:r>
              <a:rPr lang="en-US" sz="1500" b="1" dirty="0">
                <a:solidFill>
                  <a:srgbClr val="00C2D6"/>
                </a:solidFill>
                <a:latin typeface="Consolas"/>
                <a:cs typeface="Consolas"/>
              </a:rPr>
              <a:t>LIMIT</a:t>
            </a:r>
            <a:r>
              <a:rPr lang="en-US" sz="1500" dirty="0">
                <a:solidFill>
                  <a:srgbClr val="D5D8E0"/>
                </a:solidFill>
                <a:latin typeface="Consolas"/>
                <a:cs typeface="Consolas"/>
              </a:rPr>
              <a:t> </a:t>
            </a:r>
            <a:r>
              <a:rPr lang="en-US" sz="1500" dirty="0">
                <a:solidFill>
                  <a:srgbClr val="AEE057"/>
                </a:solidFill>
                <a:latin typeface="Consolas"/>
                <a:cs typeface="Consolas"/>
              </a:rPr>
              <a:t>1</a:t>
            </a:r>
          </a:p>
          <a:p>
            <a:pPr>
              <a:lnSpc>
                <a:spcPct val="108000"/>
              </a:lnSpc>
            </a:pPr>
            <a:r>
              <a:rPr lang="en-US" sz="1500" dirty="0">
                <a:solidFill>
                  <a:srgbClr val="A3A8B4"/>
                </a:solidFill>
                <a:latin typeface="Consolas"/>
                <a:cs typeface="Consolas"/>
              </a:rPr>
              <a:t>);</a:t>
            </a:r>
          </a:p>
          <a:p>
            <a:pPr>
              <a:lnSpc>
                <a:spcPct val="108000"/>
              </a:lnSpc>
              <a:spcBef>
                <a:spcPts val="1000"/>
              </a:spcBef>
            </a:pPr>
            <a:r>
              <a:rPr lang="en-US" sz="1500" b="1" dirty="0">
                <a:solidFill>
                  <a:srgbClr val="00C2D6"/>
                </a:solidFill>
                <a:latin typeface="Consolas"/>
                <a:cs typeface="Consolas"/>
              </a:rPr>
              <a:t>COMMIT</a:t>
            </a:r>
            <a:r>
              <a:rPr lang="en-US" sz="1500" dirty="0">
                <a:solidFill>
                  <a:srgbClr val="A3A8B4"/>
                </a:solidFill>
                <a:latin typeface="Consolas"/>
                <a:cs typeface="Consolas"/>
              </a:rPr>
              <a:t>;</a:t>
            </a:r>
          </a:p>
        </p:txBody>
      </p:sp>
      <p:sp>
        <p:nvSpPr>
          <p:cNvPr id="25" name="Footer"/>
          <p:cNvSpPr txBox="1"/>
          <p:nvPr/>
        </p:nvSpPr>
        <p:spPr>
          <a:xfrm>
            <a:off x="502920" y="6510020"/>
            <a:ext cx="2377440" cy="165100"/>
          </a:xfrm>
          <a:prstGeom prst="rect">
            <a:avLst/>
          </a:prstGeom>
          <a:noFill/>
        </p:spPr>
        <p:txBody>
          <a:bodyPr wrap="square" lIns="0" tIns="0" rIns="0" bIns="0" rtlCol="0" anchor="t">
            <a:noAutofit/>
          </a:bodyPr>
          <a:lstStyle/>
          <a:p>
            <a:pPr algn="l"/>
            <a:r>
              <a:rPr lang="en-US" sz="750" b="1" dirty="0">
                <a:solidFill>
                  <a:srgbClr val="AAAAAA"/>
                </a:solidFill>
                <a:latin typeface="Aptos"/>
              </a:rPr>
              <a:t>MY DISHONEST BENCHMARK</a:t>
            </a:r>
          </a:p>
        </p:txBody>
      </p:sp>
      <p:sp>
        <p:nvSpPr>
          <p:cNvPr id="26" name="Page"/>
          <p:cNvSpPr txBox="1"/>
          <p:nvPr/>
        </p:nvSpPr>
        <p:spPr>
          <a:xfrm>
            <a:off x="11155680" y="6474460"/>
            <a:ext cx="502920" cy="182880"/>
          </a:xfrm>
          <a:prstGeom prst="rect">
            <a:avLst/>
          </a:prstGeom>
          <a:noFill/>
        </p:spPr>
        <p:txBody>
          <a:bodyPr wrap="square" lIns="0" tIns="0" rIns="0" bIns="0" rtlCol="0" anchor="t">
            <a:noAutofit/>
          </a:bodyPr>
          <a:lstStyle/>
          <a:p>
            <a:pPr algn="r"/>
            <a:r>
              <a:rPr lang="en-US" sz="800" b="1" dirty="0">
                <a:solidFill>
                  <a:srgbClr val="AAAAAA"/>
                </a:solidFill>
                <a:latin typeface="Aptos"/>
              </a:rPr>
              <a:t>16</a:t>
            </a:r>
          </a:p>
        </p:txBody>
      </p:sp>
    </p:spTree>
    <p:extLst>
      <p:ext uri="{BB962C8B-B14F-4D97-AF65-F5344CB8AC3E}">
        <p14:creationId xmlns:p14="http://schemas.microsoft.com/office/powerpoint/2010/main" val="9947622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11" name="Tag"/>
          <p:cNvSpPr txBox="1"/>
          <p:nvPr/>
        </p:nvSpPr>
        <p:spPr>
          <a:xfrm>
            <a:off x="497840" y="594360"/>
            <a:ext cx="2400300" cy="461010"/>
          </a:xfrm>
          <a:prstGeom prst="roundRect">
            <a:avLst/>
          </a:prstGeom>
          <a:solidFill>
            <a:srgbClr val="FF655C"/>
          </a:solidFill>
          <a:ln>
            <a:noFill/>
          </a:ln>
        </p:spPr>
        <p:txBody>
          <a:bodyPr wrap="none" lIns="0" tIns="0" rIns="0" bIns="0" anchor="ctr">
            <a:noAutofit/>
          </a:bodyPr>
          <a:lstStyle/>
          <a:p>
            <a:pPr algn="ctr"/>
            <a:r>
              <a:rPr lang="en-US" sz="3200" b="1" dirty="0">
                <a:solidFill>
                  <a:srgbClr val="17181C"/>
                </a:solidFill>
                <a:latin typeface="Aptos"/>
              </a:rPr>
              <a:t>PGBENCH</a:t>
            </a:r>
          </a:p>
        </p:txBody>
      </p:sp>
      <p:sp>
        <p:nvSpPr>
          <p:cNvPr id="12" name="Subtitle"/>
          <p:cNvSpPr txBox="1"/>
          <p:nvPr/>
        </p:nvSpPr>
        <p:spPr>
          <a:xfrm>
            <a:off x="497840" y="1188720"/>
            <a:ext cx="11195050" cy="548640"/>
          </a:xfrm>
          <a:prstGeom prst="rect">
            <a:avLst/>
          </a:prstGeom>
          <a:noFill/>
        </p:spPr>
        <p:txBody>
          <a:bodyPr wrap="square" lIns="0" tIns="0" rIns="0" bIns="0" rtlCol="0" anchor="ctr">
            <a:noAutofit/>
          </a:bodyPr>
          <a:lstStyle/>
          <a:p>
            <a:pPr algn="l"/>
            <a:r>
              <a:rPr lang="en-US" sz="2800" b="1" dirty="0">
                <a:solidFill>
                  <a:srgbClr val="FFFFFF"/>
                </a:solidFill>
                <a:latin typeface="Aptos Display"/>
              </a:rPr>
              <a:t>The run: 32 clients on 8 threads for 120 seconds</a:t>
            </a:r>
          </a:p>
        </p:txBody>
      </p:sp>
      <p:sp>
        <p:nvSpPr>
          <p:cNvPr id="13" name="Run card"/>
          <p:cNvSpPr/>
          <p:nvPr/>
        </p:nvSpPr>
        <p:spPr>
          <a:xfrm>
            <a:off x="497840" y="1930400"/>
            <a:ext cx="11195050" cy="1778000"/>
          </a:xfrm>
          <a:prstGeom prst="roundRect">
            <a:avLst>
              <a:gd name="adj" fmla="val 4000"/>
            </a:avLst>
          </a:prstGeom>
          <a:solidFill>
            <a:srgbClr val="202127"/>
          </a:solidFill>
          <a:ln w="12700">
            <a:solidFill>
              <a:srgbClr val="3A3C45"/>
            </a:solidFill>
          </a:ln>
        </p:spPr>
        <p:txBody>
          <a:bodyPr/>
          <a:lstStyle/>
          <a:p>
            <a:endParaRPr lang="en-US"/>
          </a:p>
        </p:txBody>
      </p:sp>
      <p:sp>
        <p:nvSpPr>
          <p:cNvPr id="14" name="Run bar"/>
          <p:cNvSpPr/>
          <p:nvPr/>
        </p:nvSpPr>
        <p:spPr>
          <a:xfrm>
            <a:off x="675640" y="2133600"/>
            <a:ext cx="548640" cy="54610"/>
          </a:xfrm>
          <a:prstGeom prst="roundRect">
            <a:avLst>
              <a:gd name="adj" fmla="val 50000"/>
            </a:avLst>
          </a:prstGeom>
          <a:solidFill>
            <a:srgbClr val="FF655C"/>
          </a:solidFill>
          <a:ln>
            <a:noFill/>
          </a:ln>
        </p:spPr>
        <p:txBody>
          <a:bodyPr/>
          <a:lstStyle/>
          <a:p>
            <a:endParaRPr lang="en-US"/>
          </a:p>
        </p:txBody>
      </p:sp>
      <p:sp>
        <p:nvSpPr>
          <p:cNvPr id="15" name="Run label"/>
          <p:cNvSpPr txBox="1"/>
          <p:nvPr/>
        </p:nvSpPr>
        <p:spPr>
          <a:xfrm>
            <a:off x="675640" y="2273300"/>
            <a:ext cx="3810000" cy="254000"/>
          </a:xfrm>
          <a:prstGeom prst="rect">
            <a:avLst/>
          </a:prstGeom>
          <a:noFill/>
        </p:spPr>
        <p:txBody>
          <a:bodyPr wrap="square" lIns="0" tIns="0" rIns="0" bIns="0" rtlCol="0" anchor="t">
            <a:noAutofit/>
          </a:bodyPr>
          <a:lstStyle/>
          <a:p>
            <a:pPr algn="l"/>
            <a:r>
              <a:rPr lang="en-US" sz="1400" b="1" spc="50" dirty="0">
                <a:solidFill>
                  <a:srgbClr val="FFFFFF"/>
                </a:solidFill>
                <a:latin typeface="Aptos"/>
              </a:rPr>
              <a:t>RUN COMMAND</a:t>
            </a:r>
          </a:p>
        </p:txBody>
      </p:sp>
      <p:sp>
        <p:nvSpPr>
          <p:cNvPr id="16" name="Run code"/>
          <p:cNvSpPr txBox="1"/>
          <p:nvPr/>
        </p:nvSpPr>
        <p:spPr>
          <a:xfrm>
            <a:off x="675640" y="2667000"/>
            <a:ext cx="10833100" cy="939800"/>
          </a:xfrm>
          <a:prstGeom prst="rect">
            <a:avLst/>
          </a:prstGeom>
          <a:noFill/>
        </p:spPr>
        <p:txBody>
          <a:bodyPr wrap="none" lIns="0" tIns="0" rIns="0" bIns="0" rtlCol="0" anchor="t">
            <a:noAutofit/>
          </a:bodyPr>
          <a:lstStyle/>
          <a:p>
            <a:pPr>
              <a:lnSpc>
                <a:spcPct val="110000"/>
              </a:lnSpc>
            </a:pPr>
            <a:r>
              <a:rPr lang="en-US" sz="1500" i="1" dirty="0">
                <a:solidFill>
                  <a:srgbClr val="A3A8B4"/>
                </a:solidFill>
                <a:latin typeface="Consolas"/>
                <a:cs typeface="Consolas"/>
              </a:rPr>
              <a:t>----*** Run pgbench ***----</a:t>
            </a:r>
          </a:p>
          <a:p>
            <a:pPr>
              <a:lnSpc>
                <a:spcPct val="110000"/>
              </a:lnSpc>
              <a:spcBef>
                <a:spcPts val="600"/>
              </a:spcBef>
            </a:pPr>
            <a:r>
              <a:rPr lang="en-US" sz="1800" b="1" dirty="0">
                <a:solidFill>
                  <a:srgbClr val="FFFFFF"/>
                </a:solidFill>
                <a:latin typeface="Consolas"/>
                <a:cs typeface="Consolas"/>
              </a:rPr>
              <a:t>pgbench</a:t>
            </a:r>
            <a:r>
              <a:rPr lang="en-US" sz="1800" dirty="0">
                <a:solidFill>
                  <a:srgbClr val="D5D8E0"/>
                </a:solidFill>
                <a:latin typeface="Consolas"/>
                <a:cs typeface="Consolas"/>
              </a:rPr>
              <a:t> </a:t>
            </a:r>
            <a:r>
              <a:rPr lang="en-US" sz="1800" b="1" dirty="0">
                <a:solidFill>
                  <a:srgbClr val="00C2D6"/>
                </a:solidFill>
                <a:latin typeface="Consolas"/>
                <a:cs typeface="Consolas"/>
              </a:rPr>
              <a:t>-n</a:t>
            </a:r>
            <a:r>
              <a:rPr lang="en-US" sz="1800" dirty="0">
                <a:solidFill>
                  <a:srgbClr val="D5D8E0"/>
                </a:solidFill>
                <a:latin typeface="Consolas"/>
                <a:cs typeface="Consolas"/>
              </a:rPr>
              <a:t> </a:t>
            </a:r>
            <a:r>
              <a:rPr lang="en-US" sz="1800" b="1" dirty="0">
                <a:solidFill>
                  <a:srgbClr val="00C2D6"/>
                </a:solidFill>
                <a:latin typeface="Consolas"/>
                <a:cs typeface="Consolas"/>
              </a:rPr>
              <a:t>-c</a:t>
            </a:r>
            <a:r>
              <a:rPr lang="en-US" sz="1800" dirty="0">
                <a:solidFill>
                  <a:srgbClr val="D5D8E0"/>
                </a:solidFill>
                <a:latin typeface="Consolas"/>
                <a:cs typeface="Consolas"/>
              </a:rPr>
              <a:t> </a:t>
            </a:r>
            <a:r>
              <a:rPr lang="en-US" sz="1800" dirty="0">
                <a:solidFill>
                  <a:srgbClr val="AEE057"/>
                </a:solidFill>
                <a:latin typeface="Consolas"/>
                <a:cs typeface="Consolas"/>
              </a:rPr>
              <a:t>32</a:t>
            </a:r>
            <a:r>
              <a:rPr lang="en-US" sz="1800" dirty="0">
                <a:solidFill>
                  <a:srgbClr val="D5D8E0"/>
                </a:solidFill>
                <a:latin typeface="Consolas"/>
                <a:cs typeface="Consolas"/>
              </a:rPr>
              <a:t> </a:t>
            </a:r>
            <a:r>
              <a:rPr lang="en-US" sz="1800" b="1" dirty="0">
                <a:solidFill>
                  <a:srgbClr val="00C2D6"/>
                </a:solidFill>
                <a:latin typeface="Consolas"/>
                <a:cs typeface="Consolas"/>
              </a:rPr>
              <a:t>-j</a:t>
            </a:r>
            <a:r>
              <a:rPr lang="en-US" sz="1800" dirty="0">
                <a:solidFill>
                  <a:srgbClr val="D5D8E0"/>
                </a:solidFill>
                <a:latin typeface="Consolas"/>
                <a:cs typeface="Consolas"/>
              </a:rPr>
              <a:t> </a:t>
            </a:r>
            <a:r>
              <a:rPr lang="en-US" sz="1800" dirty="0">
                <a:solidFill>
                  <a:srgbClr val="AEE057"/>
                </a:solidFill>
                <a:latin typeface="Consolas"/>
                <a:cs typeface="Consolas"/>
              </a:rPr>
              <a:t>8</a:t>
            </a:r>
            <a:r>
              <a:rPr lang="en-US" sz="1800" dirty="0">
                <a:solidFill>
                  <a:srgbClr val="D5D8E0"/>
                </a:solidFill>
                <a:latin typeface="Consolas"/>
                <a:cs typeface="Consolas"/>
              </a:rPr>
              <a:t> </a:t>
            </a:r>
            <a:r>
              <a:rPr lang="en-US" sz="1800" b="1" dirty="0">
                <a:solidFill>
                  <a:srgbClr val="00C2D6"/>
                </a:solidFill>
                <a:latin typeface="Consolas"/>
                <a:cs typeface="Consolas"/>
              </a:rPr>
              <a:t>-T</a:t>
            </a:r>
            <a:r>
              <a:rPr lang="en-US" sz="1800" dirty="0">
                <a:solidFill>
                  <a:srgbClr val="D5D8E0"/>
                </a:solidFill>
                <a:latin typeface="Consolas"/>
                <a:cs typeface="Consolas"/>
              </a:rPr>
              <a:t> </a:t>
            </a:r>
            <a:r>
              <a:rPr lang="en-US" sz="1800" dirty="0">
                <a:solidFill>
                  <a:srgbClr val="AEE057"/>
                </a:solidFill>
                <a:latin typeface="Consolas"/>
                <a:cs typeface="Consolas"/>
              </a:rPr>
              <a:t>120</a:t>
            </a:r>
            <a:r>
              <a:rPr lang="en-US" sz="1800" dirty="0">
                <a:solidFill>
                  <a:srgbClr val="D5D8E0"/>
                </a:solidFill>
                <a:latin typeface="Consolas"/>
                <a:cs typeface="Consolas"/>
              </a:rPr>
              <a:t> </a:t>
            </a:r>
            <a:r>
              <a:rPr lang="en-US" sz="1800" b="1" dirty="0">
                <a:solidFill>
                  <a:srgbClr val="00C2D6"/>
                </a:solidFill>
                <a:latin typeface="Consolas"/>
                <a:cs typeface="Consolas"/>
              </a:rPr>
              <a:t>--protocol=simple</a:t>
            </a:r>
            <a:r>
              <a:rPr lang="en-US" sz="1800" dirty="0">
                <a:solidFill>
                  <a:srgbClr val="D5D8E0"/>
                </a:solidFill>
                <a:latin typeface="Consolas"/>
                <a:cs typeface="Consolas"/>
              </a:rPr>
              <a:t> </a:t>
            </a:r>
            <a:r>
              <a:rPr lang="en-US" sz="1800" dirty="0">
                <a:solidFill>
                  <a:srgbClr val="A3A8B4"/>
                </a:solidFill>
                <a:latin typeface="Consolas"/>
                <a:cs typeface="Consolas"/>
              </a:rPr>
              <a:t>\</a:t>
            </a:r>
          </a:p>
          <a:p>
            <a:pPr>
              <a:lnSpc>
                <a:spcPct val="110000"/>
              </a:lnSpc>
            </a:pPr>
            <a:r>
              <a:rPr lang="en-US" sz="1800" dirty="0">
                <a:solidFill>
                  <a:srgbClr val="D5D8E0"/>
                </a:solidFill>
                <a:latin typeface="Consolas"/>
                <a:cs typeface="Consolas"/>
              </a:rPr>
              <a:t>  </a:t>
            </a:r>
            <a:r>
              <a:rPr lang="en-US" sz="1800" b="1" dirty="0">
                <a:solidFill>
                  <a:srgbClr val="00C2D6"/>
                </a:solidFill>
                <a:latin typeface="Consolas"/>
                <a:cs typeface="Consolas"/>
              </a:rPr>
              <a:t>-f</a:t>
            </a:r>
            <a:r>
              <a:rPr lang="en-US" sz="1800" dirty="0">
                <a:solidFill>
                  <a:srgbClr val="D5D8E0"/>
                </a:solidFill>
                <a:latin typeface="Consolas"/>
                <a:cs typeface="Consolas"/>
              </a:rPr>
              <a:t> </a:t>
            </a:r>
            <a:r>
              <a:rPr lang="en-US" sz="1800" dirty="0" err="1">
                <a:solidFill>
                  <a:srgbClr val="F7C548"/>
                </a:solidFill>
                <a:latin typeface="Consolas"/>
                <a:cs typeface="Consolas"/>
              </a:rPr>
              <a:t>indexed_baseline.sql</a:t>
            </a:r>
            <a:r>
              <a:rPr lang="en-US" sz="1800" dirty="0">
                <a:solidFill>
                  <a:srgbClr val="D5D8E0"/>
                </a:solidFill>
                <a:latin typeface="Consolas"/>
                <a:cs typeface="Consolas"/>
              </a:rPr>
              <a:t> </a:t>
            </a:r>
            <a:r>
              <a:rPr lang="en-US" sz="1800" b="1" dirty="0">
                <a:solidFill>
                  <a:srgbClr val="FFFFFF"/>
                </a:solidFill>
                <a:latin typeface="Consolas"/>
                <a:cs typeface="Consolas"/>
              </a:rPr>
              <a:t>pgbench_darkside</a:t>
            </a:r>
          </a:p>
        </p:txBody>
      </p:sp>
      <p:sp>
        <p:nvSpPr>
          <p:cNvPr id="17" name="Flags card"/>
          <p:cNvSpPr/>
          <p:nvPr/>
        </p:nvSpPr>
        <p:spPr>
          <a:xfrm>
            <a:off x="497840" y="3860800"/>
            <a:ext cx="11195050" cy="2311400"/>
          </a:xfrm>
          <a:prstGeom prst="roundRect">
            <a:avLst>
              <a:gd name="adj" fmla="val 4000"/>
            </a:avLst>
          </a:prstGeom>
          <a:solidFill>
            <a:srgbClr val="202127"/>
          </a:solidFill>
          <a:ln w="12700">
            <a:solidFill>
              <a:srgbClr val="3A3C45"/>
            </a:solidFill>
          </a:ln>
        </p:spPr>
        <p:txBody>
          <a:bodyPr/>
          <a:lstStyle/>
          <a:p>
            <a:endParaRPr lang="en-US"/>
          </a:p>
        </p:txBody>
      </p:sp>
      <p:sp>
        <p:nvSpPr>
          <p:cNvPr id="18" name="Flags bar"/>
          <p:cNvSpPr/>
          <p:nvPr/>
        </p:nvSpPr>
        <p:spPr>
          <a:xfrm>
            <a:off x="675640" y="4064000"/>
            <a:ext cx="548640" cy="54610"/>
          </a:xfrm>
          <a:prstGeom prst="roundRect">
            <a:avLst>
              <a:gd name="adj" fmla="val 50000"/>
            </a:avLst>
          </a:prstGeom>
          <a:solidFill>
            <a:srgbClr val="00C2D6"/>
          </a:solidFill>
          <a:ln>
            <a:noFill/>
          </a:ln>
        </p:spPr>
        <p:txBody>
          <a:bodyPr/>
          <a:lstStyle/>
          <a:p>
            <a:endParaRPr lang="en-US"/>
          </a:p>
        </p:txBody>
      </p:sp>
      <p:sp>
        <p:nvSpPr>
          <p:cNvPr id="19" name="Flags label"/>
          <p:cNvSpPr txBox="1"/>
          <p:nvPr/>
        </p:nvSpPr>
        <p:spPr>
          <a:xfrm>
            <a:off x="675640" y="4203700"/>
            <a:ext cx="3810000" cy="254000"/>
          </a:xfrm>
          <a:prstGeom prst="rect">
            <a:avLst/>
          </a:prstGeom>
          <a:noFill/>
        </p:spPr>
        <p:txBody>
          <a:bodyPr wrap="square" lIns="0" tIns="0" rIns="0" bIns="0" rtlCol="0" anchor="t">
            <a:noAutofit/>
          </a:bodyPr>
          <a:lstStyle/>
          <a:p>
            <a:pPr algn="l"/>
            <a:r>
              <a:rPr lang="en-US" sz="1400" b="1" spc="50" dirty="0">
                <a:solidFill>
                  <a:srgbClr val="FFFFFF"/>
                </a:solidFill>
                <a:latin typeface="Aptos"/>
              </a:rPr>
              <a:t>WHAT EACH FLAG DOES</a:t>
            </a:r>
          </a:p>
        </p:txBody>
      </p:sp>
      <p:sp>
        <p:nvSpPr>
          <p:cNvPr id="20" name="Flag 1"/>
          <p:cNvSpPr txBox="1"/>
          <p:nvPr/>
        </p:nvSpPr>
        <p:spPr>
          <a:xfrm>
            <a:off x="675640" y="4597400"/>
            <a:ext cx="2159000" cy="355600"/>
          </a:xfrm>
          <a:prstGeom prst="rect">
            <a:avLst/>
          </a:prstGeom>
          <a:noFill/>
        </p:spPr>
        <p:txBody>
          <a:bodyPr wrap="none" lIns="0" tIns="0" rIns="0" bIns="0" rtlCol="0" anchor="ctr">
            <a:noAutofit/>
          </a:bodyPr>
          <a:lstStyle/>
          <a:p>
            <a:r>
              <a:rPr lang="en-US" sz="1600" b="1" dirty="0">
                <a:solidFill>
                  <a:srgbClr val="00C2D6"/>
                </a:solidFill>
                <a:latin typeface="Consolas"/>
                <a:cs typeface="Consolas"/>
              </a:rPr>
              <a:t>-n</a:t>
            </a:r>
          </a:p>
        </p:txBody>
      </p:sp>
      <p:sp>
        <p:nvSpPr>
          <p:cNvPr id="21" name="Flag desc 1"/>
          <p:cNvSpPr txBox="1"/>
          <p:nvPr/>
        </p:nvSpPr>
        <p:spPr>
          <a:xfrm>
            <a:off x="2936240" y="4597400"/>
            <a:ext cx="3175000" cy="355600"/>
          </a:xfrm>
          <a:prstGeom prst="rect">
            <a:avLst/>
          </a:prstGeom>
          <a:noFill/>
        </p:spPr>
        <p:txBody>
          <a:bodyPr wrap="square" lIns="0" tIns="0" rIns="0" bIns="0" rtlCol="0" anchor="ctr">
            <a:noAutofit/>
          </a:bodyPr>
          <a:lstStyle/>
          <a:p>
            <a:r>
              <a:rPr lang="en-US" sz="1600" dirty="0">
                <a:solidFill>
                  <a:srgbClr val="D5D8E0"/>
                </a:solidFill>
                <a:latin typeface="Aptos"/>
                <a:cs typeface="Aptos"/>
              </a:rPr>
              <a:t>Skip the </a:t>
            </a:r>
            <a:r>
              <a:rPr lang="en-US" sz="1600" dirty="0" err="1">
                <a:solidFill>
                  <a:srgbClr val="D5D8E0"/>
                </a:solidFill>
                <a:latin typeface="Aptos"/>
                <a:cs typeface="Aptos"/>
              </a:rPr>
              <a:t>pgbench</a:t>
            </a:r>
            <a:r>
              <a:rPr lang="en-US" sz="1600">
                <a:solidFill>
                  <a:srgbClr val="D5D8E0"/>
                </a:solidFill>
                <a:latin typeface="Aptos"/>
                <a:cs typeface="Aptos"/>
              </a:rPr>
              <a:t> pre-run </a:t>
            </a:r>
            <a:r>
              <a:rPr lang="en-US" sz="1600" dirty="0">
                <a:solidFill>
                  <a:srgbClr val="D5D8E0"/>
                </a:solidFill>
                <a:latin typeface="Aptos"/>
                <a:cs typeface="Aptos"/>
              </a:rPr>
              <a:t>vacuum</a:t>
            </a:r>
          </a:p>
        </p:txBody>
      </p:sp>
      <p:sp>
        <p:nvSpPr>
          <p:cNvPr id="22" name="Flag 2"/>
          <p:cNvSpPr txBox="1"/>
          <p:nvPr/>
        </p:nvSpPr>
        <p:spPr>
          <a:xfrm>
            <a:off x="675640" y="4953000"/>
            <a:ext cx="2159000" cy="355600"/>
          </a:xfrm>
          <a:prstGeom prst="rect">
            <a:avLst/>
          </a:prstGeom>
          <a:noFill/>
        </p:spPr>
        <p:txBody>
          <a:bodyPr wrap="none" lIns="0" tIns="0" rIns="0" bIns="0" rtlCol="0" anchor="ctr">
            <a:noAutofit/>
          </a:bodyPr>
          <a:lstStyle/>
          <a:p>
            <a:r>
              <a:rPr lang="en-US" sz="1600" b="1" dirty="0">
                <a:solidFill>
                  <a:srgbClr val="00C2D6"/>
                </a:solidFill>
                <a:latin typeface="Consolas"/>
                <a:cs typeface="Consolas"/>
              </a:rPr>
              <a:t>-c</a:t>
            </a:r>
            <a:r>
              <a:rPr lang="en-US" sz="1600" dirty="0">
                <a:solidFill>
                  <a:srgbClr val="D5D8E0"/>
                </a:solidFill>
                <a:latin typeface="Consolas"/>
                <a:cs typeface="Consolas"/>
              </a:rPr>
              <a:t> </a:t>
            </a:r>
            <a:r>
              <a:rPr lang="en-US" sz="1600" dirty="0">
                <a:solidFill>
                  <a:srgbClr val="AEE057"/>
                </a:solidFill>
                <a:latin typeface="Consolas"/>
                <a:cs typeface="Consolas"/>
              </a:rPr>
              <a:t>32</a:t>
            </a:r>
          </a:p>
        </p:txBody>
      </p:sp>
      <p:sp>
        <p:nvSpPr>
          <p:cNvPr id="23" name="Flag desc 2"/>
          <p:cNvSpPr txBox="1"/>
          <p:nvPr/>
        </p:nvSpPr>
        <p:spPr>
          <a:xfrm>
            <a:off x="2936240" y="4953000"/>
            <a:ext cx="3175000" cy="355600"/>
          </a:xfrm>
          <a:prstGeom prst="rect">
            <a:avLst/>
          </a:prstGeom>
          <a:noFill/>
        </p:spPr>
        <p:txBody>
          <a:bodyPr wrap="square" lIns="0" tIns="0" rIns="0" bIns="0" rtlCol="0" anchor="ctr">
            <a:noAutofit/>
          </a:bodyPr>
          <a:lstStyle/>
          <a:p>
            <a:r>
              <a:rPr lang="en-US" sz="1600" dirty="0">
                <a:solidFill>
                  <a:srgbClr val="D5D8E0"/>
                </a:solidFill>
                <a:latin typeface="Aptos"/>
                <a:cs typeface="Aptos"/>
              </a:rPr>
              <a:t>32 concurrent client sessions</a:t>
            </a:r>
          </a:p>
        </p:txBody>
      </p:sp>
      <p:sp>
        <p:nvSpPr>
          <p:cNvPr id="24" name="Flag 3"/>
          <p:cNvSpPr txBox="1"/>
          <p:nvPr/>
        </p:nvSpPr>
        <p:spPr>
          <a:xfrm>
            <a:off x="675640" y="5308600"/>
            <a:ext cx="2159000" cy="355600"/>
          </a:xfrm>
          <a:prstGeom prst="rect">
            <a:avLst/>
          </a:prstGeom>
          <a:noFill/>
        </p:spPr>
        <p:txBody>
          <a:bodyPr wrap="none" lIns="0" tIns="0" rIns="0" bIns="0" rtlCol="0" anchor="ctr">
            <a:noAutofit/>
          </a:bodyPr>
          <a:lstStyle/>
          <a:p>
            <a:r>
              <a:rPr lang="en-US" sz="1600" b="1" dirty="0">
                <a:solidFill>
                  <a:srgbClr val="00C2D6"/>
                </a:solidFill>
                <a:latin typeface="Consolas"/>
                <a:cs typeface="Consolas"/>
              </a:rPr>
              <a:t>-j</a:t>
            </a:r>
            <a:r>
              <a:rPr lang="en-US" sz="1600" dirty="0">
                <a:solidFill>
                  <a:srgbClr val="D5D8E0"/>
                </a:solidFill>
                <a:latin typeface="Consolas"/>
                <a:cs typeface="Consolas"/>
              </a:rPr>
              <a:t> </a:t>
            </a:r>
            <a:r>
              <a:rPr lang="en-US" sz="1600" dirty="0">
                <a:solidFill>
                  <a:srgbClr val="AEE057"/>
                </a:solidFill>
                <a:latin typeface="Consolas"/>
                <a:cs typeface="Consolas"/>
              </a:rPr>
              <a:t>8</a:t>
            </a:r>
          </a:p>
        </p:txBody>
      </p:sp>
      <p:sp>
        <p:nvSpPr>
          <p:cNvPr id="25" name="Flag desc 3"/>
          <p:cNvSpPr txBox="1"/>
          <p:nvPr/>
        </p:nvSpPr>
        <p:spPr>
          <a:xfrm>
            <a:off x="2936240" y="5308600"/>
            <a:ext cx="3175000" cy="355600"/>
          </a:xfrm>
          <a:prstGeom prst="rect">
            <a:avLst/>
          </a:prstGeom>
          <a:noFill/>
        </p:spPr>
        <p:txBody>
          <a:bodyPr wrap="square" lIns="0" tIns="0" rIns="0" bIns="0" rtlCol="0" anchor="ctr">
            <a:noAutofit/>
          </a:bodyPr>
          <a:lstStyle/>
          <a:p>
            <a:r>
              <a:rPr lang="en-US" sz="1600" dirty="0">
                <a:solidFill>
                  <a:srgbClr val="D5D8E0"/>
                </a:solidFill>
                <a:latin typeface="Aptos"/>
                <a:cs typeface="Aptos"/>
              </a:rPr>
              <a:t>8 worker threads</a:t>
            </a:r>
          </a:p>
        </p:txBody>
      </p:sp>
      <p:sp>
        <p:nvSpPr>
          <p:cNvPr id="26" name="Flag 4"/>
          <p:cNvSpPr txBox="1"/>
          <p:nvPr/>
        </p:nvSpPr>
        <p:spPr>
          <a:xfrm>
            <a:off x="675640" y="5664200"/>
            <a:ext cx="2159000" cy="355600"/>
          </a:xfrm>
          <a:prstGeom prst="rect">
            <a:avLst/>
          </a:prstGeom>
          <a:noFill/>
        </p:spPr>
        <p:txBody>
          <a:bodyPr wrap="none" lIns="0" tIns="0" rIns="0" bIns="0" rtlCol="0" anchor="ctr">
            <a:noAutofit/>
          </a:bodyPr>
          <a:lstStyle/>
          <a:p>
            <a:r>
              <a:rPr lang="en-US" sz="1600" b="1" dirty="0">
                <a:solidFill>
                  <a:srgbClr val="00C2D6"/>
                </a:solidFill>
                <a:latin typeface="Consolas"/>
                <a:cs typeface="Consolas"/>
              </a:rPr>
              <a:t>-T</a:t>
            </a:r>
            <a:r>
              <a:rPr lang="en-US" sz="1600" dirty="0">
                <a:solidFill>
                  <a:srgbClr val="D5D8E0"/>
                </a:solidFill>
                <a:latin typeface="Consolas"/>
                <a:cs typeface="Consolas"/>
              </a:rPr>
              <a:t> </a:t>
            </a:r>
            <a:r>
              <a:rPr lang="en-US" sz="1600" dirty="0">
                <a:solidFill>
                  <a:srgbClr val="AEE057"/>
                </a:solidFill>
                <a:latin typeface="Consolas"/>
                <a:cs typeface="Consolas"/>
              </a:rPr>
              <a:t>120</a:t>
            </a:r>
          </a:p>
        </p:txBody>
      </p:sp>
      <p:sp>
        <p:nvSpPr>
          <p:cNvPr id="27" name="Flag desc 4"/>
          <p:cNvSpPr txBox="1"/>
          <p:nvPr/>
        </p:nvSpPr>
        <p:spPr>
          <a:xfrm>
            <a:off x="2936240" y="5664200"/>
            <a:ext cx="3175000" cy="355600"/>
          </a:xfrm>
          <a:prstGeom prst="rect">
            <a:avLst/>
          </a:prstGeom>
          <a:noFill/>
        </p:spPr>
        <p:txBody>
          <a:bodyPr wrap="square" lIns="0" tIns="0" rIns="0" bIns="0" rtlCol="0" anchor="ctr">
            <a:noAutofit/>
          </a:bodyPr>
          <a:lstStyle/>
          <a:p>
            <a:r>
              <a:rPr lang="en-US" sz="1600" dirty="0">
                <a:solidFill>
                  <a:srgbClr val="D5D8E0"/>
                </a:solidFill>
                <a:latin typeface="Aptos"/>
                <a:cs typeface="Aptos"/>
              </a:rPr>
              <a:t>Run for 120 seconds</a:t>
            </a:r>
          </a:p>
        </p:txBody>
      </p:sp>
      <p:sp>
        <p:nvSpPr>
          <p:cNvPr id="28" name="Flag 5"/>
          <p:cNvSpPr txBox="1"/>
          <p:nvPr/>
        </p:nvSpPr>
        <p:spPr>
          <a:xfrm>
            <a:off x="6210300" y="4597400"/>
            <a:ext cx="2159000" cy="355600"/>
          </a:xfrm>
          <a:prstGeom prst="rect">
            <a:avLst/>
          </a:prstGeom>
          <a:noFill/>
        </p:spPr>
        <p:txBody>
          <a:bodyPr wrap="none" lIns="0" tIns="0" rIns="0" bIns="0" rtlCol="0" anchor="ctr">
            <a:noAutofit/>
          </a:bodyPr>
          <a:lstStyle/>
          <a:p>
            <a:r>
              <a:rPr lang="en-US" sz="1600" b="1" dirty="0">
                <a:solidFill>
                  <a:srgbClr val="00C2D6"/>
                </a:solidFill>
                <a:latin typeface="Consolas"/>
                <a:cs typeface="Consolas"/>
              </a:rPr>
              <a:t>--protocol=simple</a:t>
            </a:r>
          </a:p>
        </p:txBody>
      </p:sp>
      <p:sp>
        <p:nvSpPr>
          <p:cNvPr id="29" name="Flag desc 5"/>
          <p:cNvSpPr txBox="1"/>
          <p:nvPr/>
        </p:nvSpPr>
        <p:spPr>
          <a:xfrm>
            <a:off x="8470900" y="4597400"/>
            <a:ext cx="3175000" cy="355600"/>
          </a:xfrm>
          <a:prstGeom prst="rect">
            <a:avLst/>
          </a:prstGeom>
          <a:noFill/>
        </p:spPr>
        <p:txBody>
          <a:bodyPr wrap="square" lIns="0" tIns="0" rIns="0" bIns="0" rtlCol="0" anchor="ctr">
            <a:noAutofit/>
          </a:bodyPr>
          <a:lstStyle/>
          <a:p>
            <a:r>
              <a:rPr lang="en-US" sz="1600" dirty="0">
                <a:solidFill>
                  <a:srgbClr val="D5D8E0"/>
                </a:solidFill>
                <a:latin typeface="Aptos"/>
                <a:cs typeface="Aptos"/>
              </a:rPr>
              <a:t>Simple query protocol</a:t>
            </a:r>
          </a:p>
        </p:txBody>
      </p:sp>
      <p:sp>
        <p:nvSpPr>
          <p:cNvPr id="30" name="Flag 6"/>
          <p:cNvSpPr txBox="1"/>
          <p:nvPr/>
        </p:nvSpPr>
        <p:spPr>
          <a:xfrm>
            <a:off x="6210300" y="4953000"/>
            <a:ext cx="2159000" cy="355600"/>
          </a:xfrm>
          <a:prstGeom prst="rect">
            <a:avLst/>
          </a:prstGeom>
          <a:noFill/>
        </p:spPr>
        <p:txBody>
          <a:bodyPr wrap="none" lIns="0" tIns="0" rIns="0" bIns="0" rtlCol="0" anchor="ctr">
            <a:noAutofit/>
          </a:bodyPr>
          <a:lstStyle/>
          <a:p>
            <a:r>
              <a:rPr lang="en-US" sz="1600" b="1" dirty="0">
                <a:solidFill>
                  <a:srgbClr val="00C2D6"/>
                </a:solidFill>
                <a:latin typeface="Consolas"/>
                <a:cs typeface="Consolas"/>
              </a:rPr>
              <a:t>-f</a:t>
            </a:r>
          </a:p>
        </p:txBody>
      </p:sp>
      <p:sp>
        <p:nvSpPr>
          <p:cNvPr id="31" name="Flag desc 6"/>
          <p:cNvSpPr txBox="1"/>
          <p:nvPr/>
        </p:nvSpPr>
        <p:spPr>
          <a:xfrm>
            <a:off x="8470900" y="4953000"/>
            <a:ext cx="3175000" cy="355600"/>
          </a:xfrm>
          <a:prstGeom prst="rect">
            <a:avLst/>
          </a:prstGeom>
          <a:noFill/>
        </p:spPr>
        <p:txBody>
          <a:bodyPr wrap="square" lIns="0" tIns="0" rIns="0" bIns="0" rtlCol="0" anchor="ctr">
            <a:noAutofit/>
          </a:bodyPr>
          <a:lstStyle/>
          <a:p>
            <a:r>
              <a:rPr lang="en-US" sz="1600" dirty="0">
                <a:solidFill>
                  <a:srgbClr val="D5D8E0"/>
                </a:solidFill>
                <a:latin typeface="Aptos"/>
                <a:cs typeface="Aptos"/>
              </a:rPr>
              <a:t>Run the custom script file</a:t>
            </a:r>
          </a:p>
        </p:txBody>
      </p:sp>
      <p:sp>
        <p:nvSpPr>
          <p:cNvPr id="32" name="Flag 7"/>
          <p:cNvSpPr txBox="1"/>
          <p:nvPr/>
        </p:nvSpPr>
        <p:spPr>
          <a:xfrm>
            <a:off x="6210300" y="5308600"/>
            <a:ext cx="2159000" cy="355600"/>
          </a:xfrm>
          <a:prstGeom prst="rect">
            <a:avLst/>
          </a:prstGeom>
          <a:noFill/>
        </p:spPr>
        <p:txBody>
          <a:bodyPr wrap="none" lIns="0" tIns="0" rIns="0" bIns="0" rtlCol="0" anchor="ctr">
            <a:noAutofit/>
          </a:bodyPr>
          <a:lstStyle/>
          <a:p>
            <a:r>
              <a:rPr lang="en-US" sz="1600" b="1" dirty="0">
                <a:solidFill>
                  <a:srgbClr val="FFFFFF"/>
                </a:solidFill>
                <a:latin typeface="Consolas"/>
                <a:cs typeface="Consolas"/>
              </a:rPr>
              <a:t>pgbench_darkside</a:t>
            </a:r>
          </a:p>
        </p:txBody>
      </p:sp>
      <p:sp>
        <p:nvSpPr>
          <p:cNvPr id="33" name="Flag desc 7"/>
          <p:cNvSpPr txBox="1"/>
          <p:nvPr/>
        </p:nvSpPr>
        <p:spPr>
          <a:xfrm>
            <a:off x="8470900" y="5308600"/>
            <a:ext cx="3175000" cy="355600"/>
          </a:xfrm>
          <a:prstGeom prst="rect">
            <a:avLst/>
          </a:prstGeom>
          <a:noFill/>
        </p:spPr>
        <p:txBody>
          <a:bodyPr wrap="square" lIns="0" tIns="0" rIns="0" bIns="0" rtlCol="0" anchor="ctr">
            <a:noAutofit/>
          </a:bodyPr>
          <a:lstStyle/>
          <a:p>
            <a:r>
              <a:rPr lang="en-US" sz="1600" dirty="0">
                <a:solidFill>
                  <a:srgbClr val="D5D8E0"/>
                </a:solidFill>
                <a:latin typeface="Aptos"/>
                <a:cs typeface="Aptos"/>
              </a:rPr>
              <a:t>Target database</a:t>
            </a:r>
          </a:p>
        </p:txBody>
      </p:sp>
      <p:sp>
        <p:nvSpPr>
          <p:cNvPr id="34" name="Footer"/>
          <p:cNvSpPr txBox="1"/>
          <p:nvPr/>
        </p:nvSpPr>
        <p:spPr>
          <a:xfrm>
            <a:off x="502920" y="6510020"/>
            <a:ext cx="2377440" cy="165100"/>
          </a:xfrm>
          <a:prstGeom prst="rect">
            <a:avLst/>
          </a:prstGeom>
          <a:noFill/>
        </p:spPr>
        <p:txBody>
          <a:bodyPr wrap="square" lIns="0" tIns="0" rIns="0" bIns="0" rtlCol="0" anchor="t">
            <a:noAutofit/>
          </a:bodyPr>
          <a:lstStyle/>
          <a:p>
            <a:pPr algn="l"/>
            <a:r>
              <a:rPr lang="en-US" sz="750" b="1" dirty="0">
                <a:solidFill>
                  <a:srgbClr val="AAAAAA"/>
                </a:solidFill>
                <a:latin typeface="Aptos"/>
              </a:rPr>
              <a:t>MY DISHONEST BENCHMARK</a:t>
            </a:r>
          </a:p>
        </p:txBody>
      </p:sp>
      <p:sp>
        <p:nvSpPr>
          <p:cNvPr id="35" name="Page"/>
          <p:cNvSpPr txBox="1"/>
          <p:nvPr/>
        </p:nvSpPr>
        <p:spPr>
          <a:xfrm>
            <a:off x="11155680" y="6474460"/>
            <a:ext cx="502920" cy="182880"/>
          </a:xfrm>
          <a:prstGeom prst="rect">
            <a:avLst/>
          </a:prstGeom>
          <a:noFill/>
        </p:spPr>
        <p:txBody>
          <a:bodyPr wrap="square" lIns="0" tIns="0" rIns="0" bIns="0" rtlCol="0" anchor="t">
            <a:noAutofit/>
          </a:bodyPr>
          <a:lstStyle/>
          <a:p>
            <a:pPr algn="r"/>
            <a:r>
              <a:rPr lang="en-US" sz="800" b="1" dirty="0">
                <a:solidFill>
                  <a:srgbClr val="AAAAAA"/>
                </a:solidFill>
                <a:latin typeface="Aptos"/>
              </a:rPr>
              <a:t>17</a:t>
            </a:r>
          </a:p>
        </p:txBody>
      </p:sp>
    </p:spTree>
    <p:extLst>
      <p:ext uri="{BB962C8B-B14F-4D97-AF65-F5344CB8AC3E}">
        <p14:creationId xmlns:p14="http://schemas.microsoft.com/office/powerpoint/2010/main" val="19300011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 name="Tag"/>
          <p:cNvSpPr/>
          <p:nvPr/>
        </p:nvSpPr>
        <p:spPr>
          <a:xfrm>
            <a:off x="498347" y="594359"/>
            <a:ext cx="3200400" cy="460717"/>
          </a:xfrm>
          <a:prstGeom prst="roundRect">
            <a:avLst/>
          </a:prstGeom>
          <a:solidFill>
            <a:srgbClr val="FF655C"/>
          </a:solidFill>
          <a:ln>
            <a:noFill/>
          </a:ln>
        </p:spPr>
        <p:txBody>
          <a:bodyPr wrap="none" lIns="0" tIns="0" rIns="0" bIns="0" anchor="ctr">
            <a:noAutofit/>
          </a:bodyPr>
          <a:lstStyle/>
          <a:p>
            <a:pPr algn="ctr"/>
            <a:r>
              <a:rPr lang="en-US" sz="3200" b="1" dirty="0">
                <a:solidFill>
                  <a:srgbClr val="17181C"/>
                </a:solidFill>
                <a:latin typeface="Aptos"/>
              </a:rPr>
              <a:t>TEST SETUP</a:t>
            </a:r>
          </a:p>
        </p:txBody>
      </p:sp>
      <p:sp>
        <p:nvSpPr>
          <p:cNvPr id="3" name="Card 1"/>
          <p:cNvSpPr/>
          <p:nvPr/>
        </p:nvSpPr>
        <p:spPr>
          <a:xfrm>
            <a:off x="498347" y="1463040"/>
            <a:ext cx="3548889" cy="2057400"/>
          </a:xfrm>
          <a:prstGeom prst="roundRect">
            <a:avLst>
              <a:gd name="adj" fmla="val 7000"/>
            </a:avLst>
          </a:prstGeom>
          <a:gradFill rotWithShape="1">
            <a:gsLst>
              <a:gs pos="0">
                <a:srgbClr val="1D3941"/>
              </a:gs>
              <a:gs pos="100000">
                <a:srgbClr val="222329"/>
              </a:gs>
            </a:gsLst>
            <a:lin ang="5400000" scaled="0"/>
          </a:gradFill>
          <a:ln w="15875">
            <a:solidFill>
              <a:srgbClr val="00C2D6"/>
            </a:solidFill>
          </a:ln>
        </p:spPr>
        <p:txBody>
          <a:bodyPr/>
          <a:lstStyle/>
          <a:p>
            <a:endParaRPr lang="en-US"/>
          </a:p>
        </p:txBody>
      </p:sp>
      <p:sp>
        <p:nvSpPr>
          <p:cNvPr id="4" name="Bar 1"/>
          <p:cNvSpPr/>
          <p:nvPr/>
        </p:nvSpPr>
        <p:spPr>
          <a:xfrm>
            <a:off x="818387" y="1783080"/>
            <a:ext cx="548640" cy="54864"/>
          </a:xfrm>
          <a:prstGeom prst="roundRect">
            <a:avLst>
              <a:gd name="adj" fmla="val 50000"/>
            </a:avLst>
          </a:prstGeom>
          <a:solidFill>
            <a:srgbClr val="00C2D6"/>
          </a:solidFill>
          <a:ln>
            <a:noFill/>
          </a:ln>
        </p:spPr>
        <p:txBody>
          <a:bodyPr/>
          <a:lstStyle/>
          <a:p>
            <a:endParaRPr lang="en-GB"/>
          </a:p>
        </p:txBody>
      </p:sp>
      <p:sp>
        <p:nvSpPr>
          <p:cNvPr id="5" name="Value 1"/>
          <p:cNvSpPr txBox="1"/>
          <p:nvPr/>
        </p:nvSpPr>
        <p:spPr>
          <a:xfrm>
            <a:off x="818387" y="1965960"/>
            <a:ext cx="2908809" cy="822960"/>
          </a:xfrm>
          <a:prstGeom prst="rect">
            <a:avLst/>
          </a:prstGeom>
          <a:noFill/>
        </p:spPr>
        <p:txBody>
          <a:bodyPr wrap="none" lIns="0" tIns="0" rIns="0" bIns="0" rtlCol="0" anchor="b">
            <a:noAutofit/>
          </a:bodyPr>
          <a:lstStyle/>
          <a:p>
            <a:pPr algn="l"/>
            <a:r>
              <a:rPr lang="en-US" sz="4800" b="1" dirty="0">
                <a:solidFill>
                  <a:srgbClr val="00C2D6"/>
                </a:solidFill>
                <a:latin typeface="Aptos Display"/>
              </a:rPr>
              <a:t>100</a:t>
            </a:r>
          </a:p>
        </p:txBody>
      </p:sp>
      <p:sp>
        <p:nvSpPr>
          <p:cNvPr id="6" name="Label 1"/>
          <p:cNvSpPr txBox="1"/>
          <p:nvPr/>
        </p:nvSpPr>
        <p:spPr>
          <a:xfrm>
            <a:off x="818387" y="2926080"/>
            <a:ext cx="2908809" cy="365760"/>
          </a:xfrm>
          <a:prstGeom prst="rect">
            <a:avLst/>
          </a:prstGeom>
          <a:noFill/>
        </p:spPr>
        <p:txBody>
          <a:bodyPr wrap="square" lIns="0" tIns="0" rIns="0" bIns="0" rtlCol="0" anchor="t">
            <a:noAutofit/>
          </a:bodyPr>
          <a:lstStyle/>
          <a:p>
            <a:pPr algn="l"/>
            <a:r>
              <a:rPr lang="en-US" sz="1800" b="1" dirty="0">
                <a:solidFill>
                  <a:srgbClr val="FFFFFF"/>
                </a:solidFill>
                <a:latin typeface="Aptos"/>
              </a:rPr>
              <a:t>BRANCHES</a:t>
            </a:r>
          </a:p>
        </p:txBody>
      </p:sp>
      <p:sp>
        <p:nvSpPr>
          <p:cNvPr id="7" name="Card 2"/>
          <p:cNvSpPr/>
          <p:nvPr/>
        </p:nvSpPr>
        <p:spPr>
          <a:xfrm>
            <a:off x="4321556" y="1463040"/>
            <a:ext cx="3548889" cy="2057400"/>
          </a:xfrm>
          <a:prstGeom prst="roundRect">
            <a:avLst>
              <a:gd name="adj" fmla="val 7000"/>
            </a:avLst>
          </a:prstGeom>
          <a:gradFill rotWithShape="1">
            <a:gsLst>
              <a:gs pos="0">
                <a:srgbClr val="403A2D"/>
              </a:gs>
              <a:gs pos="100000">
                <a:srgbClr val="222329"/>
              </a:gs>
            </a:gsLst>
            <a:lin ang="5400000" scaled="0"/>
          </a:gradFill>
          <a:ln w="15875">
            <a:solidFill>
              <a:srgbClr val="F7C548"/>
            </a:solidFill>
          </a:ln>
        </p:spPr>
        <p:txBody>
          <a:bodyPr/>
          <a:lstStyle/>
          <a:p>
            <a:endParaRPr lang="en-US"/>
          </a:p>
        </p:txBody>
      </p:sp>
      <p:sp>
        <p:nvSpPr>
          <p:cNvPr id="8" name="Bar 2"/>
          <p:cNvSpPr/>
          <p:nvPr/>
        </p:nvSpPr>
        <p:spPr>
          <a:xfrm>
            <a:off x="4641596" y="1783080"/>
            <a:ext cx="548640" cy="54864"/>
          </a:xfrm>
          <a:prstGeom prst="roundRect">
            <a:avLst>
              <a:gd name="adj" fmla="val 50000"/>
            </a:avLst>
          </a:prstGeom>
          <a:solidFill>
            <a:srgbClr val="F7C548"/>
          </a:solidFill>
          <a:ln>
            <a:noFill/>
          </a:ln>
        </p:spPr>
        <p:txBody>
          <a:bodyPr/>
          <a:lstStyle/>
          <a:p>
            <a:endParaRPr lang="en-GB"/>
          </a:p>
        </p:txBody>
      </p:sp>
      <p:sp>
        <p:nvSpPr>
          <p:cNvPr id="9" name="Value 2"/>
          <p:cNvSpPr txBox="1"/>
          <p:nvPr/>
        </p:nvSpPr>
        <p:spPr>
          <a:xfrm>
            <a:off x="4641596" y="1965960"/>
            <a:ext cx="2908809" cy="822960"/>
          </a:xfrm>
          <a:prstGeom prst="rect">
            <a:avLst/>
          </a:prstGeom>
          <a:noFill/>
        </p:spPr>
        <p:txBody>
          <a:bodyPr wrap="none" lIns="0" tIns="0" rIns="0" bIns="0" rtlCol="0" anchor="b">
            <a:noAutofit/>
          </a:bodyPr>
          <a:lstStyle/>
          <a:p>
            <a:pPr algn="l"/>
            <a:r>
              <a:rPr lang="en-US" sz="4800" b="1" dirty="0">
                <a:solidFill>
                  <a:srgbClr val="F7C548"/>
                </a:solidFill>
                <a:latin typeface="Aptos Display"/>
              </a:rPr>
              <a:t>1,000,000</a:t>
            </a:r>
          </a:p>
        </p:txBody>
      </p:sp>
      <p:sp>
        <p:nvSpPr>
          <p:cNvPr id="10" name="Label 2"/>
          <p:cNvSpPr txBox="1"/>
          <p:nvPr/>
        </p:nvSpPr>
        <p:spPr>
          <a:xfrm>
            <a:off x="4641596" y="2926080"/>
            <a:ext cx="2908809" cy="365760"/>
          </a:xfrm>
          <a:prstGeom prst="rect">
            <a:avLst/>
          </a:prstGeom>
          <a:noFill/>
        </p:spPr>
        <p:txBody>
          <a:bodyPr wrap="square" lIns="0" tIns="0" rIns="0" bIns="0" rtlCol="0" anchor="t">
            <a:noAutofit/>
          </a:bodyPr>
          <a:lstStyle/>
          <a:p>
            <a:pPr algn="l"/>
            <a:r>
              <a:rPr lang="en-US" sz="1800" b="1" dirty="0">
                <a:solidFill>
                  <a:srgbClr val="FFFFFF"/>
                </a:solidFill>
                <a:latin typeface="Aptos"/>
              </a:rPr>
              <a:t>ACCOUNTS</a:t>
            </a:r>
          </a:p>
        </p:txBody>
      </p:sp>
      <p:sp>
        <p:nvSpPr>
          <p:cNvPr id="11" name="Card 3"/>
          <p:cNvSpPr/>
          <p:nvPr/>
        </p:nvSpPr>
        <p:spPr>
          <a:xfrm>
            <a:off x="8144765" y="1463040"/>
            <a:ext cx="3548889" cy="2057400"/>
          </a:xfrm>
          <a:prstGeom prst="roundRect">
            <a:avLst>
              <a:gd name="adj" fmla="val 7000"/>
            </a:avLst>
          </a:prstGeom>
          <a:gradFill rotWithShape="1">
            <a:gsLst>
              <a:gs pos="0">
                <a:srgbClr val="412C30"/>
              </a:gs>
              <a:gs pos="100000">
                <a:srgbClr val="222329"/>
              </a:gs>
            </a:gsLst>
            <a:lin ang="5400000" scaled="0"/>
          </a:gradFill>
          <a:ln w="15875">
            <a:solidFill>
              <a:srgbClr val="FF655C"/>
            </a:solidFill>
          </a:ln>
        </p:spPr>
        <p:txBody>
          <a:bodyPr/>
          <a:lstStyle/>
          <a:p>
            <a:endParaRPr lang="en-US"/>
          </a:p>
        </p:txBody>
      </p:sp>
      <p:sp>
        <p:nvSpPr>
          <p:cNvPr id="12" name="Bar 3"/>
          <p:cNvSpPr/>
          <p:nvPr/>
        </p:nvSpPr>
        <p:spPr>
          <a:xfrm>
            <a:off x="8464805" y="1783080"/>
            <a:ext cx="548640" cy="54864"/>
          </a:xfrm>
          <a:prstGeom prst="roundRect">
            <a:avLst>
              <a:gd name="adj" fmla="val 50000"/>
            </a:avLst>
          </a:prstGeom>
          <a:solidFill>
            <a:srgbClr val="FF655C"/>
          </a:solidFill>
          <a:ln>
            <a:noFill/>
          </a:ln>
        </p:spPr>
        <p:txBody>
          <a:bodyPr/>
          <a:lstStyle/>
          <a:p>
            <a:endParaRPr lang="en-GB"/>
          </a:p>
        </p:txBody>
      </p:sp>
      <p:sp>
        <p:nvSpPr>
          <p:cNvPr id="13" name="Value 3"/>
          <p:cNvSpPr txBox="1"/>
          <p:nvPr/>
        </p:nvSpPr>
        <p:spPr>
          <a:xfrm>
            <a:off x="8464805" y="1965960"/>
            <a:ext cx="2908809" cy="822960"/>
          </a:xfrm>
          <a:prstGeom prst="rect">
            <a:avLst/>
          </a:prstGeom>
          <a:noFill/>
        </p:spPr>
        <p:txBody>
          <a:bodyPr wrap="none" lIns="0" tIns="0" rIns="0" bIns="0" rtlCol="0" anchor="b">
            <a:noAutofit/>
          </a:bodyPr>
          <a:lstStyle/>
          <a:p>
            <a:pPr algn="l"/>
            <a:r>
              <a:rPr lang="en-US" sz="4800" b="1" dirty="0">
                <a:solidFill>
                  <a:srgbClr val="FF655C"/>
                </a:solidFill>
                <a:latin typeface="Aptos Display"/>
              </a:rPr>
              <a:t>32</a:t>
            </a:r>
          </a:p>
        </p:txBody>
      </p:sp>
      <p:sp>
        <p:nvSpPr>
          <p:cNvPr id="14" name="Label 3"/>
          <p:cNvSpPr txBox="1"/>
          <p:nvPr/>
        </p:nvSpPr>
        <p:spPr>
          <a:xfrm>
            <a:off x="8464805" y="2926080"/>
            <a:ext cx="2908809" cy="365760"/>
          </a:xfrm>
          <a:prstGeom prst="rect">
            <a:avLst/>
          </a:prstGeom>
          <a:noFill/>
        </p:spPr>
        <p:txBody>
          <a:bodyPr wrap="square" lIns="0" tIns="0" rIns="0" bIns="0" rtlCol="0" anchor="t">
            <a:noAutofit/>
          </a:bodyPr>
          <a:lstStyle/>
          <a:p>
            <a:pPr algn="l"/>
            <a:r>
              <a:rPr lang="en-US" sz="1800" b="1" dirty="0">
                <a:solidFill>
                  <a:srgbClr val="FFFFFF"/>
                </a:solidFill>
                <a:latin typeface="Aptos"/>
              </a:rPr>
              <a:t>CLIENTS</a:t>
            </a:r>
          </a:p>
        </p:txBody>
      </p:sp>
      <p:sp>
        <p:nvSpPr>
          <p:cNvPr id="15" name="Card 4"/>
          <p:cNvSpPr/>
          <p:nvPr/>
        </p:nvSpPr>
        <p:spPr>
          <a:xfrm>
            <a:off x="498347" y="3794760"/>
            <a:ext cx="3548889" cy="2057400"/>
          </a:xfrm>
          <a:prstGeom prst="roundRect">
            <a:avLst>
              <a:gd name="adj" fmla="val 7000"/>
            </a:avLst>
          </a:prstGeom>
          <a:gradFill rotWithShape="1">
            <a:gsLst>
              <a:gs pos="0">
                <a:srgbClr val="363D2F"/>
              </a:gs>
              <a:gs pos="100000">
                <a:srgbClr val="222329"/>
              </a:gs>
            </a:gsLst>
            <a:lin ang="5400000" scaled="0"/>
          </a:gradFill>
          <a:ln w="15875">
            <a:solidFill>
              <a:srgbClr val="AEE057"/>
            </a:solidFill>
          </a:ln>
        </p:spPr>
        <p:txBody>
          <a:bodyPr/>
          <a:lstStyle/>
          <a:p>
            <a:endParaRPr lang="en-US"/>
          </a:p>
        </p:txBody>
      </p:sp>
      <p:sp>
        <p:nvSpPr>
          <p:cNvPr id="16" name="Bar 4"/>
          <p:cNvSpPr/>
          <p:nvPr/>
        </p:nvSpPr>
        <p:spPr>
          <a:xfrm>
            <a:off x="818387" y="4114800"/>
            <a:ext cx="548640" cy="54864"/>
          </a:xfrm>
          <a:prstGeom prst="roundRect">
            <a:avLst>
              <a:gd name="adj" fmla="val 50000"/>
            </a:avLst>
          </a:prstGeom>
          <a:solidFill>
            <a:srgbClr val="AEE057"/>
          </a:solidFill>
          <a:ln>
            <a:noFill/>
          </a:ln>
        </p:spPr>
        <p:txBody>
          <a:bodyPr/>
          <a:lstStyle/>
          <a:p>
            <a:endParaRPr lang="en-GB"/>
          </a:p>
        </p:txBody>
      </p:sp>
      <p:sp>
        <p:nvSpPr>
          <p:cNvPr id="17" name="Value 4"/>
          <p:cNvSpPr txBox="1"/>
          <p:nvPr/>
        </p:nvSpPr>
        <p:spPr>
          <a:xfrm>
            <a:off x="818387" y="4297680"/>
            <a:ext cx="2908809" cy="822960"/>
          </a:xfrm>
          <a:prstGeom prst="rect">
            <a:avLst/>
          </a:prstGeom>
          <a:noFill/>
        </p:spPr>
        <p:txBody>
          <a:bodyPr wrap="none" lIns="0" tIns="0" rIns="0" bIns="0" rtlCol="0" anchor="b">
            <a:noAutofit/>
          </a:bodyPr>
          <a:lstStyle/>
          <a:p>
            <a:pPr algn="l"/>
            <a:r>
              <a:rPr lang="en-US" sz="4800" b="1" dirty="0">
                <a:solidFill>
                  <a:srgbClr val="AEE057"/>
                </a:solidFill>
                <a:latin typeface="Aptos Display"/>
              </a:rPr>
              <a:t>8</a:t>
            </a:r>
          </a:p>
        </p:txBody>
      </p:sp>
      <p:sp>
        <p:nvSpPr>
          <p:cNvPr id="18" name="Label 4"/>
          <p:cNvSpPr txBox="1"/>
          <p:nvPr/>
        </p:nvSpPr>
        <p:spPr>
          <a:xfrm>
            <a:off x="818387" y="5257800"/>
            <a:ext cx="2908809" cy="365760"/>
          </a:xfrm>
          <a:prstGeom prst="rect">
            <a:avLst/>
          </a:prstGeom>
          <a:noFill/>
        </p:spPr>
        <p:txBody>
          <a:bodyPr wrap="square" lIns="0" tIns="0" rIns="0" bIns="0" rtlCol="0" anchor="t">
            <a:noAutofit/>
          </a:bodyPr>
          <a:lstStyle/>
          <a:p>
            <a:pPr algn="l"/>
            <a:r>
              <a:rPr lang="en-US" sz="1800" b="1" dirty="0">
                <a:solidFill>
                  <a:srgbClr val="FFFFFF"/>
                </a:solidFill>
                <a:latin typeface="Aptos"/>
              </a:rPr>
              <a:t>PGBENCH JOBS</a:t>
            </a:r>
          </a:p>
        </p:txBody>
      </p:sp>
      <p:sp>
        <p:nvSpPr>
          <p:cNvPr id="19" name="Card 5"/>
          <p:cNvSpPr/>
          <p:nvPr/>
        </p:nvSpPr>
        <p:spPr>
          <a:xfrm>
            <a:off x="4321556" y="3794760"/>
            <a:ext cx="3548889" cy="2057400"/>
          </a:xfrm>
          <a:prstGeom prst="roundRect">
            <a:avLst>
              <a:gd name="adj" fmla="val 7000"/>
            </a:avLst>
          </a:prstGeom>
          <a:gradFill rotWithShape="1">
            <a:gsLst>
              <a:gs pos="0">
                <a:srgbClr val="373346"/>
              </a:gs>
              <a:gs pos="100000">
                <a:srgbClr val="222329"/>
              </a:gs>
            </a:gsLst>
            <a:lin ang="5400000" scaled="0"/>
          </a:gradFill>
          <a:ln w="15875">
            <a:solidFill>
              <a:srgbClr val="B794F6"/>
            </a:solidFill>
          </a:ln>
        </p:spPr>
        <p:txBody>
          <a:bodyPr/>
          <a:lstStyle/>
          <a:p>
            <a:endParaRPr lang="en-US"/>
          </a:p>
        </p:txBody>
      </p:sp>
      <p:sp>
        <p:nvSpPr>
          <p:cNvPr id="20" name="Bar 5"/>
          <p:cNvSpPr/>
          <p:nvPr/>
        </p:nvSpPr>
        <p:spPr>
          <a:xfrm>
            <a:off x="4641596" y="4114800"/>
            <a:ext cx="548640" cy="54864"/>
          </a:xfrm>
          <a:prstGeom prst="roundRect">
            <a:avLst>
              <a:gd name="adj" fmla="val 50000"/>
            </a:avLst>
          </a:prstGeom>
          <a:solidFill>
            <a:srgbClr val="B794F6"/>
          </a:solidFill>
          <a:ln>
            <a:noFill/>
          </a:ln>
        </p:spPr>
        <p:txBody>
          <a:bodyPr/>
          <a:lstStyle/>
          <a:p>
            <a:endParaRPr lang="en-GB"/>
          </a:p>
        </p:txBody>
      </p:sp>
      <p:sp>
        <p:nvSpPr>
          <p:cNvPr id="21" name="Value 5"/>
          <p:cNvSpPr txBox="1"/>
          <p:nvPr/>
        </p:nvSpPr>
        <p:spPr>
          <a:xfrm>
            <a:off x="4641596" y="4297680"/>
            <a:ext cx="2908809" cy="822960"/>
          </a:xfrm>
          <a:prstGeom prst="rect">
            <a:avLst/>
          </a:prstGeom>
          <a:noFill/>
        </p:spPr>
        <p:txBody>
          <a:bodyPr wrap="none" lIns="0" tIns="0" rIns="0" bIns="0" rtlCol="0" anchor="b">
            <a:noAutofit/>
          </a:bodyPr>
          <a:lstStyle/>
          <a:p>
            <a:pPr algn="l"/>
            <a:r>
              <a:rPr lang="en-US" sz="4800" b="1" dirty="0">
                <a:solidFill>
                  <a:srgbClr val="B794F6"/>
                </a:solidFill>
                <a:latin typeface="Aptos Display"/>
              </a:rPr>
              <a:t>120 s</a:t>
            </a:r>
          </a:p>
        </p:txBody>
      </p:sp>
      <p:sp>
        <p:nvSpPr>
          <p:cNvPr id="22" name="Label 5"/>
          <p:cNvSpPr txBox="1"/>
          <p:nvPr/>
        </p:nvSpPr>
        <p:spPr>
          <a:xfrm>
            <a:off x="4641596" y="5257800"/>
            <a:ext cx="2908809" cy="365760"/>
          </a:xfrm>
          <a:prstGeom prst="rect">
            <a:avLst/>
          </a:prstGeom>
          <a:noFill/>
        </p:spPr>
        <p:txBody>
          <a:bodyPr wrap="square" lIns="0" tIns="0" rIns="0" bIns="0" rtlCol="0" anchor="t">
            <a:noAutofit/>
          </a:bodyPr>
          <a:lstStyle/>
          <a:p>
            <a:pPr algn="l"/>
            <a:r>
              <a:rPr lang="en-US" sz="1800" b="1" dirty="0">
                <a:solidFill>
                  <a:srgbClr val="FFFFFF"/>
                </a:solidFill>
                <a:latin typeface="Aptos"/>
              </a:rPr>
              <a:t>PER RUN</a:t>
            </a:r>
          </a:p>
        </p:txBody>
      </p:sp>
      <p:sp>
        <p:nvSpPr>
          <p:cNvPr id="23" name="Card 6"/>
          <p:cNvSpPr/>
          <p:nvPr/>
        </p:nvSpPr>
        <p:spPr>
          <a:xfrm>
            <a:off x="8144765" y="3794760"/>
            <a:ext cx="3548889" cy="2057400"/>
          </a:xfrm>
          <a:prstGeom prst="roundRect">
            <a:avLst>
              <a:gd name="adj" fmla="val 7000"/>
            </a:avLst>
          </a:prstGeom>
          <a:gradFill rotWithShape="1">
            <a:gsLst>
              <a:gs pos="0">
                <a:srgbClr val="41342D"/>
              </a:gs>
              <a:gs pos="100000">
                <a:srgbClr val="222329"/>
              </a:gs>
            </a:gsLst>
            <a:lin ang="5400000" scaled="0"/>
          </a:gradFill>
          <a:ln w="15875">
            <a:solidFill>
              <a:srgbClr val="FF9F43"/>
            </a:solidFill>
          </a:ln>
        </p:spPr>
        <p:txBody>
          <a:bodyPr/>
          <a:lstStyle/>
          <a:p>
            <a:endParaRPr lang="en-US"/>
          </a:p>
        </p:txBody>
      </p:sp>
      <p:sp>
        <p:nvSpPr>
          <p:cNvPr id="24" name="Bar 6"/>
          <p:cNvSpPr/>
          <p:nvPr/>
        </p:nvSpPr>
        <p:spPr>
          <a:xfrm>
            <a:off x="8464805" y="4114800"/>
            <a:ext cx="548640" cy="54864"/>
          </a:xfrm>
          <a:prstGeom prst="roundRect">
            <a:avLst>
              <a:gd name="adj" fmla="val 50000"/>
            </a:avLst>
          </a:prstGeom>
          <a:solidFill>
            <a:srgbClr val="FF9F43"/>
          </a:solidFill>
          <a:ln>
            <a:noFill/>
          </a:ln>
        </p:spPr>
        <p:txBody>
          <a:bodyPr/>
          <a:lstStyle/>
          <a:p>
            <a:endParaRPr lang="en-GB"/>
          </a:p>
        </p:txBody>
      </p:sp>
      <p:sp>
        <p:nvSpPr>
          <p:cNvPr id="25" name="Value 6"/>
          <p:cNvSpPr txBox="1"/>
          <p:nvPr/>
        </p:nvSpPr>
        <p:spPr>
          <a:xfrm>
            <a:off x="8464805" y="4297680"/>
            <a:ext cx="2908809" cy="822960"/>
          </a:xfrm>
          <a:prstGeom prst="rect">
            <a:avLst/>
          </a:prstGeom>
          <a:noFill/>
        </p:spPr>
        <p:txBody>
          <a:bodyPr wrap="none" lIns="0" tIns="0" rIns="0" bIns="0" rtlCol="0" anchor="b">
            <a:noAutofit/>
          </a:bodyPr>
          <a:lstStyle/>
          <a:p>
            <a:pPr algn="l"/>
            <a:r>
              <a:rPr lang="en-US" sz="4800" b="1" dirty="0">
                <a:solidFill>
                  <a:srgbClr val="FF9F43"/>
                </a:solidFill>
                <a:latin typeface="Aptos Display"/>
              </a:rPr>
              <a:t>simple</a:t>
            </a:r>
          </a:p>
        </p:txBody>
      </p:sp>
      <p:sp>
        <p:nvSpPr>
          <p:cNvPr id="26" name="Label 6"/>
          <p:cNvSpPr txBox="1"/>
          <p:nvPr/>
        </p:nvSpPr>
        <p:spPr>
          <a:xfrm>
            <a:off x="8464805" y="5257800"/>
            <a:ext cx="2908809" cy="365760"/>
          </a:xfrm>
          <a:prstGeom prst="rect">
            <a:avLst/>
          </a:prstGeom>
          <a:noFill/>
        </p:spPr>
        <p:txBody>
          <a:bodyPr wrap="square" lIns="0" tIns="0" rIns="0" bIns="0" rtlCol="0" anchor="t">
            <a:noAutofit/>
          </a:bodyPr>
          <a:lstStyle/>
          <a:p>
            <a:pPr algn="l"/>
            <a:r>
              <a:rPr lang="en-US" sz="1800" b="1" dirty="0">
                <a:solidFill>
                  <a:srgbClr val="FFFFFF"/>
                </a:solidFill>
                <a:latin typeface="Aptos"/>
              </a:rPr>
              <a:t>PROTOCOL</a:t>
            </a:r>
          </a:p>
        </p:txBody>
      </p:sp>
      <p:sp>
        <p:nvSpPr>
          <p:cNvPr id="27" name="Footer"/>
          <p:cNvSpPr txBox="1"/>
          <p:nvPr/>
        </p:nvSpPr>
        <p:spPr>
          <a:xfrm>
            <a:off x="502920" y="6510528"/>
            <a:ext cx="2377440" cy="164592"/>
          </a:xfrm>
          <a:prstGeom prst="rect">
            <a:avLst/>
          </a:prstGeom>
          <a:noFill/>
        </p:spPr>
        <p:txBody>
          <a:bodyPr wrap="square" lIns="0" tIns="0" rIns="0" bIns="0" rtlCol="0" anchor="t">
            <a:noAutofit/>
          </a:bodyPr>
          <a:lstStyle/>
          <a:p>
            <a:pPr algn="l"/>
            <a:r>
              <a:rPr lang="en-US" sz="750" b="1" dirty="0">
                <a:solidFill>
                  <a:srgbClr val="AAAAAA"/>
                </a:solidFill>
                <a:latin typeface="Aptos"/>
              </a:rPr>
              <a:t>MY DISHONEST BENCHMARK</a:t>
            </a:r>
          </a:p>
        </p:txBody>
      </p:sp>
      <p:sp>
        <p:nvSpPr>
          <p:cNvPr id="28" name="Page"/>
          <p:cNvSpPr txBox="1"/>
          <p:nvPr/>
        </p:nvSpPr>
        <p:spPr>
          <a:xfrm>
            <a:off x="11155680" y="6473952"/>
            <a:ext cx="502920" cy="182880"/>
          </a:xfrm>
          <a:prstGeom prst="rect">
            <a:avLst/>
          </a:prstGeom>
          <a:noFill/>
        </p:spPr>
        <p:txBody>
          <a:bodyPr wrap="square" lIns="0" tIns="0" rIns="0" bIns="0" rtlCol="0" anchor="t">
            <a:noAutofit/>
          </a:bodyPr>
          <a:lstStyle/>
          <a:p>
            <a:pPr algn="r"/>
            <a:r>
              <a:rPr lang="en-US" sz="800" b="1" dirty="0">
                <a:solidFill>
                  <a:srgbClr val="AAAAAA"/>
                </a:solidFill>
                <a:latin typeface="Aptos"/>
              </a:rPr>
              <a:t>14</a:t>
            </a:r>
          </a:p>
        </p:txBody>
      </p:sp>
    </p:spTree>
    <p:extLst>
      <p:ext uri="{BB962C8B-B14F-4D97-AF65-F5344CB8AC3E}">
        <p14:creationId xmlns:p14="http://schemas.microsoft.com/office/powerpoint/2010/main" val="32883085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3" name="TextBox 3"/>
          <p:cNvSpPr txBox="1"/>
          <p:nvPr/>
        </p:nvSpPr>
        <p:spPr>
          <a:xfrm>
            <a:off x="594360" y="429768"/>
            <a:ext cx="11003280" cy="640080"/>
          </a:xfrm>
          <a:prstGeom prst="rect">
            <a:avLst/>
          </a:prstGeom>
          <a:noFill/>
        </p:spPr>
        <p:txBody>
          <a:bodyPr wrap="square" anchor="t">
            <a:spAutoFit/>
          </a:bodyPr>
          <a:lstStyle/>
          <a:p>
            <a:pPr algn="l"/>
            <a:r>
              <a:rPr lang="en-GB" sz="3600" b="1" dirty="0">
                <a:solidFill>
                  <a:srgbClr val="F2F2F2"/>
                </a:solidFill>
                <a:latin typeface="Aptos Display"/>
              </a:rPr>
              <a:t>Benchmark environment</a:t>
            </a:r>
          </a:p>
        </p:txBody>
      </p:sp>
      <p:sp>
        <p:nvSpPr>
          <p:cNvPr id="4" name="TextBox 4"/>
          <p:cNvSpPr txBox="1"/>
          <p:nvPr/>
        </p:nvSpPr>
        <p:spPr>
          <a:xfrm>
            <a:off x="594360" y="1143000"/>
            <a:ext cx="11003280" cy="400110"/>
          </a:xfrm>
          <a:prstGeom prst="rect">
            <a:avLst/>
          </a:prstGeom>
          <a:noFill/>
        </p:spPr>
        <p:txBody>
          <a:bodyPr wrap="square" anchor="t">
            <a:spAutoFit/>
          </a:bodyPr>
          <a:lstStyle/>
          <a:p>
            <a:pPr algn="l"/>
            <a:r>
              <a:rPr lang="en-GB" sz="2000" b="0" dirty="0">
                <a:solidFill>
                  <a:srgbClr val="BEBEBE"/>
                </a:solidFill>
                <a:latin typeface="Aptos"/>
              </a:rPr>
              <a:t>One desktop machine, one local PostgreSQL instance, 120-second runs.</a:t>
            </a:r>
          </a:p>
        </p:txBody>
      </p:sp>
      <p:sp>
        <p:nvSpPr>
          <p:cNvPr id="5" name="TextBox 5"/>
          <p:cNvSpPr txBox="1"/>
          <p:nvPr/>
        </p:nvSpPr>
        <p:spPr>
          <a:xfrm>
            <a:off x="594360" y="1737360"/>
            <a:ext cx="4480560" cy="307777"/>
          </a:xfrm>
          <a:prstGeom prst="rect">
            <a:avLst/>
          </a:prstGeom>
          <a:noFill/>
        </p:spPr>
        <p:txBody>
          <a:bodyPr wrap="square" lIns="0" anchor="t">
            <a:spAutoFit/>
          </a:bodyPr>
          <a:lstStyle/>
          <a:p>
            <a:pPr algn="l"/>
            <a:r>
              <a:rPr lang="en-GB" sz="1600" b="1" dirty="0">
                <a:solidFill>
                  <a:srgbClr val="FF655C"/>
                </a:solidFill>
                <a:latin typeface="Aptos"/>
              </a:rPr>
              <a:t>MACHINE</a:t>
            </a:r>
          </a:p>
        </p:txBody>
      </p:sp>
      <p:sp>
        <p:nvSpPr>
          <p:cNvPr id="6" name="TextBox 6"/>
          <p:cNvSpPr txBox="1"/>
          <p:nvPr/>
        </p:nvSpPr>
        <p:spPr>
          <a:xfrm>
            <a:off x="5440680" y="1737360"/>
            <a:ext cx="6156960" cy="307777"/>
          </a:xfrm>
          <a:prstGeom prst="rect">
            <a:avLst/>
          </a:prstGeom>
          <a:noFill/>
        </p:spPr>
        <p:txBody>
          <a:bodyPr wrap="square" lIns="0" anchor="t">
            <a:spAutoFit/>
          </a:bodyPr>
          <a:lstStyle/>
          <a:p>
            <a:pPr algn="l"/>
            <a:r>
              <a:rPr lang="en-GB" sz="1600" b="1" dirty="0">
                <a:solidFill>
                  <a:srgbClr val="00C2D6"/>
                </a:solidFill>
                <a:latin typeface="Aptos"/>
              </a:rPr>
              <a:t>TEST SETUP</a:t>
            </a:r>
          </a:p>
        </p:txBody>
      </p:sp>
      <p:graphicFrame>
        <p:nvGraphicFramePr>
          <p:cNvPr id="7" name="Table 7"/>
          <p:cNvGraphicFramePr>
            <a:graphicFrameLocks noGrp="1"/>
          </p:cNvGraphicFramePr>
          <p:nvPr>
            <p:extLst>
              <p:ext uri="{D42A27DB-BD31-4B8C-83A1-F6EECF244321}">
                <p14:modId xmlns:p14="http://schemas.microsoft.com/office/powerpoint/2010/main" val="3399471901"/>
              </p:ext>
            </p:extLst>
          </p:nvPr>
        </p:nvGraphicFramePr>
        <p:xfrm>
          <a:off x="594360" y="2103120"/>
          <a:ext cx="4480560" cy="3840480"/>
        </p:xfrm>
        <a:graphic>
          <a:graphicData uri="http://schemas.openxmlformats.org/drawingml/2006/table">
            <a:tbl>
              <a:tblPr/>
              <a:tblGrid>
                <a:gridCol w="109728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tblGrid>
              <a:tr h="640080">
                <a:tc>
                  <a:txBody>
                    <a:bodyPr/>
                    <a:lstStyle/>
                    <a:p>
                      <a:r>
                        <a:rPr lang="en-GB" sz="1400" b="1" dirty="0">
                          <a:solidFill>
                            <a:srgbClr val="F2F2F2"/>
                          </a:solidFill>
                          <a:latin typeface="Aptos"/>
                        </a:rPr>
                        <a:t>Host</a:t>
                      </a:r>
                    </a:p>
                  </a:txBody>
                  <a:tcPr marL="0" marT="91440" marB="91440" anchor="ctr">
                    <a:lnL w="0">
                      <a:noFill/>
                    </a:lnL>
                    <a:lnR w="0">
                      <a:noFill/>
                    </a:lnR>
                    <a:lnT w="9525">
                      <a:solidFill>
                        <a:srgbClr val="3A3B42"/>
                      </a:solidFill>
                    </a:lnT>
                    <a:lnB w="9525">
                      <a:solidFill>
                        <a:srgbClr val="3A3B42"/>
                      </a:solidFill>
                    </a:lnB>
                    <a:noFill/>
                  </a:tcPr>
                </a:tc>
                <a:tc>
                  <a:txBody>
                    <a:bodyPr/>
                    <a:lstStyle/>
                    <a:p>
                      <a:r>
                        <a:rPr lang="en-GB" sz="1400" b="0" dirty="0">
                          <a:solidFill>
                            <a:srgbClr val="F2F2F2"/>
                          </a:solidFill>
                          <a:latin typeface="Aptos"/>
                        </a:rPr>
                        <a:t>Intel Core i7-13700, 16 cores / 24 threads</a:t>
                      </a:r>
                    </a:p>
                  </a:txBody>
                  <a:tcPr marL="0" marT="91440" marB="91440" anchor="ctr">
                    <a:lnL w="0">
                      <a:noFill/>
                    </a:lnL>
                    <a:lnR w="0">
                      <a:noFill/>
                    </a:lnR>
                    <a:lnT w="9525">
                      <a:solidFill>
                        <a:srgbClr val="3A3B42"/>
                      </a:solidFill>
                    </a:lnT>
                    <a:lnB w="9525">
                      <a:solidFill>
                        <a:srgbClr val="3A3B42"/>
                      </a:solidFill>
                    </a:lnB>
                    <a:noFill/>
                  </a:tcPr>
                </a:tc>
                <a:extLst>
                  <a:ext uri="{0D108BD9-81ED-4DB2-BD59-A6C34878D82A}">
                    <a16:rowId xmlns:a16="http://schemas.microsoft.com/office/drawing/2014/main" val="10000"/>
                  </a:ext>
                </a:extLst>
              </a:tr>
              <a:tr h="640080">
                <a:tc>
                  <a:txBody>
                    <a:bodyPr/>
                    <a:lstStyle/>
                    <a:p>
                      <a:r>
                        <a:rPr lang="en-GB" sz="1400" b="1" dirty="0">
                          <a:solidFill>
                            <a:srgbClr val="F2F2F2"/>
                          </a:solidFill>
                          <a:latin typeface="Aptos"/>
                        </a:rPr>
                        <a:t>RAM</a:t>
                      </a:r>
                    </a:p>
                  </a:txBody>
                  <a:tcPr marL="0" marT="91440" marB="91440" anchor="ctr">
                    <a:lnL w="0">
                      <a:noFill/>
                    </a:lnL>
                    <a:lnR w="0">
                      <a:noFill/>
                    </a:lnR>
                    <a:lnT w="9525" cap="flat" cmpd="sng" algn="ctr">
                      <a:solidFill>
                        <a:srgbClr val="3A3B42"/>
                      </a:solidFill>
                      <a:prstDash val="solid"/>
                      <a:round/>
                      <a:headEnd type="none" w="med" len="med"/>
                      <a:tailEnd type="none" w="med" len="med"/>
                    </a:lnT>
                    <a:lnB w="9525">
                      <a:solidFill>
                        <a:srgbClr val="3A3B42"/>
                      </a:solidFill>
                    </a:lnB>
                    <a:noFill/>
                  </a:tcPr>
                </a:tc>
                <a:tc>
                  <a:txBody>
                    <a:bodyPr/>
                    <a:lstStyle/>
                    <a:p>
                      <a:r>
                        <a:rPr lang="en-GB" sz="1400" b="0" dirty="0">
                          <a:solidFill>
                            <a:srgbClr val="F2F2F2"/>
                          </a:solidFill>
                          <a:latin typeface="Aptos"/>
                        </a:rPr>
                        <a:t>63.8 GB</a:t>
                      </a:r>
                    </a:p>
                  </a:txBody>
                  <a:tcPr marL="0" marT="91440" marB="91440" anchor="ctr">
                    <a:lnL w="0">
                      <a:noFill/>
                    </a:lnL>
                    <a:lnR w="0">
                      <a:noFill/>
                    </a:lnR>
                    <a:lnT w="9525" cap="flat" cmpd="sng" algn="ctr">
                      <a:solidFill>
                        <a:srgbClr val="3A3B42"/>
                      </a:solidFill>
                      <a:prstDash val="solid"/>
                      <a:round/>
                      <a:headEnd type="none" w="med" len="med"/>
                      <a:tailEnd type="none" w="med" len="med"/>
                    </a:lnT>
                    <a:lnB w="9525">
                      <a:solidFill>
                        <a:srgbClr val="3A3B42"/>
                      </a:solidFill>
                    </a:lnB>
                    <a:noFill/>
                  </a:tcPr>
                </a:tc>
                <a:extLst>
                  <a:ext uri="{0D108BD9-81ED-4DB2-BD59-A6C34878D82A}">
                    <a16:rowId xmlns:a16="http://schemas.microsoft.com/office/drawing/2014/main" val="10001"/>
                  </a:ext>
                </a:extLst>
              </a:tr>
              <a:tr h="640080">
                <a:tc>
                  <a:txBody>
                    <a:bodyPr/>
                    <a:lstStyle/>
                    <a:p>
                      <a:r>
                        <a:rPr lang="en-GB" sz="1400" b="1" dirty="0">
                          <a:solidFill>
                            <a:srgbClr val="F2F2F2"/>
                          </a:solidFill>
                          <a:latin typeface="Aptos"/>
                        </a:rPr>
                        <a:t>Storage</a:t>
                      </a:r>
                    </a:p>
                  </a:txBody>
                  <a:tcPr marL="0" marT="91440" marB="91440" anchor="ctr">
                    <a:lnL w="0">
                      <a:noFill/>
                    </a:lnL>
                    <a:lnR w="0">
                      <a:noFill/>
                    </a:lnR>
                    <a:lnT w="9525" cap="flat" cmpd="sng" algn="ctr">
                      <a:solidFill>
                        <a:srgbClr val="3A3B42"/>
                      </a:solidFill>
                      <a:prstDash val="solid"/>
                      <a:round/>
                      <a:headEnd type="none" w="med" len="med"/>
                      <a:tailEnd type="none" w="med" len="med"/>
                    </a:lnT>
                    <a:lnB w="9525">
                      <a:solidFill>
                        <a:srgbClr val="3A3B42"/>
                      </a:solidFill>
                    </a:lnB>
                    <a:noFill/>
                  </a:tcPr>
                </a:tc>
                <a:tc>
                  <a:txBody>
                    <a:bodyPr/>
                    <a:lstStyle/>
                    <a:p>
                      <a:r>
                        <a:rPr lang="en-GB" sz="1400" b="0" dirty="0">
                          <a:solidFill>
                            <a:srgbClr val="F2F2F2"/>
                          </a:solidFill>
                          <a:latin typeface="Aptos"/>
                        </a:rPr>
                        <a:t>Samsung SSD 980 NVMe</a:t>
                      </a:r>
                    </a:p>
                  </a:txBody>
                  <a:tcPr marL="0" marT="91440" marB="91440" anchor="ctr">
                    <a:lnL w="0">
                      <a:noFill/>
                    </a:lnL>
                    <a:lnR w="0">
                      <a:noFill/>
                    </a:lnR>
                    <a:lnT w="9525" cap="flat" cmpd="sng" algn="ctr">
                      <a:solidFill>
                        <a:srgbClr val="3A3B42"/>
                      </a:solidFill>
                      <a:prstDash val="solid"/>
                      <a:round/>
                      <a:headEnd type="none" w="med" len="med"/>
                      <a:tailEnd type="none" w="med" len="med"/>
                    </a:lnT>
                    <a:lnB w="9525">
                      <a:solidFill>
                        <a:srgbClr val="3A3B42"/>
                      </a:solidFill>
                    </a:lnB>
                    <a:noFill/>
                  </a:tcPr>
                </a:tc>
                <a:extLst>
                  <a:ext uri="{0D108BD9-81ED-4DB2-BD59-A6C34878D82A}">
                    <a16:rowId xmlns:a16="http://schemas.microsoft.com/office/drawing/2014/main" val="10002"/>
                  </a:ext>
                </a:extLst>
              </a:tr>
              <a:tr h="640080">
                <a:tc>
                  <a:txBody>
                    <a:bodyPr/>
                    <a:lstStyle/>
                    <a:p>
                      <a:r>
                        <a:rPr lang="en-GB" sz="1400" b="1" dirty="0">
                          <a:solidFill>
                            <a:srgbClr val="F2F2F2"/>
                          </a:solidFill>
                          <a:latin typeface="Aptos"/>
                        </a:rPr>
                        <a:t>OS</a:t>
                      </a:r>
                    </a:p>
                  </a:txBody>
                  <a:tcPr marL="0" marT="91440" marB="91440" anchor="ctr">
                    <a:lnL w="0">
                      <a:noFill/>
                    </a:lnL>
                    <a:lnR w="0">
                      <a:noFill/>
                    </a:lnR>
                    <a:lnT w="9525" cap="flat" cmpd="sng" algn="ctr">
                      <a:solidFill>
                        <a:srgbClr val="3A3B42"/>
                      </a:solidFill>
                      <a:prstDash val="solid"/>
                      <a:round/>
                      <a:headEnd type="none" w="med" len="med"/>
                      <a:tailEnd type="none" w="med" len="med"/>
                    </a:lnT>
                    <a:lnB w="9525">
                      <a:solidFill>
                        <a:srgbClr val="3A3B42"/>
                      </a:solidFill>
                    </a:lnB>
                    <a:noFill/>
                  </a:tcPr>
                </a:tc>
                <a:tc>
                  <a:txBody>
                    <a:bodyPr/>
                    <a:lstStyle/>
                    <a:p>
                      <a:r>
                        <a:rPr lang="en-GB" sz="1400" b="0" dirty="0">
                          <a:solidFill>
                            <a:srgbClr val="F2F2F2"/>
                          </a:solidFill>
                          <a:latin typeface="Aptos"/>
                        </a:rPr>
                        <a:t>Windows 11</a:t>
                      </a:r>
                    </a:p>
                  </a:txBody>
                  <a:tcPr marL="0" marT="91440" marB="91440" anchor="ctr">
                    <a:lnL w="0">
                      <a:noFill/>
                    </a:lnL>
                    <a:lnR w="0">
                      <a:noFill/>
                    </a:lnR>
                    <a:lnT w="9525" cap="flat" cmpd="sng" algn="ctr">
                      <a:solidFill>
                        <a:srgbClr val="3A3B42"/>
                      </a:solidFill>
                      <a:prstDash val="solid"/>
                      <a:round/>
                      <a:headEnd type="none" w="med" len="med"/>
                      <a:tailEnd type="none" w="med" len="med"/>
                    </a:lnT>
                    <a:lnB w="9525">
                      <a:solidFill>
                        <a:srgbClr val="3A3B42"/>
                      </a:solidFill>
                    </a:lnB>
                    <a:noFill/>
                  </a:tcPr>
                </a:tc>
                <a:extLst>
                  <a:ext uri="{0D108BD9-81ED-4DB2-BD59-A6C34878D82A}">
                    <a16:rowId xmlns:a16="http://schemas.microsoft.com/office/drawing/2014/main" val="10003"/>
                  </a:ext>
                </a:extLst>
              </a:tr>
              <a:tr h="640080">
                <a:tc>
                  <a:txBody>
                    <a:bodyPr/>
                    <a:lstStyle/>
                    <a:p>
                      <a:r>
                        <a:rPr lang="en-GB" sz="1400" b="1" dirty="0">
                          <a:solidFill>
                            <a:srgbClr val="F2F2F2"/>
                          </a:solidFill>
                          <a:latin typeface="Aptos"/>
                        </a:rPr>
                        <a:t>Database</a:t>
                      </a:r>
                    </a:p>
                  </a:txBody>
                  <a:tcPr marL="0" marT="91440" marB="91440" anchor="ctr">
                    <a:lnL w="0">
                      <a:noFill/>
                    </a:lnL>
                    <a:lnR w="0">
                      <a:noFill/>
                    </a:lnR>
                    <a:lnT w="9525" cap="flat" cmpd="sng" algn="ctr">
                      <a:solidFill>
                        <a:srgbClr val="3A3B42"/>
                      </a:solidFill>
                      <a:prstDash val="solid"/>
                      <a:round/>
                      <a:headEnd type="none" w="med" len="med"/>
                      <a:tailEnd type="none" w="med" len="med"/>
                    </a:lnT>
                    <a:lnB w="9525">
                      <a:solidFill>
                        <a:srgbClr val="3A3B42"/>
                      </a:solidFill>
                    </a:lnB>
                    <a:noFill/>
                  </a:tcPr>
                </a:tc>
                <a:tc>
                  <a:txBody>
                    <a:bodyPr/>
                    <a:lstStyle/>
                    <a:p>
                      <a:r>
                        <a:rPr lang="en-GB" sz="1400" b="0" dirty="0">
                          <a:solidFill>
                            <a:srgbClr val="F2F2F2"/>
                          </a:solidFill>
                          <a:latin typeface="Aptos"/>
                        </a:rPr>
                        <a:t>PostgreSQL 18.6, x86_64</a:t>
                      </a:r>
                    </a:p>
                  </a:txBody>
                  <a:tcPr marL="0" marT="91440" marB="91440" anchor="ctr">
                    <a:lnL w="0">
                      <a:noFill/>
                    </a:lnL>
                    <a:lnR w="0">
                      <a:noFill/>
                    </a:lnR>
                    <a:lnT w="9525" cap="flat" cmpd="sng" algn="ctr">
                      <a:solidFill>
                        <a:srgbClr val="3A3B42"/>
                      </a:solidFill>
                      <a:prstDash val="solid"/>
                      <a:round/>
                      <a:headEnd type="none" w="med" len="med"/>
                      <a:tailEnd type="none" w="med" len="med"/>
                    </a:lnT>
                    <a:lnB w="9525">
                      <a:solidFill>
                        <a:srgbClr val="3A3B42"/>
                      </a:solidFill>
                    </a:lnB>
                    <a:noFill/>
                  </a:tcPr>
                </a:tc>
                <a:extLst>
                  <a:ext uri="{0D108BD9-81ED-4DB2-BD59-A6C34878D82A}">
                    <a16:rowId xmlns:a16="http://schemas.microsoft.com/office/drawing/2014/main" val="10004"/>
                  </a:ext>
                </a:extLst>
              </a:tr>
              <a:tr h="640080">
                <a:tc>
                  <a:txBody>
                    <a:bodyPr/>
                    <a:lstStyle/>
                    <a:p>
                      <a:r>
                        <a:rPr lang="en-GB" sz="1400" b="1" dirty="0">
                          <a:solidFill>
                            <a:srgbClr val="F2F2F2"/>
                          </a:solidFill>
                          <a:latin typeface="Aptos"/>
                        </a:rPr>
                        <a:t>Driver</a:t>
                      </a:r>
                    </a:p>
                  </a:txBody>
                  <a:tcPr marL="0" marT="91440" marB="91440" anchor="ctr">
                    <a:lnL w="0">
                      <a:noFill/>
                    </a:lnL>
                    <a:lnR w="0">
                      <a:noFill/>
                    </a:lnR>
                    <a:lnT w="9525" cap="flat" cmpd="sng" algn="ctr">
                      <a:solidFill>
                        <a:srgbClr val="3A3B42"/>
                      </a:solidFill>
                      <a:prstDash val="solid"/>
                      <a:round/>
                      <a:headEnd type="none" w="med" len="med"/>
                      <a:tailEnd type="none" w="med" len="med"/>
                    </a:lnT>
                    <a:lnB w="9525">
                      <a:solidFill>
                        <a:srgbClr val="3A3B42"/>
                      </a:solidFill>
                    </a:lnB>
                    <a:noFill/>
                  </a:tcPr>
                </a:tc>
                <a:tc>
                  <a:txBody>
                    <a:bodyPr/>
                    <a:lstStyle/>
                    <a:p>
                      <a:r>
                        <a:rPr lang="en-GB" sz="1400" b="0" dirty="0" err="1">
                          <a:solidFill>
                            <a:srgbClr val="F2F2F2"/>
                          </a:solidFill>
                          <a:latin typeface="Aptos"/>
                        </a:rPr>
                        <a:t>pgbench</a:t>
                      </a:r>
                      <a:r>
                        <a:rPr lang="en-GB" sz="1400" b="0" dirty="0">
                          <a:solidFill>
                            <a:srgbClr val="F2F2F2"/>
                          </a:solidFill>
                          <a:latin typeface="Aptos"/>
                        </a:rPr>
                        <a:t> 18.6</a:t>
                      </a:r>
                    </a:p>
                  </a:txBody>
                  <a:tcPr marL="0" marT="91440" marB="91440" anchor="ctr">
                    <a:lnL w="0">
                      <a:noFill/>
                    </a:lnL>
                    <a:lnR w="0">
                      <a:noFill/>
                    </a:lnR>
                    <a:lnT w="9525" cap="flat" cmpd="sng" algn="ctr">
                      <a:solidFill>
                        <a:srgbClr val="3A3B42"/>
                      </a:solidFill>
                      <a:prstDash val="solid"/>
                      <a:round/>
                      <a:headEnd type="none" w="med" len="med"/>
                      <a:tailEnd type="none" w="med" len="med"/>
                    </a:lnT>
                    <a:lnB w="9525">
                      <a:solidFill>
                        <a:srgbClr val="3A3B42"/>
                      </a:solidFill>
                    </a:lnB>
                    <a:noFill/>
                  </a:tcPr>
                </a:tc>
                <a:extLst>
                  <a:ext uri="{0D108BD9-81ED-4DB2-BD59-A6C34878D82A}">
                    <a16:rowId xmlns:a16="http://schemas.microsoft.com/office/drawing/2014/main" val="10005"/>
                  </a:ext>
                </a:extLst>
              </a:tr>
            </a:tbl>
          </a:graphicData>
        </a:graphic>
      </p:graphicFrame>
      <p:graphicFrame>
        <p:nvGraphicFramePr>
          <p:cNvPr id="8" name="Table 8"/>
          <p:cNvGraphicFramePr>
            <a:graphicFrameLocks noGrp="1"/>
          </p:cNvGraphicFramePr>
          <p:nvPr/>
        </p:nvGraphicFramePr>
        <p:xfrm>
          <a:off x="5440680" y="2103120"/>
          <a:ext cx="6156960" cy="3840480"/>
        </p:xfrm>
        <a:graphic>
          <a:graphicData uri="http://schemas.openxmlformats.org/drawingml/2006/table">
            <a:tbl>
              <a:tblPr/>
              <a:tblGrid>
                <a:gridCol w="1645920">
                  <a:extLst>
                    <a:ext uri="{9D8B030D-6E8A-4147-A177-3AD203B41FA5}">
                      <a16:colId xmlns:a16="http://schemas.microsoft.com/office/drawing/2014/main" val="20000"/>
                    </a:ext>
                  </a:extLst>
                </a:gridCol>
                <a:gridCol w="4511040">
                  <a:extLst>
                    <a:ext uri="{9D8B030D-6E8A-4147-A177-3AD203B41FA5}">
                      <a16:colId xmlns:a16="http://schemas.microsoft.com/office/drawing/2014/main" val="20001"/>
                    </a:ext>
                  </a:extLst>
                </a:gridCol>
              </a:tblGrid>
              <a:tr h="640080">
                <a:tc>
                  <a:txBody>
                    <a:bodyPr/>
                    <a:lstStyle/>
                    <a:p>
                      <a:r>
                        <a:rPr lang="en-GB" sz="1400" b="1" dirty="0">
                          <a:solidFill>
                            <a:srgbClr val="F2F2F2"/>
                          </a:solidFill>
                          <a:latin typeface="Aptos"/>
                        </a:rPr>
                        <a:t>Test duration</a:t>
                      </a:r>
                    </a:p>
                  </a:txBody>
                  <a:tcPr marL="0" marT="91440" marB="91440" anchor="ctr">
                    <a:lnL w="0">
                      <a:noFill/>
                    </a:lnL>
                    <a:lnR w="0">
                      <a:noFill/>
                    </a:lnR>
                    <a:lnT w="9525">
                      <a:solidFill>
                        <a:srgbClr val="3A3B42"/>
                      </a:solidFill>
                    </a:lnT>
                    <a:lnB w="9525">
                      <a:solidFill>
                        <a:srgbClr val="3A3B42"/>
                      </a:solidFill>
                    </a:lnB>
                    <a:noFill/>
                  </a:tcPr>
                </a:tc>
                <a:tc>
                  <a:txBody>
                    <a:bodyPr/>
                    <a:lstStyle/>
                    <a:p>
                      <a:r>
                        <a:rPr lang="en-GB" sz="1400" b="0" dirty="0">
                          <a:solidFill>
                            <a:srgbClr val="F2F2F2"/>
                          </a:solidFill>
                          <a:latin typeface="Aptos"/>
                        </a:rPr>
                        <a:t>120 seconds per measured test</a:t>
                      </a:r>
                    </a:p>
                  </a:txBody>
                  <a:tcPr marL="0" marT="91440" marB="91440" anchor="ctr">
                    <a:lnL w="0">
                      <a:noFill/>
                    </a:lnL>
                    <a:lnR w="0">
                      <a:noFill/>
                    </a:lnR>
                    <a:lnT w="9525">
                      <a:solidFill>
                        <a:srgbClr val="3A3B42"/>
                      </a:solidFill>
                    </a:lnT>
                    <a:lnB w="9525">
                      <a:solidFill>
                        <a:srgbClr val="3A3B42"/>
                      </a:solidFill>
                    </a:lnB>
                    <a:noFill/>
                  </a:tcPr>
                </a:tc>
                <a:extLst>
                  <a:ext uri="{0D108BD9-81ED-4DB2-BD59-A6C34878D82A}">
                    <a16:rowId xmlns:a16="http://schemas.microsoft.com/office/drawing/2014/main" val="10000"/>
                  </a:ext>
                </a:extLst>
              </a:tr>
              <a:tr h="640080">
                <a:tc>
                  <a:txBody>
                    <a:bodyPr/>
                    <a:lstStyle/>
                    <a:p>
                      <a:r>
                        <a:rPr lang="en-GB" sz="1400" b="1" dirty="0">
                          <a:solidFill>
                            <a:srgbClr val="F2F2F2"/>
                          </a:solidFill>
                          <a:latin typeface="Aptos"/>
                        </a:rPr>
                        <a:t>Load</a:t>
                      </a:r>
                    </a:p>
                  </a:txBody>
                  <a:tcPr marL="0" marT="91440" marB="91440" anchor="ctr">
                    <a:lnL w="0">
                      <a:noFill/>
                    </a:lnL>
                    <a:lnR w="0">
                      <a:noFill/>
                    </a:lnR>
                    <a:lnT w="9525" cap="flat" cmpd="sng" algn="ctr">
                      <a:solidFill>
                        <a:srgbClr val="3A3B42"/>
                      </a:solidFill>
                      <a:prstDash val="solid"/>
                      <a:round/>
                      <a:headEnd type="none" w="med" len="med"/>
                      <a:tailEnd type="none" w="med" len="med"/>
                    </a:lnT>
                    <a:lnB w="9525">
                      <a:solidFill>
                        <a:srgbClr val="3A3B42"/>
                      </a:solidFill>
                    </a:lnB>
                    <a:noFill/>
                  </a:tcPr>
                </a:tc>
                <a:tc>
                  <a:txBody>
                    <a:bodyPr/>
                    <a:lstStyle/>
                    <a:p>
                      <a:r>
                        <a:rPr lang="en-GB" sz="1400" b="0" dirty="0">
                          <a:solidFill>
                            <a:srgbClr val="F2F2F2"/>
                          </a:solidFill>
                          <a:latin typeface="Aptos"/>
                        </a:rPr>
                        <a:t>32 clients / 8 threads</a:t>
                      </a:r>
                    </a:p>
                  </a:txBody>
                  <a:tcPr marL="0" marT="91440" marB="91440" anchor="ctr">
                    <a:lnL w="0">
                      <a:noFill/>
                    </a:lnL>
                    <a:lnR w="0">
                      <a:noFill/>
                    </a:lnR>
                    <a:lnT w="9525" cap="flat" cmpd="sng" algn="ctr">
                      <a:solidFill>
                        <a:srgbClr val="3A3B42"/>
                      </a:solidFill>
                      <a:prstDash val="solid"/>
                      <a:round/>
                      <a:headEnd type="none" w="med" len="med"/>
                      <a:tailEnd type="none" w="med" len="med"/>
                    </a:lnT>
                    <a:lnB w="9525">
                      <a:solidFill>
                        <a:srgbClr val="3A3B42"/>
                      </a:solidFill>
                    </a:lnB>
                    <a:noFill/>
                  </a:tcPr>
                </a:tc>
                <a:extLst>
                  <a:ext uri="{0D108BD9-81ED-4DB2-BD59-A6C34878D82A}">
                    <a16:rowId xmlns:a16="http://schemas.microsoft.com/office/drawing/2014/main" val="10001"/>
                  </a:ext>
                </a:extLst>
              </a:tr>
              <a:tr h="640080">
                <a:tc>
                  <a:txBody>
                    <a:bodyPr/>
                    <a:lstStyle/>
                    <a:p>
                      <a:r>
                        <a:rPr lang="en-GB" sz="1400" b="1" dirty="0">
                          <a:solidFill>
                            <a:srgbClr val="F2F2F2"/>
                          </a:solidFill>
                          <a:latin typeface="Aptos"/>
                        </a:rPr>
                        <a:t>Database</a:t>
                      </a:r>
                    </a:p>
                  </a:txBody>
                  <a:tcPr marL="0" marT="91440" marB="91440" anchor="ctr">
                    <a:lnL w="0">
                      <a:noFill/>
                    </a:lnL>
                    <a:lnR w="0">
                      <a:noFill/>
                    </a:lnR>
                    <a:lnT w="9525" cap="flat" cmpd="sng" algn="ctr">
                      <a:solidFill>
                        <a:srgbClr val="3A3B42"/>
                      </a:solidFill>
                      <a:prstDash val="solid"/>
                      <a:round/>
                      <a:headEnd type="none" w="med" len="med"/>
                      <a:tailEnd type="none" w="med" len="med"/>
                    </a:lnT>
                    <a:lnB w="9525">
                      <a:solidFill>
                        <a:srgbClr val="3A3B42"/>
                      </a:solidFill>
                    </a:lnB>
                    <a:noFill/>
                  </a:tcPr>
                </a:tc>
                <a:tc>
                  <a:txBody>
                    <a:bodyPr/>
                    <a:lstStyle/>
                    <a:p>
                      <a:r>
                        <a:rPr lang="en-GB" sz="1400" b="0" dirty="0">
                          <a:solidFill>
                            <a:srgbClr val="F2F2F2"/>
                          </a:solidFill>
                          <a:latin typeface="Consolas"/>
                        </a:rPr>
                        <a:t>pgbench_darkside</a:t>
                      </a:r>
                    </a:p>
                  </a:txBody>
                  <a:tcPr marL="0" marT="91440" marB="91440" anchor="ctr">
                    <a:lnL w="0">
                      <a:noFill/>
                    </a:lnL>
                    <a:lnR w="0">
                      <a:noFill/>
                    </a:lnR>
                    <a:lnT w="9525" cap="flat" cmpd="sng" algn="ctr">
                      <a:solidFill>
                        <a:srgbClr val="3A3B42"/>
                      </a:solidFill>
                      <a:prstDash val="solid"/>
                      <a:round/>
                      <a:headEnd type="none" w="med" len="med"/>
                      <a:tailEnd type="none" w="med" len="med"/>
                    </a:lnT>
                    <a:lnB w="9525">
                      <a:solidFill>
                        <a:srgbClr val="3A3B42"/>
                      </a:solidFill>
                    </a:lnB>
                    <a:noFill/>
                  </a:tcPr>
                </a:tc>
                <a:extLst>
                  <a:ext uri="{0D108BD9-81ED-4DB2-BD59-A6C34878D82A}">
                    <a16:rowId xmlns:a16="http://schemas.microsoft.com/office/drawing/2014/main" val="10002"/>
                  </a:ext>
                </a:extLst>
              </a:tr>
              <a:tr h="640080">
                <a:tc>
                  <a:txBody>
                    <a:bodyPr/>
                    <a:lstStyle/>
                    <a:p>
                      <a:r>
                        <a:rPr lang="en-GB" sz="1400" b="1" dirty="0">
                          <a:solidFill>
                            <a:srgbClr val="F2F2F2"/>
                          </a:solidFill>
                          <a:latin typeface="Aptos"/>
                        </a:rPr>
                        <a:t>Connection</a:t>
                      </a:r>
                    </a:p>
                  </a:txBody>
                  <a:tcPr marL="0" marT="91440" marB="91440" anchor="ctr">
                    <a:lnL w="0">
                      <a:noFill/>
                    </a:lnL>
                    <a:lnR w="0">
                      <a:noFill/>
                    </a:lnR>
                    <a:lnT w="9525" cap="flat" cmpd="sng" algn="ctr">
                      <a:solidFill>
                        <a:srgbClr val="3A3B42"/>
                      </a:solidFill>
                      <a:prstDash val="solid"/>
                      <a:round/>
                      <a:headEnd type="none" w="med" len="med"/>
                      <a:tailEnd type="none" w="med" len="med"/>
                    </a:lnT>
                    <a:lnB w="9525">
                      <a:solidFill>
                        <a:srgbClr val="3A3B42"/>
                      </a:solidFill>
                    </a:lnB>
                    <a:noFill/>
                  </a:tcPr>
                </a:tc>
                <a:tc>
                  <a:txBody>
                    <a:bodyPr/>
                    <a:lstStyle/>
                    <a:p>
                      <a:r>
                        <a:rPr lang="en-GB" sz="1400" b="0" dirty="0">
                          <a:solidFill>
                            <a:srgbClr val="F2F2F2"/>
                          </a:solidFill>
                          <a:latin typeface="Consolas"/>
                        </a:rPr>
                        <a:t>-h localhost -U postgres -d pgbench_darkside</a:t>
                      </a:r>
                    </a:p>
                  </a:txBody>
                  <a:tcPr marL="0" marT="91440" marB="91440" anchor="ctr">
                    <a:lnL w="0">
                      <a:noFill/>
                    </a:lnL>
                    <a:lnR w="0">
                      <a:noFill/>
                    </a:lnR>
                    <a:lnT w="9525" cap="flat" cmpd="sng" algn="ctr">
                      <a:solidFill>
                        <a:srgbClr val="3A3B42"/>
                      </a:solidFill>
                      <a:prstDash val="solid"/>
                      <a:round/>
                      <a:headEnd type="none" w="med" len="med"/>
                      <a:tailEnd type="none" w="med" len="med"/>
                    </a:lnT>
                    <a:lnB w="9525">
                      <a:solidFill>
                        <a:srgbClr val="3A3B42"/>
                      </a:solidFill>
                    </a:lnB>
                    <a:noFill/>
                  </a:tcPr>
                </a:tc>
                <a:extLst>
                  <a:ext uri="{0D108BD9-81ED-4DB2-BD59-A6C34878D82A}">
                    <a16:rowId xmlns:a16="http://schemas.microsoft.com/office/drawing/2014/main" val="10003"/>
                  </a:ext>
                </a:extLst>
              </a:tr>
              <a:tr h="640080">
                <a:tc>
                  <a:txBody>
                    <a:bodyPr/>
                    <a:lstStyle/>
                    <a:p>
                      <a:r>
                        <a:rPr lang="en-GB" sz="1400" b="1" dirty="0">
                          <a:solidFill>
                            <a:srgbClr val="F2F2F2"/>
                          </a:solidFill>
                          <a:latin typeface="Aptos"/>
                        </a:rPr>
                        <a:t>Password source</a:t>
                      </a:r>
                    </a:p>
                  </a:txBody>
                  <a:tcPr marL="0" marT="91440" marB="91440" anchor="ctr">
                    <a:lnL w="0">
                      <a:noFill/>
                    </a:lnL>
                    <a:lnR w="0">
                      <a:noFill/>
                    </a:lnR>
                    <a:lnT w="9525" cap="flat" cmpd="sng" algn="ctr">
                      <a:solidFill>
                        <a:srgbClr val="3A3B42"/>
                      </a:solidFill>
                      <a:prstDash val="solid"/>
                      <a:round/>
                      <a:headEnd type="none" w="med" len="med"/>
                      <a:tailEnd type="none" w="med" len="med"/>
                    </a:lnT>
                    <a:lnB w="9525">
                      <a:solidFill>
                        <a:srgbClr val="3A3B42"/>
                      </a:solidFill>
                    </a:lnB>
                    <a:noFill/>
                  </a:tcPr>
                </a:tc>
                <a:tc>
                  <a:txBody>
                    <a:bodyPr/>
                    <a:lstStyle/>
                    <a:p>
                      <a:r>
                        <a:rPr lang="en-GB" sz="1400" b="0" dirty="0">
                          <a:solidFill>
                            <a:srgbClr val="F2F2F2"/>
                          </a:solidFill>
                          <a:latin typeface="Consolas"/>
                        </a:rPr>
                        <a:t>PGPASSWORD=*******</a:t>
                      </a:r>
                    </a:p>
                  </a:txBody>
                  <a:tcPr marL="0" marT="91440" marB="91440" anchor="ctr">
                    <a:lnL w="0">
                      <a:noFill/>
                    </a:lnL>
                    <a:lnR w="0">
                      <a:noFill/>
                    </a:lnR>
                    <a:lnT w="9525" cap="flat" cmpd="sng" algn="ctr">
                      <a:solidFill>
                        <a:srgbClr val="3A3B42"/>
                      </a:solidFill>
                      <a:prstDash val="solid"/>
                      <a:round/>
                      <a:headEnd type="none" w="med" len="med"/>
                      <a:tailEnd type="none" w="med" len="med"/>
                    </a:lnT>
                    <a:lnB w="9525">
                      <a:solidFill>
                        <a:srgbClr val="3A3B42"/>
                      </a:solidFill>
                    </a:lnB>
                    <a:noFill/>
                  </a:tcPr>
                </a:tc>
                <a:extLst>
                  <a:ext uri="{0D108BD9-81ED-4DB2-BD59-A6C34878D82A}">
                    <a16:rowId xmlns:a16="http://schemas.microsoft.com/office/drawing/2014/main" val="10004"/>
                  </a:ext>
                </a:extLst>
              </a:tr>
              <a:tr h="640080">
                <a:tc>
                  <a:txBody>
                    <a:bodyPr/>
                    <a:lstStyle/>
                    <a:p>
                      <a:r>
                        <a:rPr lang="en-GB" sz="1400" b="1" dirty="0">
                          <a:solidFill>
                            <a:srgbClr val="F2F2F2"/>
                          </a:solidFill>
                          <a:latin typeface="Aptos"/>
                        </a:rPr>
                        <a:t>Dataset</a:t>
                      </a:r>
                    </a:p>
                  </a:txBody>
                  <a:tcPr marL="0" marT="91440" marB="91440" anchor="ctr">
                    <a:lnL w="0">
                      <a:noFill/>
                    </a:lnL>
                    <a:lnR w="0">
                      <a:noFill/>
                    </a:lnR>
                    <a:lnT w="9525" cap="flat" cmpd="sng" algn="ctr">
                      <a:solidFill>
                        <a:srgbClr val="3A3B42"/>
                      </a:solidFill>
                      <a:prstDash val="solid"/>
                      <a:round/>
                      <a:headEnd type="none" w="med" len="med"/>
                      <a:tailEnd type="none" w="med" len="med"/>
                    </a:lnT>
                    <a:lnB w="9525">
                      <a:solidFill>
                        <a:srgbClr val="3A3B42"/>
                      </a:solidFill>
                    </a:lnB>
                    <a:noFill/>
                  </a:tcPr>
                </a:tc>
                <a:tc>
                  <a:txBody>
                    <a:bodyPr/>
                    <a:lstStyle/>
                    <a:p>
                      <a:r>
                        <a:rPr lang="en-GB" sz="1400" b="0" dirty="0">
                          <a:solidFill>
                            <a:srgbClr val="F2F2F2"/>
                          </a:solidFill>
                          <a:latin typeface="Aptos"/>
                        </a:rPr>
                        <a:t>100 branches, 1,000,000 accounts</a:t>
                      </a:r>
                    </a:p>
                  </a:txBody>
                  <a:tcPr marL="0" marT="91440" marB="91440" anchor="ctr">
                    <a:lnL w="0">
                      <a:noFill/>
                    </a:lnL>
                    <a:lnR w="0">
                      <a:noFill/>
                    </a:lnR>
                    <a:lnT w="9525" cap="flat" cmpd="sng" algn="ctr">
                      <a:solidFill>
                        <a:srgbClr val="3A3B42"/>
                      </a:solidFill>
                      <a:prstDash val="solid"/>
                      <a:round/>
                      <a:headEnd type="none" w="med" len="med"/>
                      <a:tailEnd type="none" w="med" len="med"/>
                    </a:lnT>
                    <a:lnB w="9525">
                      <a:solidFill>
                        <a:srgbClr val="3A3B42"/>
                      </a:solidFill>
                    </a:lnB>
                    <a:noFill/>
                  </a:tcPr>
                </a:tc>
                <a:extLst>
                  <a:ext uri="{0D108BD9-81ED-4DB2-BD59-A6C34878D82A}">
                    <a16:rowId xmlns:a16="http://schemas.microsoft.com/office/drawing/2014/main" val="10005"/>
                  </a:ext>
                </a:extLst>
              </a:tr>
            </a:tbl>
          </a:graphicData>
        </a:graphic>
      </p:graphicFrame>
      <p:sp>
        <p:nvSpPr>
          <p:cNvPr id="9" name="TextBox 9"/>
          <p:cNvSpPr txBox="1"/>
          <p:nvPr/>
        </p:nvSpPr>
        <p:spPr>
          <a:xfrm>
            <a:off x="502920" y="6510528"/>
            <a:ext cx="2377440" cy="164592"/>
          </a:xfrm>
          <a:prstGeom prst="rect">
            <a:avLst/>
          </a:prstGeom>
          <a:noFill/>
        </p:spPr>
        <p:txBody>
          <a:bodyPr wrap="square" anchor="t">
            <a:spAutoFit/>
          </a:bodyPr>
          <a:lstStyle/>
          <a:p>
            <a:pPr algn="l"/>
            <a:r>
              <a:rPr lang="en-GB" sz="750" b="1" dirty="0">
                <a:solidFill>
                  <a:srgbClr val="BEBEBE"/>
                </a:solidFill>
                <a:latin typeface="Aptos"/>
              </a:rPr>
              <a:t>MY DISHONEST BENCHMARK</a:t>
            </a:r>
          </a:p>
        </p:txBody>
      </p:sp>
    </p:spTree>
    <p:extLst>
      <p:ext uri="{BB962C8B-B14F-4D97-AF65-F5344CB8AC3E}">
        <p14:creationId xmlns:p14="http://schemas.microsoft.com/office/powerpoint/2010/main" val="35085928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AB70593-20EA-E76C-1626-70ABB8BCF243}"/>
              </a:ext>
            </a:extLst>
          </p:cNvPr>
          <p:cNvSpPr txBox="1"/>
          <p:nvPr/>
        </p:nvSpPr>
        <p:spPr>
          <a:xfrm>
            <a:off x="457200" y="429768"/>
            <a:ext cx="11003280" cy="584775"/>
          </a:xfrm>
          <a:prstGeom prst="rect">
            <a:avLst/>
          </a:prstGeom>
          <a:noFill/>
        </p:spPr>
        <p:txBody>
          <a:bodyPr wrap="square" anchor="t">
            <a:spAutoFit/>
          </a:bodyPr>
          <a:lstStyle/>
          <a:p>
            <a:pPr algn="l"/>
            <a:r>
              <a:rPr lang="en-US" sz="3200" b="1" dirty="0">
                <a:solidFill>
                  <a:srgbClr val="F2F2F2"/>
                </a:solidFill>
                <a:latin typeface="Aptos Display"/>
              </a:rPr>
              <a:t>Why not VM in a cloud?</a:t>
            </a:r>
          </a:p>
        </p:txBody>
      </p:sp>
      <p:sp>
        <p:nvSpPr>
          <p:cNvPr id="30" name="Screenshot Card"/>
          <p:cNvSpPr/>
          <p:nvPr/>
        </p:nvSpPr>
        <p:spPr>
          <a:xfrm>
            <a:off x="457200" y="1270000"/>
            <a:ext cx="11277600" cy="3349752"/>
          </a:xfrm>
          <a:prstGeom prst="roundRect">
            <a:avLst>
              <a:gd name="adj" fmla="val 4000"/>
            </a:avLst>
          </a:prstGeom>
          <a:solidFill>
            <a:srgbClr val="222329"/>
          </a:solidFill>
          <a:ln w="12700">
            <a:solidFill>
              <a:srgbClr val="3A3B42"/>
            </a:solidFill>
          </a:ln>
        </p:spPr>
        <p:txBody>
          <a:bodyPr/>
          <a:lstStyle/>
          <a:p>
            <a:endParaRPr lang="en-US"/>
          </a:p>
        </p:txBody>
      </p:sp>
      <p:pic>
        <p:nvPicPr>
          <p:cNvPr id="3" name="Picture 2">
            <a:extLst>
              <a:ext uri="{FF2B5EF4-FFF2-40B4-BE49-F238E27FC236}">
                <a16:creationId xmlns:a16="http://schemas.microsoft.com/office/drawing/2014/main" id="{9C87AB9F-88A9-E4A7-91FE-9B71BB367DCE}"/>
              </a:ext>
            </a:extLst>
          </p:cNvPr>
          <p:cNvPicPr>
            <a:picLocks noChangeAspect="1"/>
          </p:cNvPicPr>
          <p:nvPr/>
        </p:nvPicPr>
        <p:blipFill>
          <a:blip r:embed="rId3"/>
          <a:stretch>
            <a:fillRect/>
          </a:stretch>
        </p:blipFill>
        <p:spPr>
          <a:xfrm>
            <a:off x="609600" y="1422400"/>
            <a:ext cx="10972800" cy="3044952"/>
          </a:xfrm>
          <a:prstGeom prst="rect">
            <a:avLst/>
          </a:prstGeom>
        </p:spPr>
      </p:pic>
      <p:sp>
        <p:nvSpPr>
          <p:cNvPr id="31" name="Stat 31"/>
          <p:cNvSpPr txBox="1"/>
          <p:nvPr/>
        </p:nvSpPr>
        <p:spPr>
          <a:xfrm>
            <a:off x="457200" y="4876800"/>
            <a:ext cx="3556000" cy="1143000"/>
          </a:xfrm>
          <a:prstGeom prst="rect">
            <a:avLst/>
          </a:prstGeom>
          <a:noFill/>
        </p:spPr>
        <p:txBody>
          <a:bodyPr wrap="square" lIns="91440" tIns="0" rIns="91440" bIns="0" anchor="t">
            <a:noAutofit/>
          </a:bodyPr>
          <a:lstStyle/>
          <a:p>
            <a:pPr algn="l">
              <a:spcAft>
                <a:spcPts val="200"/>
              </a:spcAft>
            </a:pPr>
            <a:r>
              <a:rPr lang="en-US" sz="4400" b="1" dirty="0">
                <a:solidFill>
                  <a:srgbClr val="00C2D6"/>
                </a:solidFill>
                <a:latin typeface="Aptos"/>
              </a:rPr>
              <a:t>1,162</a:t>
            </a:r>
            <a:r>
              <a:rPr lang="en-US" sz="2000" b="1" dirty="0">
                <a:solidFill>
                  <a:srgbClr val="00C2D6"/>
                </a:solidFill>
                <a:latin typeface="Aptos"/>
              </a:rPr>
              <a:t> TPS</a:t>
            </a:r>
          </a:p>
          <a:p>
            <a:pPr algn="l"/>
            <a:r>
              <a:rPr lang="en-US" sz="1400" b="0" dirty="0">
                <a:solidFill>
                  <a:srgbClr val="C8C8C8"/>
                </a:solidFill>
                <a:latin typeface="Aptos"/>
              </a:rPr>
              <a:t>cloud VM, 32 clients, 120 s</a:t>
            </a:r>
          </a:p>
        </p:txBody>
      </p:sp>
      <p:sp>
        <p:nvSpPr>
          <p:cNvPr id="32" name="Stat 32"/>
          <p:cNvSpPr txBox="1"/>
          <p:nvPr/>
        </p:nvSpPr>
        <p:spPr>
          <a:xfrm>
            <a:off x="9628555" y="4876800"/>
            <a:ext cx="1778000" cy="1143000"/>
          </a:xfrm>
          <a:prstGeom prst="rect">
            <a:avLst/>
          </a:prstGeom>
          <a:noFill/>
        </p:spPr>
        <p:txBody>
          <a:bodyPr wrap="square" lIns="91440" tIns="0" rIns="91440" bIns="0" anchor="t">
            <a:noAutofit/>
          </a:bodyPr>
          <a:lstStyle/>
          <a:p>
            <a:pPr algn="l">
              <a:spcAft>
                <a:spcPts val="200"/>
              </a:spcAft>
            </a:pPr>
            <a:r>
              <a:rPr lang="en-US" sz="4400" b="1" dirty="0">
                <a:solidFill>
                  <a:srgbClr val="F2F2F2"/>
                </a:solidFill>
                <a:latin typeface="Aptos"/>
              </a:rPr>
              <a:t>27.5</a:t>
            </a:r>
            <a:r>
              <a:rPr lang="en-US" sz="2000" b="1" dirty="0">
                <a:solidFill>
                  <a:srgbClr val="F2F2F2"/>
                </a:solidFill>
                <a:latin typeface="Aptos"/>
              </a:rPr>
              <a:t> ms</a:t>
            </a:r>
          </a:p>
          <a:p>
            <a:pPr algn="l"/>
            <a:r>
              <a:rPr lang="en-US" sz="1400" b="0" dirty="0">
                <a:solidFill>
                  <a:srgbClr val="C8C8C8"/>
                </a:solidFill>
                <a:latin typeface="Aptos"/>
              </a:rPr>
              <a:t>average latency</a:t>
            </a:r>
          </a:p>
        </p:txBody>
      </p:sp>
      <p:sp>
        <p:nvSpPr>
          <p:cNvPr id="34" name="Footer"/>
          <p:cNvSpPr txBox="1"/>
          <p:nvPr/>
        </p:nvSpPr>
        <p:spPr>
          <a:xfrm>
            <a:off x="502920" y="6510528"/>
            <a:ext cx="2377440" cy="164592"/>
          </a:xfrm>
          <a:prstGeom prst="rect">
            <a:avLst/>
          </a:prstGeom>
          <a:noFill/>
        </p:spPr>
        <p:txBody>
          <a:bodyPr wrap="square" anchor="t">
            <a:spAutoFit/>
          </a:bodyPr>
          <a:lstStyle/>
          <a:p>
            <a:pPr algn="l">
              <a:defRPr sz="750" b="1">
                <a:solidFill>
                  <a:srgbClr val="AAAAAA"/>
                </a:solidFill>
                <a:latin typeface="Aptos"/>
              </a:defRPr>
            </a:pPr>
            <a:r>
              <a:rPr lang="en-US" sz="750" b="1" dirty="0">
                <a:solidFill>
                  <a:srgbClr val="AAAAAA"/>
                </a:solidFill>
                <a:latin typeface="Aptos"/>
              </a:rPr>
              <a:t>MY DISHONEST BENCHMARK</a:t>
            </a:r>
          </a:p>
        </p:txBody>
      </p:sp>
    </p:spTree>
    <p:extLst>
      <p:ext uri="{BB962C8B-B14F-4D97-AF65-F5344CB8AC3E}">
        <p14:creationId xmlns:p14="http://schemas.microsoft.com/office/powerpoint/2010/main" val="20818810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1" name="Rectangle 20"/>
          <p:cNvSpPr/>
          <p:nvPr/>
        </p:nvSpPr>
        <p:spPr>
          <a:xfrm>
            <a:off x="6263640" y="3611880"/>
            <a:ext cx="4663440" cy="777240"/>
          </a:xfrm>
          <a:prstGeom prst="roundRect">
            <a:avLst>
              <a:gd name="adj" fmla="val 18000"/>
            </a:avLst>
          </a:prstGeom>
          <a:gradFill rotWithShape="1">
            <a:gsLst>
              <a:gs pos="0">
                <a:srgbClr val="45372D"/>
              </a:gs>
              <a:gs pos="100000">
                <a:srgbClr val="222329"/>
              </a:gs>
            </a:gsLst>
            <a:lin ang="0" scaled="0"/>
          </a:gradFill>
          <a:ln w="15875">
            <a:solidFill>
              <a:srgbClr val="FF9F43"/>
            </a:solidFill>
          </a:ln>
        </p:spPr>
        <p:style>
          <a:lnRef idx="1">
            <a:schemeClr val="accent1"/>
          </a:lnRef>
          <a:fillRef idx="3">
            <a:schemeClr val="accent1"/>
          </a:fillRef>
          <a:effectRef idx="2">
            <a:schemeClr val="accent1"/>
          </a:effectRef>
          <a:fontRef idx="minor">
            <a:srgbClr val="222329"/>
          </a:fontRef>
        </p:style>
        <p:txBody>
          <a:bodyPr rtlCol="0" anchor="ctr"/>
          <a:lstStyle/>
          <a:p>
            <a:pPr algn="ctr"/>
            <a:endParaRPr>
              <a:solidFill>
                <a:srgbClr val="F2F2F2"/>
              </a:solidFill>
            </a:endParaRPr>
          </a:p>
        </p:txBody>
      </p:sp>
      <p:sp>
        <p:nvSpPr>
          <p:cNvPr id="18" name="Rectangle 17"/>
          <p:cNvSpPr/>
          <p:nvPr/>
        </p:nvSpPr>
        <p:spPr>
          <a:xfrm>
            <a:off x="6263640" y="2514600"/>
            <a:ext cx="4663440" cy="777240"/>
          </a:xfrm>
          <a:prstGeom prst="roundRect">
            <a:avLst>
              <a:gd name="adj" fmla="val 18000"/>
            </a:avLst>
          </a:prstGeom>
          <a:gradFill rotWithShape="1">
            <a:gsLst>
              <a:gs pos="0">
                <a:srgbClr val="3A354A"/>
              </a:gs>
              <a:gs pos="100000">
                <a:srgbClr val="222329"/>
              </a:gs>
            </a:gsLst>
            <a:lin ang="0" scaled="0"/>
          </a:gradFill>
          <a:ln w="15875">
            <a:solidFill>
              <a:srgbClr val="B794F6"/>
            </a:solidFill>
          </a:ln>
        </p:spPr>
        <p:style>
          <a:lnRef idx="1">
            <a:schemeClr val="accent1"/>
          </a:lnRef>
          <a:fillRef idx="3">
            <a:schemeClr val="accent1"/>
          </a:fillRef>
          <a:effectRef idx="2">
            <a:schemeClr val="accent1"/>
          </a:effectRef>
          <a:fontRef idx="minor">
            <a:srgbClr val="222329"/>
          </a:fontRef>
        </p:style>
        <p:txBody>
          <a:bodyPr rtlCol="0" anchor="ctr"/>
          <a:lstStyle/>
          <a:p>
            <a:pPr algn="ctr"/>
            <a:endParaRPr>
              <a:solidFill>
                <a:srgbClr val="F2F2F2"/>
              </a:solidFill>
            </a:endParaRPr>
          </a:p>
        </p:txBody>
      </p:sp>
      <p:sp>
        <p:nvSpPr>
          <p:cNvPr id="15" name="Rectangle 14"/>
          <p:cNvSpPr/>
          <p:nvPr/>
        </p:nvSpPr>
        <p:spPr>
          <a:xfrm>
            <a:off x="6263640" y="1417320"/>
            <a:ext cx="4663440" cy="777240"/>
          </a:xfrm>
          <a:prstGeom prst="roundRect">
            <a:avLst>
              <a:gd name="adj" fmla="val 18000"/>
            </a:avLst>
          </a:prstGeom>
          <a:gradFill rotWithShape="1">
            <a:gsLst>
              <a:gs pos="0">
                <a:srgbClr val="384130"/>
              </a:gs>
              <a:gs pos="100000">
                <a:srgbClr val="222329"/>
              </a:gs>
            </a:gsLst>
            <a:lin ang="0" scaled="0"/>
          </a:gradFill>
          <a:ln w="15875">
            <a:solidFill>
              <a:srgbClr val="AEE057"/>
            </a:solidFill>
          </a:ln>
        </p:spPr>
        <p:style>
          <a:lnRef idx="1">
            <a:schemeClr val="accent1"/>
          </a:lnRef>
          <a:fillRef idx="3">
            <a:schemeClr val="accent1"/>
          </a:fillRef>
          <a:effectRef idx="2">
            <a:schemeClr val="accent1"/>
          </a:effectRef>
          <a:fontRef idx="minor">
            <a:srgbClr val="222329"/>
          </a:fontRef>
        </p:style>
        <p:txBody>
          <a:bodyPr rtlCol="0" anchor="ctr"/>
          <a:lstStyle/>
          <a:p>
            <a:pPr algn="ctr"/>
            <a:endParaRPr>
              <a:solidFill>
                <a:srgbClr val="F2F2F2"/>
              </a:solidFill>
            </a:endParaRPr>
          </a:p>
        </p:txBody>
      </p:sp>
      <p:sp>
        <p:nvSpPr>
          <p:cNvPr id="12" name="Rectangle 11"/>
          <p:cNvSpPr/>
          <p:nvPr/>
        </p:nvSpPr>
        <p:spPr>
          <a:xfrm>
            <a:off x="777240" y="3611880"/>
            <a:ext cx="4663440" cy="777240"/>
          </a:xfrm>
          <a:prstGeom prst="roundRect">
            <a:avLst>
              <a:gd name="adj" fmla="val 18000"/>
            </a:avLst>
          </a:prstGeom>
          <a:gradFill rotWithShape="1">
            <a:gsLst>
              <a:gs pos="0">
                <a:srgbClr val="452E31"/>
              </a:gs>
              <a:gs pos="100000">
                <a:srgbClr val="222329"/>
              </a:gs>
            </a:gsLst>
            <a:lin ang="0" scaled="0"/>
          </a:gradFill>
          <a:ln w="15875">
            <a:solidFill>
              <a:srgbClr val="FF655C"/>
            </a:solidFill>
          </a:ln>
        </p:spPr>
        <p:style>
          <a:lnRef idx="1">
            <a:schemeClr val="accent1"/>
          </a:lnRef>
          <a:fillRef idx="3">
            <a:schemeClr val="accent1"/>
          </a:fillRef>
          <a:effectRef idx="2">
            <a:schemeClr val="accent1"/>
          </a:effectRef>
          <a:fontRef idx="minor">
            <a:srgbClr val="222329"/>
          </a:fontRef>
        </p:style>
        <p:txBody>
          <a:bodyPr rtlCol="0" anchor="ctr"/>
          <a:lstStyle/>
          <a:p>
            <a:pPr algn="ctr"/>
            <a:endParaRPr>
              <a:solidFill>
                <a:srgbClr val="F2F2F2"/>
              </a:solidFill>
            </a:endParaRPr>
          </a:p>
        </p:txBody>
      </p:sp>
      <p:sp>
        <p:nvSpPr>
          <p:cNvPr id="9" name="Rectangle 8"/>
          <p:cNvSpPr/>
          <p:nvPr/>
        </p:nvSpPr>
        <p:spPr>
          <a:xfrm>
            <a:off x="777240" y="2514600"/>
            <a:ext cx="4663440" cy="777240"/>
          </a:xfrm>
          <a:prstGeom prst="roundRect">
            <a:avLst>
              <a:gd name="adj" fmla="val 18000"/>
            </a:avLst>
          </a:prstGeom>
          <a:gradFill rotWithShape="1">
            <a:gsLst>
              <a:gs pos="0">
                <a:srgbClr val="443D2E"/>
              </a:gs>
              <a:gs pos="100000">
                <a:srgbClr val="222329"/>
              </a:gs>
            </a:gsLst>
            <a:lin ang="0" scaled="0"/>
          </a:gradFill>
          <a:ln w="15875">
            <a:solidFill>
              <a:srgbClr val="F7C548"/>
            </a:solidFill>
          </a:ln>
        </p:spPr>
        <p:style>
          <a:lnRef idx="1">
            <a:schemeClr val="accent1"/>
          </a:lnRef>
          <a:fillRef idx="3">
            <a:schemeClr val="accent1"/>
          </a:fillRef>
          <a:effectRef idx="2">
            <a:schemeClr val="accent1"/>
          </a:effectRef>
          <a:fontRef idx="minor">
            <a:srgbClr val="222329"/>
          </a:fontRef>
        </p:style>
        <p:txBody>
          <a:bodyPr rtlCol="0" anchor="ctr"/>
          <a:lstStyle/>
          <a:p>
            <a:pPr algn="ctr"/>
            <a:endParaRPr>
              <a:solidFill>
                <a:srgbClr val="F2F2F2"/>
              </a:solidFill>
            </a:endParaRPr>
          </a:p>
        </p:txBody>
      </p:sp>
      <p:sp>
        <p:nvSpPr>
          <p:cNvPr id="6" name="Rectangle 5"/>
          <p:cNvSpPr/>
          <p:nvPr/>
        </p:nvSpPr>
        <p:spPr>
          <a:xfrm>
            <a:off x="777240" y="1417320"/>
            <a:ext cx="4663440" cy="777240"/>
          </a:xfrm>
          <a:prstGeom prst="roundRect">
            <a:avLst>
              <a:gd name="adj" fmla="val 18000"/>
            </a:avLst>
          </a:prstGeom>
          <a:gradFill rotWithShape="1">
            <a:gsLst>
              <a:gs pos="0">
                <a:srgbClr val="1D3C45"/>
              </a:gs>
              <a:gs pos="100000">
                <a:srgbClr val="222329"/>
              </a:gs>
            </a:gsLst>
            <a:lin ang="0" scaled="0"/>
          </a:gradFill>
          <a:ln w="15875">
            <a:solidFill>
              <a:srgbClr val="00C2D6"/>
            </a:solidFill>
          </a:ln>
        </p:spPr>
        <p:style>
          <a:lnRef idx="1">
            <a:schemeClr val="accent1"/>
          </a:lnRef>
          <a:fillRef idx="3">
            <a:schemeClr val="accent1"/>
          </a:fillRef>
          <a:effectRef idx="2">
            <a:schemeClr val="accent1"/>
          </a:effectRef>
          <a:fontRef idx="minor">
            <a:srgbClr val="222329"/>
          </a:fontRef>
        </p:style>
        <p:txBody>
          <a:bodyPr rtlCol="0" anchor="ctr"/>
          <a:lstStyle/>
          <a:p>
            <a:pPr algn="ctr"/>
            <a:endParaRPr>
              <a:solidFill>
                <a:srgbClr val="F2F2F2"/>
              </a:solidFill>
            </a:endParaRPr>
          </a:p>
        </p:txBody>
      </p:sp>
      <p:sp>
        <p:nvSpPr>
          <p:cNvPr id="3" name="TextBox 2"/>
          <p:cNvSpPr txBox="1"/>
          <p:nvPr/>
        </p:nvSpPr>
        <p:spPr>
          <a:xfrm>
            <a:off x="594360" y="694944"/>
            <a:ext cx="10515600" cy="621792"/>
          </a:xfrm>
          <a:prstGeom prst="rect">
            <a:avLst/>
          </a:prstGeom>
          <a:noFill/>
        </p:spPr>
        <p:txBody>
          <a:bodyPr wrap="square" anchor="t">
            <a:spAutoFit/>
          </a:bodyPr>
          <a:lstStyle/>
          <a:p>
            <a:pPr algn="l">
              <a:defRPr sz="2900" b="1">
                <a:solidFill>
                  <a:srgbClr val="F2F2F2"/>
                </a:solidFill>
                <a:latin typeface="Aptos Display"/>
              </a:defRPr>
            </a:pPr>
            <a:r>
              <a:t>Baseline settings before the “cheats”</a:t>
            </a:r>
          </a:p>
        </p:txBody>
      </p:sp>
      <p:sp>
        <p:nvSpPr>
          <p:cNvPr id="4" name="TextBox 3"/>
          <p:cNvSpPr txBox="1"/>
          <p:nvPr/>
        </p:nvSpPr>
        <p:spPr>
          <a:xfrm>
            <a:off x="868680" y="1645920"/>
            <a:ext cx="3200400" cy="320040"/>
          </a:xfrm>
          <a:prstGeom prst="rect">
            <a:avLst/>
          </a:prstGeom>
          <a:noFill/>
        </p:spPr>
        <p:txBody>
          <a:bodyPr wrap="square" anchor="t">
            <a:spAutoFit/>
          </a:bodyPr>
          <a:lstStyle/>
          <a:p>
            <a:pPr algn="l">
              <a:defRPr sz="1600" b="0">
                <a:solidFill>
                  <a:srgbClr val="BEBEBE"/>
                </a:solidFill>
                <a:latin typeface="DejaVu Sans Mono"/>
              </a:defRPr>
            </a:pPr>
            <a:r>
              <a:t>jit</a:t>
            </a:r>
          </a:p>
        </p:txBody>
      </p:sp>
      <p:sp>
        <p:nvSpPr>
          <p:cNvPr id="5" name="TextBox 4"/>
          <p:cNvSpPr txBox="1"/>
          <p:nvPr/>
        </p:nvSpPr>
        <p:spPr>
          <a:xfrm>
            <a:off x="4206240" y="1645920"/>
            <a:ext cx="1097280" cy="320040"/>
          </a:xfrm>
          <a:prstGeom prst="rect">
            <a:avLst/>
          </a:prstGeom>
          <a:noFill/>
        </p:spPr>
        <p:txBody>
          <a:bodyPr wrap="square" anchor="t">
            <a:spAutoFit/>
          </a:bodyPr>
          <a:lstStyle/>
          <a:p>
            <a:pPr algn="r">
              <a:defRPr sz="1700" b="1">
                <a:solidFill>
                  <a:srgbClr val="F2F2F2"/>
                </a:solidFill>
                <a:latin typeface="DejaVu Sans Mono"/>
              </a:defRPr>
            </a:pPr>
            <a:r>
              <a:t>off</a:t>
            </a:r>
          </a:p>
        </p:txBody>
      </p:sp>
      <p:sp>
        <p:nvSpPr>
          <p:cNvPr id="7" name="TextBox 6"/>
          <p:cNvSpPr txBox="1"/>
          <p:nvPr/>
        </p:nvSpPr>
        <p:spPr>
          <a:xfrm>
            <a:off x="868680" y="2743200"/>
            <a:ext cx="3200400" cy="320040"/>
          </a:xfrm>
          <a:prstGeom prst="rect">
            <a:avLst/>
          </a:prstGeom>
          <a:noFill/>
        </p:spPr>
        <p:txBody>
          <a:bodyPr wrap="square" anchor="t">
            <a:spAutoFit/>
          </a:bodyPr>
          <a:lstStyle/>
          <a:p>
            <a:pPr algn="l">
              <a:defRPr sz="1600" b="0">
                <a:solidFill>
                  <a:srgbClr val="BEBEBE"/>
                </a:solidFill>
                <a:latin typeface="DejaVu Sans Mono"/>
              </a:defRPr>
            </a:pPr>
            <a:r>
              <a:t>shared_buffers</a:t>
            </a:r>
          </a:p>
        </p:txBody>
      </p:sp>
      <p:sp>
        <p:nvSpPr>
          <p:cNvPr id="8" name="TextBox 7"/>
          <p:cNvSpPr txBox="1"/>
          <p:nvPr/>
        </p:nvSpPr>
        <p:spPr>
          <a:xfrm>
            <a:off x="4206240" y="2743200"/>
            <a:ext cx="1097280" cy="320040"/>
          </a:xfrm>
          <a:prstGeom prst="rect">
            <a:avLst/>
          </a:prstGeom>
          <a:noFill/>
        </p:spPr>
        <p:txBody>
          <a:bodyPr wrap="square" anchor="t">
            <a:spAutoFit/>
          </a:bodyPr>
          <a:lstStyle/>
          <a:p>
            <a:pPr algn="r">
              <a:defRPr sz="1700" b="1">
                <a:solidFill>
                  <a:srgbClr val="F2F2F2"/>
                </a:solidFill>
                <a:latin typeface="DejaVu Sans Mono"/>
              </a:defRPr>
            </a:pPr>
            <a:r>
              <a:t>1GB</a:t>
            </a:r>
          </a:p>
        </p:txBody>
      </p:sp>
      <p:sp>
        <p:nvSpPr>
          <p:cNvPr id="10" name="TextBox 9"/>
          <p:cNvSpPr txBox="1"/>
          <p:nvPr/>
        </p:nvSpPr>
        <p:spPr>
          <a:xfrm>
            <a:off x="868680" y="3840480"/>
            <a:ext cx="3200400" cy="320040"/>
          </a:xfrm>
          <a:prstGeom prst="rect">
            <a:avLst/>
          </a:prstGeom>
          <a:noFill/>
        </p:spPr>
        <p:txBody>
          <a:bodyPr wrap="square" anchor="t">
            <a:spAutoFit/>
          </a:bodyPr>
          <a:lstStyle/>
          <a:p>
            <a:pPr algn="l">
              <a:defRPr sz="1600" b="0">
                <a:solidFill>
                  <a:srgbClr val="BEBEBE"/>
                </a:solidFill>
                <a:latin typeface="DejaVu Sans Mono"/>
              </a:defRPr>
            </a:pPr>
            <a:r>
              <a:t>synchronous_commit</a:t>
            </a:r>
          </a:p>
        </p:txBody>
      </p:sp>
      <p:sp>
        <p:nvSpPr>
          <p:cNvPr id="11" name="TextBox 10"/>
          <p:cNvSpPr txBox="1"/>
          <p:nvPr/>
        </p:nvSpPr>
        <p:spPr>
          <a:xfrm>
            <a:off x="4206240" y="3840480"/>
            <a:ext cx="1097280" cy="320040"/>
          </a:xfrm>
          <a:prstGeom prst="rect">
            <a:avLst/>
          </a:prstGeom>
          <a:noFill/>
        </p:spPr>
        <p:txBody>
          <a:bodyPr wrap="square" anchor="t">
            <a:spAutoFit/>
          </a:bodyPr>
          <a:lstStyle/>
          <a:p>
            <a:pPr algn="r">
              <a:defRPr sz="1700" b="1">
                <a:solidFill>
                  <a:srgbClr val="F2F2F2"/>
                </a:solidFill>
                <a:latin typeface="DejaVu Sans Mono"/>
              </a:defRPr>
            </a:pPr>
            <a:r>
              <a:t>on</a:t>
            </a:r>
          </a:p>
        </p:txBody>
      </p:sp>
      <p:sp>
        <p:nvSpPr>
          <p:cNvPr id="13" name="TextBox 12"/>
          <p:cNvSpPr txBox="1"/>
          <p:nvPr/>
        </p:nvSpPr>
        <p:spPr>
          <a:xfrm>
            <a:off x="6355080" y="1645920"/>
            <a:ext cx="3200400" cy="320040"/>
          </a:xfrm>
          <a:prstGeom prst="rect">
            <a:avLst/>
          </a:prstGeom>
          <a:noFill/>
        </p:spPr>
        <p:txBody>
          <a:bodyPr wrap="square" anchor="t">
            <a:spAutoFit/>
          </a:bodyPr>
          <a:lstStyle/>
          <a:p>
            <a:pPr algn="l">
              <a:defRPr sz="1600" b="0">
                <a:solidFill>
                  <a:srgbClr val="BEBEBE"/>
                </a:solidFill>
                <a:latin typeface="DejaVu Sans Mono"/>
              </a:defRPr>
            </a:pPr>
            <a:r>
              <a:t>full_page_writes</a:t>
            </a:r>
          </a:p>
        </p:txBody>
      </p:sp>
      <p:sp>
        <p:nvSpPr>
          <p:cNvPr id="14" name="TextBox 13"/>
          <p:cNvSpPr txBox="1"/>
          <p:nvPr/>
        </p:nvSpPr>
        <p:spPr>
          <a:xfrm>
            <a:off x="9692640" y="1645920"/>
            <a:ext cx="1097280" cy="320040"/>
          </a:xfrm>
          <a:prstGeom prst="rect">
            <a:avLst/>
          </a:prstGeom>
          <a:noFill/>
        </p:spPr>
        <p:txBody>
          <a:bodyPr wrap="square" anchor="t">
            <a:spAutoFit/>
          </a:bodyPr>
          <a:lstStyle/>
          <a:p>
            <a:pPr algn="r">
              <a:defRPr sz="1700" b="1">
                <a:solidFill>
                  <a:srgbClr val="F2F2F2"/>
                </a:solidFill>
                <a:latin typeface="DejaVu Sans Mono"/>
              </a:defRPr>
            </a:pPr>
            <a:r>
              <a:t>on</a:t>
            </a:r>
          </a:p>
        </p:txBody>
      </p:sp>
      <p:sp>
        <p:nvSpPr>
          <p:cNvPr id="16" name="TextBox 15"/>
          <p:cNvSpPr txBox="1"/>
          <p:nvPr/>
        </p:nvSpPr>
        <p:spPr>
          <a:xfrm>
            <a:off x="6355080" y="2743200"/>
            <a:ext cx="3200400" cy="320040"/>
          </a:xfrm>
          <a:prstGeom prst="rect">
            <a:avLst/>
          </a:prstGeom>
          <a:noFill/>
        </p:spPr>
        <p:txBody>
          <a:bodyPr wrap="square" anchor="t">
            <a:spAutoFit/>
          </a:bodyPr>
          <a:lstStyle/>
          <a:p>
            <a:pPr algn="l">
              <a:defRPr sz="1600" b="0">
                <a:solidFill>
                  <a:srgbClr val="BEBEBE"/>
                </a:solidFill>
                <a:latin typeface="DejaVu Sans Mono"/>
              </a:defRPr>
            </a:pPr>
            <a:r>
              <a:t>fsync</a:t>
            </a:r>
          </a:p>
        </p:txBody>
      </p:sp>
      <p:sp>
        <p:nvSpPr>
          <p:cNvPr id="17" name="TextBox 16"/>
          <p:cNvSpPr txBox="1"/>
          <p:nvPr/>
        </p:nvSpPr>
        <p:spPr>
          <a:xfrm>
            <a:off x="9692640" y="2743200"/>
            <a:ext cx="1097280" cy="320040"/>
          </a:xfrm>
          <a:prstGeom prst="rect">
            <a:avLst/>
          </a:prstGeom>
          <a:noFill/>
        </p:spPr>
        <p:txBody>
          <a:bodyPr wrap="square" anchor="t">
            <a:spAutoFit/>
          </a:bodyPr>
          <a:lstStyle/>
          <a:p>
            <a:pPr algn="r">
              <a:defRPr sz="1700" b="1">
                <a:solidFill>
                  <a:srgbClr val="F2F2F2"/>
                </a:solidFill>
                <a:latin typeface="DejaVu Sans Mono"/>
              </a:defRPr>
            </a:pPr>
            <a:r>
              <a:t>on</a:t>
            </a:r>
          </a:p>
        </p:txBody>
      </p:sp>
      <p:sp>
        <p:nvSpPr>
          <p:cNvPr id="19" name="TextBox 18"/>
          <p:cNvSpPr txBox="1"/>
          <p:nvPr/>
        </p:nvSpPr>
        <p:spPr>
          <a:xfrm>
            <a:off x="6355080" y="3840480"/>
            <a:ext cx="3200400" cy="320040"/>
          </a:xfrm>
          <a:prstGeom prst="rect">
            <a:avLst/>
          </a:prstGeom>
          <a:noFill/>
        </p:spPr>
        <p:txBody>
          <a:bodyPr wrap="square" anchor="t">
            <a:spAutoFit/>
          </a:bodyPr>
          <a:lstStyle/>
          <a:p>
            <a:pPr algn="l">
              <a:defRPr sz="1600" b="0">
                <a:solidFill>
                  <a:srgbClr val="BEBEBE"/>
                </a:solidFill>
                <a:latin typeface="DejaVu Sans Mono"/>
              </a:defRPr>
            </a:pPr>
            <a:r>
              <a:t>wal_compression</a:t>
            </a:r>
          </a:p>
        </p:txBody>
      </p:sp>
      <p:sp>
        <p:nvSpPr>
          <p:cNvPr id="20" name="TextBox 19"/>
          <p:cNvSpPr txBox="1"/>
          <p:nvPr/>
        </p:nvSpPr>
        <p:spPr>
          <a:xfrm>
            <a:off x="9692640" y="3840480"/>
            <a:ext cx="1097280" cy="320040"/>
          </a:xfrm>
          <a:prstGeom prst="rect">
            <a:avLst/>
          </a:prstGeom>
          <a:noFill/>
        </p:spPr>
        <p:txBody>
          <a:bodyPr wrap="square" anchor="t">
            <a:spAutoFit/>
          </a:bodyPr>
          <a:lstStyle/>
          <a:p>
            <a:pPr algn="r">
              <a:defRPr sz="1700" b="1">
                <a:solidFill>
                  <a:srgbClr val="F2F2F2"/>
                </a:solidFill>
                <a:latin typeface="DejaVu Sans Mono"/>
              </a:defRPr>
            </a:pPr>
            <a:r>
              <a:t>LZ4</a:t>
            </a:r>
          </a:p>
        </p:txBody>
      </p:sp>
      <p:sp>
        <p:nvSpPr>
          <p:cNvPr id="22" name="TextBox 21"/>
          <p:cNvSpPr txBox="1"/>
          <p:nvPr/>
        </p:nvSpPr>
        <p:spPr>
          <a:xfrm>
            <a:off x="731520" y="5166360"/>
            <a:ext cx="10698480" cy="365760"/>
          </a:xfrm>
          <a:prstGeom prst="rect">
            <a:avLst/>
          </a:prstGeom>
          <a:noFill/>
        </p:spPr>
        <p:txBody>
          <a:bodyPr wrap="square" anchor="t">
            <a:spAutoFit/>
          </a:bodyPr>
          <a:lstStyle/>
          <a:p>
            <a:pPr algn="ctr">
              <a:defRPr sz="1400" b="0">
                <a:solidFill>
                  <a:srgbClr val="BEBEBE"/>
                </a:solidFill>
                <a:latin typeface="Aptos"/>
              </a:defRPr>
            </a:pPr>
            <a:r>
              <a:t>Windows machine • local NVMe • tuned OLTP-ish PostgreSQL configuration</a:t>
            </a:r>
          </a:p>
        </p:txBody>
      </p:sp>
      <p:sp>
        <p:nvSpPr>
          <p:cNvPr id="23" name="TextBox 22"/>
          <p:cNvSpPr txBox="1"/>
          <p:nvPr/>
        </p:nvSpPr>
        <p:spPr>
          <a:xfrm>
            <a:off x="502920" y="6510528"/>
            <a:ext cx="2377440" cy="164592"/>
          </a:xfrm>
          <a:prstGeom prst="rect">
            <a:avLst/>
          </a:prstGeom>
          <a:noFill/>
        </p:spPr>
        <p:txBody>
          <a:bodyPr wrap="square" anchor="t">
            <a:spAutoFit/>
          </a:bodyPr>
          <a:lstStyle/>
          <a:p>
            <a:pPr algn="l">
              <a:defRPr sz="750" b="1">
                <a:solidFill>
                  <a:srgbClr val="BEBEBE"/>
                </a:solidFill>
                <a:latin typeface="Aptos"/>
              </a:defRPr>
            </a:pPr>
            <a:r>
              <a:t>MY DISHONEST BENCHMARK</a:t>
            </a:r>
          </a:p>
        </p:txBody>
      </p:sp>
      <p:sp>
        <p:nvSpPr>
          <p:cNvPr id="24" name="TextBox 23"/>
          <p:cNvSpPr txBox="1"/>
          <p:nvPr/>
        </p:nvSpPr>
        <p:spPr>
          <a:xfrm>
            <a:off x="11155680" y="6473952"/>
            <a:ext cx="502920" cy="182880"/>
          </a:xfrm>
          <a:prstGeom prst="rect">
            <a:avLst/>
          </a:prstGeom>
          <a:noFill/>
        </p:spPr>
        <p:txBody>
          <a:bodyPr wrap="square" anchor="t">
            <a:spAutoFit/>
          </a:bodyPr>
          <a:lstStyle/>
          <a:p>
            <a:pPr algn="r">
              <a:defRPr sz="800" b="1">
                <a:solidFill>
                  <a:srgbClr val="BEBEBE"/>
                </a:solidFill>
                <a:latin typeface="Aptos"/>
              </a:defRPr>
            </a:pPr>
            <a:r>
              <a:t>15</a:t>
            </a:r>
          </a:p>
        </p:txBody>
      </p:sp>
    </p:spTree>
    <p:extLst>
      <p:ext uri="{BB962C8B-B14F-4D97-AF65-F5344CB8AC3E}">
        <p14:creationId xmlns:p14="http://schemas.microsoft.com/office/powerpoint/2010/main" val="20248388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 name="TextBox 1"/>
          <p:cNvSpPr txBox="1"/>
          <p:nvPr/>
        </p:nvSpPr>
        <p:spPr>
          <a:xfrm>
            <a:off x="594360" y="236334"/>
            <a:ext cx="6537960" cy="584775"/>
          </a:xfrm>
          <a:prstGeom prst="rect">
            <a:avLst/>
          </a:prstGeom>
          <a:noFill/>
        </p:spPr>
        <p:txBody>
          <a:bodyPr wrap="square" anchor="t">
            <a:spAutoFit/>
          </a:bodyPr>
          <a:lstStyle/>
          <a:p>
            <a:pPr algn="l">
              <a:defRPr sz="1000" b="1">
                <a:solidFill>
                  <a:srgbClr val="FF655C"/>
                </a:solidFill>
                <a:latin typeface="Aptos"/>
              </a:defRPr>
            </a:pPr>
            <a:r>
              <a:rPr sz="3200" dirty="0">
                <a:solidFill>
                  <a:srgbClr val="F2F2F2"/>
                </a:solidFill>
              </a:rPr>
              <a:t>INTENTIONALLY FLAWED</a:t>
            </a:r>
          </a:p>
        </p:txBody>
      </p:sp>
      <p:sp>
        <p:nvSpPr>
          <p:cNvPr id="3" name="TextBox 2"/>
          <p:cNvSpPr txBox="1"/>
          <p:nvPr/>
        </p:nvSpPr>
        <p:spPr>
          <a:xfrm>
            <a:off x="594360" y="694944"/>
            <a:ext cx="10515600" cy="621792"/>
          </a:xfrm>
          <a:prstGeom prst="rect">
            <a:avLst/>
          </a:prstGeom>
          <a:noFill/>
        </p:spPr>
        <p:txBody>
          <a:bodyPr wrap="square" anchor="t">
            <a:spAutoFit/>
          </a:bodyPr>
          <a:lstStyle/>
          <a:p>
            <a:pPr algn="l">
              <a:defRPr sz="2900" b="1">
                <a:solidFill>
                  <a:srgbClr val="F2F2F2"/>
                </a:solidFill>
                <a:latin typeface="Aptos Display"/>
              </a:defRPr>
            </a:pPr>
            <a:r>
              <a:t>Case 0: sabotage the baseline</a:t>
            </a:r>
          </a:p>
        </p:txBody>
      </p:sp>
      <p:sp>
        <p:nvSpPr>
          <p:cNvPr id="4" name="Rounded Rectangle 3"/>
          <p:cNvSpPr/>
          <p:nvPr/>
        </p:nvSpPr>
        <p:spPr>
          <a:xfrm>
            <a:off x="640080" y="1417320"/>
            <a:ext cx="6492240" cy="4343400"/>
          </a:xfrm>
          <a:prstGeom prst="roundRect">
            <a:avLst/>
          </a:prstGeom>
          <a:solidFill>
            <a:srgbClr val="0F10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5" name="TextBox 4"/>
          <p:cNvSpPr txBox="1"/>
          <p:nvPr/>
        </p:nvSpPr>
        <p:spPr>
          <a:xfrm>
            <a:off x="960120" y="1783080"/>
            <a:ext cx="5852160" cy="2880360"/>
          </a:xfrm>
          <a:prstGeom prst="rect">
            <a:avLst/>
          </a:prstGeom>
          <a:noFill/>
        </p:spPr>
        <p:txBody>
          <a:bodyPr wrap="square" anchor="t">
            <a:spAutoFit/>
          </a:bodyPr>
          <a:lstStyle/>
          <a:p>
            <a:pPr algn="l">
              <a:defRPr sz="1700" b="0">
                <a:solidFill>
                  <a:srgbClr val="FFFFFF"/>
                </a:solidFill>
                <a:latin typeface="DejaVu Sans Mono"/>
              </a:defRPr>
            </a:pPr>
            <a:r>
              <a:t>DELETE FROM bench_audit</a:t>
            </a:r>
            <a:br/>
            <a:r>
              <a:t>WHERE audit_id IN (</a:t>
            </a:r>
            <a:br/>
            <a:r>
              <a:t>  SELECT audit_id</a:t>
            </a:r>
            <a:br/>
            <a:r>
              <a:t>  FROM bench_audit</a:t>
            </a:r>
            <a:br/>
            <a:r>
              <a:t>  WHERE created_at &lt; now() - interval '10 minutes'</a:t>
            </a:r>
            <a:br/>
            <a:r>
              <a:t>  ORDER BY created_at</a:t>
            </a:r>
            <a:br/>
            <a:r>
              <a:t>  LIMIT 1</a:t>
            </a:r>
            <a:br/>
            <a:r>
              <a:t>);</a:t>
            </a:r>
          </a:p>
        </p:txBody>
      </p:sp>
      <p:sp>
        <p:nvSpPr>
          <p:cNvPr id="6" name="Rounded Rectangle 5"/>
          <p:cNvSpPr/>
          <p:nvPr/>
        </p:nvSpPr>
        <p:spPr>
          <a:xfrm>
            <a:off x="960120" y="5010912"/>
            <a:ext cx="2743200" cy="329184"/>
          </a:xfrm>
          <a:prstGeom prst="roundRect">
            <a:avLst/>
          </a:prstGeom>
          <a:solidFill>
            <a:srgbClr val="FF6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7" name="TextBox 6"/>
          <p:cNvSpPr txBox="1"/>
          <p:nvPr/>
        </p:nvSpPr>
        <p:spPr>
          <a:xfrm>
            <a:off x="1069848" y="5065776"/>
            <a:ext cx="2523744" cy="201168"/>
          </a:xfrm>
          <a:prstGeom prst="rect">
            <a:avLst/>
          </a:prstGeom>
          <a:noFill/>
        </p:spPr>
        <p:txBody>
          <a:bodyPr wrap="square" anchor="t">
            <a:spAutoFit/>
          </a:bodyPr>
          <a:lstStyle/>
          <a:p>
            <a:pPr algn="l">
              <a:defRPr sz="1000" b="1">
                <a:solidFill>
                  <a:srgbClr val="17181C"/>
                </a:solidFill>
                <a:latin typeface="Aptos"/>
              </a:defRPr>
            </a:pPr>
            <a:r>
              <a:t>NO INDEX ON CREATED_AT</a:t>
            </a:r>
          </a:p>
        </p:txBody>
      </p:sp>
      <p:sp>
        <p:nvSpPr>
          <p:cNvPr id="8" name="TextBox 7"/>
          <p:cNvSpPr txBox="1"/>
          <p:nvPr/>
        </p:nvSpPr>
        <p:spPr>
          <a:xfrm>
            <a:off x="7818120" y="1965960"/>
            <a:ext cx="3200400" cy="777240"/>
          </a:xfrm>
          <a:prstGeom prst="rect">
            <a:avLst/>
          </a:prstGeom>
          <a:noFill/>
        </p:spPr>
        <p:txBody>
          <a:bodyPr wrap="square" anchor="t">
            <a:spAutoFit/>
          </a:bodyPr>
          <a:lstStyle/>
          <a:p>
            <a:pPr algn="ctr">
              <a:defRPr sz="4400" b="1">
                <a:solidFill>
                  <a:srgbClr val="FF655C"/>
                </a:solidFill>
                <a:latin typeface="Aptos Display"/>
              </a:defRPr>
            </a:pPr>
            <a:r>
              <a:rPr dirty="0"/>
              <a:t>5</a:t>
            </a:r>
            <a:r>
              <a:rPr lang="en-US" dirty="0"/>
              <a:t>84</a:t>
            </a:r>
            <a:endParaRPr dirty="0"/>
          </a:p>
        </p:txBody>
      </p:sp>
      <p:sp>
        <p:nvSpPr>
          <p:cNvPr id="9" name="TextBox 8"/>
          <p:cNvSpPr txBox="1"/>
          <p:nvPr/>
        </p:nvSpPr>
        <p:spPr>
          <a:xfrm>
            <a:off x="7818120" y="2679191"/>
            <a:ext cx="3200400" cy="347472"/>
          </a:xfrm>
          <a:prstGeom prst="rect">
            <a:avLst/>
          </a:prstGeom>
          <a:noFill/>
        </p:spPr>
        <p:txBody>
          <a:bodyPr wrap="square" anchor="t">
            <a:spAutoFit/>
          </a:bodyPr>
          <a:lstStyle/>
          <a:p>
            <a:pPr algn="ctr">
              <a:defRPr sz="1200" b="1">
                <a:solidFill>
                  <a:srgbClr val="FF655C"/>
                </a:solidFill>
                <a:latin typeface="Aptos"/>
              </a:defRPr>
            </a:pPr>
            <a:r>
              <a:t>TPS</a:t>
            </a:r>
          </a:p>
        </p:txBody>
      </p:sp>
      <p:sp>
        <p:nvSpPr>
          <p:cNvPr id="10" name="TextBox 9"/>
          <p:cNvSpPr txBox="1"/>
          <p:nvPr/>
        </p:nvSpPr>
        <p:spPr>
          <a:xfrm>
            <a:off x="7726679" y="3291840"/>
            <a:ext cx="3383280" cy="365760"/>
          </a:xfrm>
          <a:prstGeom prst="rect">
            <a:avLst/>
          </a:prstGeom>
          <a:noFill/>
        </p:spPr>
        <p:txBody>
          <a:bodyPr wrap="square" anchor="t">
            <a:spAutoFit/>
          </a:bodyPr>
          <a:lstStyle/>
          <a:p>
            <a:pPr algn="ctr">
              <a:defRPr sz="1900" b="1">
                <a:solidFill>
                  <a:srgbClr val="F2F2F2"/>
                </a:solidFill>
                <a:latin typeface="Aptos"/>
              </a:defRPr>
            </a:pPr>
            <a:r>
              <a:t>dishonest baseline</a:t>
            </a:r>
          </a:p>
        </p:txBody>
      </p:sp>
      <p:sp>
        <p:nvSpPr>
          <p:cNvPr id="11" name="TextBox 10"/>
          <p:cNvSpPr txBox="1"/>
          <p:nvPr/>
        </p:nvSpPr>
        <p:spPr>
          <a:xfrm>
            <a:off x="7772400" y="4069080"/>
            <a:ext cx="3291840" cy="914400"/>
          </a:xfrm>
          <a:prstGeom prst="rect">
            <a:avLst/>
          </a:prstGeom>
          <a:noFill/>
        </p:spPr>
        <p:txBody>
          <a:bodyPr wrap="square" anchor="t">
            <a:spAutoFit/>
          </a:bodyPr>
          <a:lstStyle/>
          <a:p>
            <a:pPr algn="ctr">
              <a:defRPr sz="1500" b="0">
                <a:solidFill>
                  <a:srgbClr val="BEBEBE"/>
                </a:solidFill>
                <a:latin typeface="Aptos"/>
              </a:defRPr>
            </a:pPr>
            <a:r>
              <a:t>This is not PostgreSQL being slow.</a:t>
            </a:r>
            <a:br/>
            <a:r>
              <a:t>This is the schema being lazy.</a:t>
            </a:r>
          </a:p>
        </p:txBody>
      </p:sp>
      <p:sp>
        <p:nvSpPr>
          <p:cNvPr id="12" name="TextBox 11"/>
          <p:cNvSpPr txBox="1"/>
          <p:nvPr/>
        </p:nvSpPr>
        <p:spPr>
          <a:xfrm>
            <a:off x="502920" y="6510528"/>
            <a:ext cx="2377440" cy="164592"/>
          </a:xfrm>
          <a:prstGeom prst="rect">
            <a:avLst/>
          </a:prstGeom>
          <a:noFill/>
        </p:spPr>
        <p:txBody>
          <a:bodyPr wrap="square" anchor="t">
            <a:spAutoFit/>
          </a:bodyPr>
          <a:lstStyle/>
          <a:p>
            <a:pPr algn="l">
              <a:defRPr sz="750" b="1">
                <a:solidFill>
                  <a:srgbClr val="BEBEBE"/>
                </a:solidFill>
                <a:latin typeface="Aptos"/>
              </a:defRPr>
            </a:pPr>
            <a:r>
              <a:rPr dirty="0">
                <a:solidFill>
                  <a:srgbClr val="F2F2F2"/>
                </a:solidFill>
              </a:rPr>
              <a:t>MY DISHONEST BENCHMARK</a:t>
            </a:r>
          </a:p>
        </p:txBody>
      </p:sp>
      <p:sp>
        <p:nvSpPr>
          <p:cNvPr id="13" name="TextBox 12"/>
          <p:cNvSpPr txBox="1"/>
          <p:nvPr/>
        </p:nvSpPr>
        <p:spPr>
          <a:xfrm>
            <a:off x="11155680" y="6473952"/>
            <a:ext cx="502920" cy="182880"/>
          </a:xfrm>
          <a:prstGeom prst="rect">
            <a:avLst/>
          </a:prstGeom>
          <a:noFill/>
        </p:spPr>
        <p:txBody>
          <a:bodyPr wrap="square" anchor="t">
            <a:spAutoFit/>
          </a:bodyPr>
          <a:lstStyle/>
          <a:p>
            <a:pPr algn="r">
              <a:defRPr sz="800" b="1">
                <a:solidFill>
                  <a:srgbClr val="BEBEBE"/>
                </a:solidFill>
                <a:latin typeface="Aptos"/>
              </a:defRPr>
            </a:pPr>
            <a:r>
              <a:t>16</a:t>
            </a:r>
          </a:p>
        </p:txBody>
      </p:sp>
    </p:spTree>
    <p:extLst>
      <p:ext uri="{BB962C8B-B14F-4D97-AF65-F5344CB8AC3E}">
        <p14:creationId xmlns:p14="http://schemas.microsoft.com/office/powerpoint/2010/main" val="40002213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10" name="Title"/>
          <p:cNvSpPr txBox="1"/>
          <p:nvPr/>
        </p:nvSpPr>
        <p:spPr>
          <a:xfrm>
            <a:off x="596900" y="431800"/>
            <a:ext cx="7620000" cy="584200"/>
          </a:xfrm>
          <a:prstGeom prst="rect">
            <a:avLst/>
          </a:prstGeom>
          <a:noFill/>
        </p:spPr>
        <p:txBody>
          <a:bodyPr wrap="square" anchor="t">
            <a:spAutoFit/>
          </a:bodyPr>
          <a:lstStyle/>
          <a:p>
            <a:pPr algn="l"/>
            <a:r>
              <a:rPr lang="en-US" sz="3200" b="1" dirty="0">
                <a:solidFill>
                  <a:srgbClr val="F2F2F2"/>
                </a:solidFill>
                <a:latin typeface="Aptos"/>
              </a:rPr>
              <a:t>EXPLAIN ANALYZE</a:t>
            </a:r>
          </a:p>
        </p:txBody>
      </p:sp>
      <p:sp>
        <p:nvSpPr>
          <p:cNvPr id="12" name="Pill Without"/>
          <p:cNvSpPr/>
          <p:nvPr/>
        </p:nvSpPr>
        <p:spPr>
          <a:xfrm>
            <a:off x="685800" y="1422400"/>
            <a:ext cx="2565400" cy="330200"/>
          </a:xfrm>
          <a:prstGeom prst="roundRect">
            <a:avLst/>
          </a:prstGeom>
          <a:solidFill>
            <a:srgbClr val="FF655C"/>
          </a:solidFill>
          <a:ln>
            <a:noFill/>
          </a:ln>
        </p:spPr>
        <p:txBody>
          <a:bodyPr rtlCol="0" anchor="ctr"/>
          <a:lstStyle/>
          <a:p>
            <a:pPr algn="ctr"/>
            <a:endParaRPr lang="en-US" dirty="0"/>
          </a:p>
        </p:txBody>
      </p:sp>
      <p:sp>
        <p:nvSpPr>
          <p:cNvPr id="13" name="Pill Without Text"/>
          <p:cNvSpPr txBox="1"/>
          <p:nvPr/>
        </p:nvSpPr>
        <p:spPr>
          <a:xfrm>
            <a:off x="800100" y="1473200"/>
            <a:ext cx="2336800" cy="246221"/>
          </a:xfrm>
          <a:prstGeom prst="rect">
            <a:avLst/>
          </a:prstGeom>
          <a:noFill/>
        </p:spPr>
        <p:txBody>
          <a:bodyPr wrap="square" anchor="t">
            <a:spAutoFit/>
          </a:bodyPr>
          <a:lstStyle/>
          <a:p>
            <a:pPr algn="l"/>
            <a:r>
              <a:rPr lang="en-US" sz="1000" b="1" dirty="0">
                <a:solidFill>
                  <a:srgbClr val="17181C"/>
                </a:solidFill>
                <a:latin typeface="Aptos"/>
              </a:rPr>
              <a:t>WITHOUT INDEX</a:t>
            </a:r>
          </a:p>
        </p:txBody>
      </p:sp>
      <p:sp>
        <p:nvSpPr>
          <p:cNvPr id="14" name="Pill With"/>
          <p:cNvSpPr/>
          <p:nvPr/>
        </p:nvSpPr>
        <p:spPr>
          <a:xfrm>
            <a:off x="6261100" y="1422400"/>
            <a:ext cx="2565400" cy="330200"/>
          </a:xfrm>
          <a:prstGeom prst="roundRect">
            <a:avLst/>
          </a:prstGeom>
          <a:solidFill>
            <a:srgbClr val="00C2D6"/>
          </a:solidFill>
          <a:ln>
            <a:noFill/>
          </a:ln>
        </p:spPr>
        <p:txBody>
          <a:bodyPr rtlCol="0" anchor="ctr"/>
          <a:lstStyle/>
          <a:p>
            <a:pPr algn="ctr"/>
            <a:endParaRPr lang="en-US" dirty="0"/>
          </a:p>
        </p:txBody>
      </p:sp>
      <p:sp>
        <p:nvSpPr>
          <p:cNvPr id="15" name="Pill With Text"/>
          <p:cNvSpPr txBox="1"/>
          <p:nvPr/>
        </p:nvSpPr>
        <p:spPr>
          <a:xfrm>
            <a:off x="6375400" y="1473200"/>
            <a:ext cx="2336800" cy="246221"/>
          </a:xfrm>
          <a:prstGeom prst="rect">
            <a:avLst/>
          </a:prstGeom>
          <a:noFill/>
        </p:spPr>
        <p:txBody>
          <a:bodyPr wrap="square" anchor="t">
            <a:spAutoFit/>
          </a:bodyPr>
          <a:lstStyle/>
          <a:p>
            <a:pPr algn="l"/>
            <a:r>
              <a:rPr lang="en-US" sz="1000" b="1" dirty="0">
                <a:solidFill>
                  <a:srgbClr val="17181C"/>
                </a:solidFill>
                <a:latin typeface="Aptos"/>
              </a:rPr>
              <a:t>WITH COMPOSITE INDEX</a:t>
            </a:r>
          </a:p>
        </p:txBody>
      </p:sp>
      <p:sp>
        <p:nvSpPr>
          <p:cNvPr id="16" name="Card Without"/>
          <p:cNvSpPr/>
          <p:nvPr/>
        </p:nvSpPr>
        <p:spPr>
          <a:xfrm>
            <a:off x="685800" y="1905000"/>
            <a:ext cx="5308600" cy="3454400"/>
          </a:xfrm>
          <a:prstGeom prst="roundRect">
            <a:avLst>
              <a:gd name="adj" fmla="val 5000"/>
            </a:avLst>
          </a:prstGeom>
          <a:solidFill>
            <a:srgbClr val="1F1F1F"/>
          </a:solidFill>
          <a:ln>
            <a:noFill/>
          </a:ln>
        </p:spPr>
        <p:txBody>
          <a:bodyPr rtlCol="0" anchor="ctr"/>
          <a:lstStyle/>
          <a:p>
            <a:pPr algn="ctr"/>
            <a:endParaRPr lang="en-US" dirty="0"/>
          </a:p>
        </p:txBody>
      </p:sp>
      <p:sp>
        <p:nvSpPr>
          <p:cNvPr id="17" name="Card With"/>
          <p:cNvSpPr/>
          <p:nvPr/>
        </p:nvSpPr>
        <p:spPr>
          <a:xfrm>
            <a:off x="6261100" y="1905000"/>
            <a:ext cx="5308600" cy="3454400"/>
          </a:xfrm>
          <a:prstGeom prst="roundRect">
            <a:avLst>
              <a:gd name="adj" fmla="val 5000"/>
            </a:avLst>
          </a:prstGeom>
          <a:solidFill>
            <a:srgbClr val="1F1F1F"/>
          </a:solidFill>
          <a:ln>
            <a:noFill/>
          </a:ln>
        </p:spPr>
        <p:txBody>
          <a:bodyPr rtlCol="0" anchor="ctr"/>
          <a:lstStyle/>
          <a:p>
            <a:pPr algn="ctr"/>
            <a:endParaRPr lang="en-US" dirty="0"/>
          </a:p>
        </p:txBody>
      </p:sp>
      <p:sp>
        <p:nvSpPr>
          <p:cNvPr id="21" name="Caption With"/>
          <p:cNvSpPr txBox="1"/>
          <p:nvPr/>
        </p:nvSpPr>
        <p:spPr>
          <a:xfrm>
            <a:off x="6261100" y="5562600"/>
            <a:ext cx="5308600" cy="307777"/>
          </a:xfrm>
          <a:prstGeom prst="rect">
            <a:avLst/>
          </a:prstGeom>
          <a:noFill/>
        </p:spPr>
        <p:txBody>
          <a:bodyPr wrap="square" anchor="t">
            <a:spAutoFit/>
          </a:bodyPr>
          <a:lstStyle/>
          <a:p>
            <a:pPr algn="l"/>
            <a:r>
              <a:rPr lang="en-US" sz="1400" b="1" dirty="0">
                <a:solidFill>
                  <a:srgbClr val="00C2D6"/>
                </a:solidFill>
                <a:latin typeface="Aptos"/>
              </a:rPr>
              <a:t>Index Only Scan</a:t>
            </a:r>
            <a:r>
              <a:rPr lang="en-US" sz="1400" b="0" dirty="0">
                <a:solidFill>
                  <a:srgbClr val="BEBEBE"/>
                </a:solidFill>
                <a:latin typeface="Aptos"/>
              </a:rPr>
              <a:t> reads 3 buffers, 0 heap fetches</a:t>
            </a:r>
          </a:p>
        </p:txBody>
      </p:sp>
      <p:sp>
        <p:nvSpPr>
          <p:cNvPr id="22" name="Footer"/>
          <p:cNvSpPr txBox="1"/>
          <p:nvPr/>
        </p:nvSpPr>
        <p:spPr>
          <a:xfrm>
            <a:off x="508000" y="6515100"/>
            <a:ext cx="2374900" cy="207749"/>
          </a:xfrm>
          <a:prstGeom prst="rect">
            <a:avLst/>
          </a:prstGeom>
          <a:noFill/>
        </p:spPr>
        <p:txBody>
          <a:bodyPr wrap="square" anchor="t">
            <a:spAutoFit/>
          </a:bodyPr>
          <a:lstStyle/>
          <a:p>
            <a:pPr algn="l"/>
            <a:r>
              <a:rPr lang="en-US" sz="750" b="1" dirty="0">
                <a:solidFill>
                  <a:srgbClr val="BEBEBE"/>
                </a:solidFill>
                <a:latin typeface="Aptos"/>
              </a:rPr>
              <a:t>MY DISHONEST BENCHMARK</a:t>
            </a:r>
          </a:p>
        </p:txBody>
      </p:sp>
      <p:pic>
        <p:nvPicPr>
          <p:cNvPr id="3" name="Picture 2">
            <a:extLst>
              <a:ext uri="{FF2B5EF4-FFF2-40B4-BE49-F238E27FC236}">
                <a16:creationId xmlns:a16="http://schemas.microsoft.com/office/drawing/2014/main" id="{6C7F7C95-A4C2-7ACB-31D8-68BC53B5C17B}"/>
              </a:ext>
            </a:extLst>
          </p:cNvPr>
          <p:cNvPicPr>
            <a:picLocks noChangeAspect="1"/>
          </p:cNvPicPr>
          <p:nvPr/>
        </p:nvPicPr>
        <p:blipFill>
          <a:blip r:embed="rId2"/>
          <a:stretch>
            <a:fillRect/>
          </a:stretch>
        </p:blipFill>
        <p:spPr>
          <a:xfrm>
            <a:off x="914400" y="2319088"/>
            <a:ext cx="4851400" cy="2626225"/>
          </a:xfrm>
          <a:prstGeom prst="rect">
            <a:avLst/>
          </a:prstGeom>
        </p:spPr>
      </p:pic>
      <p:pic>
        <p:nvPicPr>
          <p:cNvPr id="5" name="Picture 4">
            <a:extLst>
              <a:ext uri="{FF2B5EF4-FFF2-40B4-BE49-F238E27FC236}">
                <a16:creationId xmlns:a16="http://schemas.microsoft.com/office/drawing/2014/main" id="{FE7D482A-541E-9FA0-B00F-5C9B66DA9E58}"/>
              </a:ext>
            </a:extLst>
          </p:cNvPr>
          <p:cNvPicPr>
            <a:picLocks noChangeAspect="1"/>
          </p:cNvPicPr>
          <p:nvPr/>
        </p:nvPicPr>
        <p:blipFill>
          <a:blip r:embed="rId3"/>
          <a:stretch>
            <a:fillRect/>
          </a:stretch>
        </p:blipFill>
        <p:spPr>
          <a:xfrm>
            <a:off x="6489700" y="2646759"/>
            <a:ext cx="4851400" cy="1970881"/>
          </a:xfrm>
          <a:prstGeom prst="rect">
            <a:avLst/>
          </a:prstGeom>
        </p:spPr>
      </p:pic>
    </p:spTree>
    <p:extLst>
      <p:ext uri="{BB962C8B-B14F-4D97-AF65-F5344CB8AC3E}">
        <p14:creationId xmlns:p14="http://schemas.microsoft.com/office/powerpoint/2010/main" val="3990715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3" name="TextBox 2"/>
          <p:cNvSpPr txBox="1"/>
          <p:nvPr/>
        </p:nvSpPr>
        <p:spPr>
          <a:xfrm>
            <a:off x="576775" y="378424"/>
            <a:ext cx="10515600" cy="621792"/>
          </a:xfrm>
          <a:prstGeom prst="rect">
            <a:avLst/>
          </a:prstGeom>
          <a:noFill/>
        </p:spPr>
        <p:txBody>
          <a:bodyPr wrap="square" anchor="t">
            <a:spAutoFit/>
          </a:bodyPr>
          <a:lstStyle/>
          <a:p>
            <a:pPr algn="l">
              <a:defRPr sz="2900" b="1">
                <a:solidFill>
                  <a:srgbClr val="F2F2F2"/>
                </a:solidFill>
                <a:latin typeface="Aptos Display"/>
              </a:defRPr>
            </a:pPr>
            <a:r>
              <a:rPr dirty="0"/>
              <a:t>The plan tells you exactly what I broke</a:t>
            </a:r>
          </a:p>
        </p:txBody>
      </p:sp>
      <p:sp>
        <p:nvSpPr>
          <p:cNvPr id="4" name="Rounded Rectangle 3"/>
          <p:cNvSpPr/>
          <p:nvPr/>
        </p:nvSpPr>
        <p:spPr>
          <a:xfrm>
            <a:off x="685800" y="1417320"/>
            <a:ext cx="2560320" cy="329184"/>
          </a:xfrm>
          <a:prstGeom prst="roundRect">
            <a:avLst/>
          </a:prstGeom>
          <a:solidFill>
            <a:srgbClr val="FF6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5" name="TextBox 4"/>
          <p:cNvSpPr txBox="1"/>
          <p:nvPr/>
        </p:nvSpPr>
        <p:spPr>
          <a:xfrm>
            <a:off x="795528" y="1472184"/>
            <a:ext cx="2340863" cy="201168"/>
          </a:xfrm>
          <a:prstGeom prst="rect">
            <a:avLst/>
          </a:prstGeom>
          <a:noFill/>
        </p:spPr>
        <p:txBody>
          <a:bodyPr wrap="square" anchor="t">
            <a:spAutoFit/>
          </a:bodyPr>
          <a:lstStyle/>
          <a:p>
            <a:pPr algn="l">
              <a:defRPr sz="1000" b="1">
                <a:solidFill>
                  <a:srgbClr val="17181C"/>
                </a:solidFill>
                <a:latin typeface="Aptos"/>
              </a:defRPr>
            </a:pPr>
            <a:r>
              <a:t>WITHOUT INDEX</a:t>
            </a:r>
          </a:p>
        </p:txBody>
      </p:sp>
      <p:sp>
        <p:nvSpPr>
          <p:cNvPr id="6" name="TextBox 5"/>
          <p:cNvSpPr txBox="1"/>
          <p:nvPr/>
        </p:nvSpPr>
        <p:spPr>
          <a:xfrm>
            <a:off x="685800" y="2148840"/>
            <a:ext cx="2194560" cy="384048"/>
          </a:xfrm>
          <a:prstGeom prst="rect">
            <a:avLst/>
          </a:prstGeom>
          <a:noFill/>
        </p:spPr>
        <p:txBody>
          <a:bodyPr wrap="square" anchor="t">
            <a:spAutoFit/>
          </a:bodyPr>
          <a:lstStyle/>
          <a:p>
            <a:pPr algn="l">
              <a:defRPr sz="2400" b="1">
                <a:solidFill>
                  <a:srgbClr val="FF655C"/>
                </a:solidFill>
                <a:latin typeface="Aptos Display"/>
              </a:defRPr>
            </a:pPr>
            <a:r>
              <a:t>200,000</a:t>
            </a:r>
          </a:p>
        </p:txBody>
      </p:sp>
      <p:sp>
        <p:nvSpPr>
          <p:cNvPr id="7" name="TextBox 6"/>
          <p:cNvSpPr txBox="1"/>
          <p:nvPr/>
        </p:nvSpPr>
        <p:spPr>
          <a:xfrm>
            <a:off x="2651760" y="2212848"/>
            <a:ext cx="2743200" cy="502920"/>
          </a:xfrm>
          <a:prstGeom prst="rect">
            <a:avLst/>
          </a:prstGeom>
          <a:noFill/>
        </p:spPr>
        <p:txBody>
          <a:bodyPr wrap="square" anchor="t">
            <a:spAutoFit/>
          </a:bodyPr>
          <a:lstStyle/>
          <a:p>
            <a:pPr algn="l">
              <a:defRPr sz="1400" b="0">
                <a:solidFill>
                  <a:srgbClr val="F2F2F2"/>
                </a:solidFill>
                <a:latin typeface="Aptos"/>
              </a:defRPr>
            </a:pPr>
            <a:r>
              <a:t>rows removed by filter</a:t>
            </a:r>
          </a:p>
        </p:txBody>
      </p:sp>
      <p:sp>
        <p:nvSpPr>
          <p:cNvPr id="8" name="TextBox 7"/>
          <p:cNvSpPr txBox="1"/>
          <p:nvPr/>
        </p:nvSpPr>
        <p:spPr>
          <a:xfrm>
            <a:off x="685800" y="3218688"/>
            <a:ext cx="2194560" cy="384048"/>
          </a:xfrm>
          <a:prstGeom prst="rect">
            <a:avLst/>
          </a:prstGeom>
          <a:noFill/>
        </p:spPr>
        <p:txBody>
          <a:bodyPr wrap="square" anchor="t">
            <a:spAutoFit/>
          </a:bodyPr>
          <a:lstStyle/>
          <a:p>
            <a:pPr algn="l">
              <a:defRPr sz="2400" b="1">
                <a:solidFill>
                  <a:srgbClr val="FF655C"/>
                </a:solidFill>
                <a:latin typeface="Aptos Display"/>
              </a:defRPr>
            </a:pPr>
            <a:r>
              <a:t>1,667</a:t>
            </a:r>
          </a:p>
        </p:txBody>
      </p:sp>
      <p:sp>
        <p:nvSpPr>
          <p:cNvPr id="9" name="TextBox 8"/>
          <p:cNvSpPr txBox="1"/>
          <p:nvPr/>
        </p:nvSpPr>
        <p:spPr>
          <a:xfrm>
            <a:off x="2651760" y="3282696"/>
            <a:ext cx="2743200" cy="502920"/>
          </a:xfrm>
          <a:prstGeom prst="rect">
            <a:avLst/>
          </a:prstGeom>
          <a:noFill/>
        </p:spPr>
        <p:txBody>
          <a:bodyPr wrap="square" anchor="t">
            <a:spAutoFit/>
          </a:bodyPr>
          <a:lstStyle/>
          <a:p>
            <a:pPr algn="l">
              <a:defRPr sz="1400" b="0">
                <a:solidFill>
                  <a:srgbClr val="F2F2F2"/>
                </a:solidFill>
                <a:latin typeface="Aptos"/>
              </a:defRPr>
            </a:pPr>
            <a:r>
              <a:t>shared buffers hit</a:t>
            </a:r>
          </a:p>
        </p:txBody>
      </p:sp>
      <p:sp>
        <p:nvSpPr>
          <p:cNvPr id="10" name="TextBox 9"/>
          <p:cNvSpPr txBox="1"/>
          <p:nvPr/>
        </p:nvSpPr>
        <p:spPr>
          <a:xfrm>
            <a:off x="685800" y="4288536"/>
            <a:ext cx="2194560" cy="384048"/>
          </a:xfrm>
          <a:prstGeom prst="rect">
            <a:avLst/>
          </a:prstGeom>
          <a:noFill/>
        </p:spPr>
        <p:txBody>
          <a:bodyPr wrap="square" anchor="t">
            <a:spAutoFit/>
          </a:bodyPr>
          <a:lstStyle/>
          <a:p>
            <a:pPr algn="l">
              <a:defRPr sz="2400" b="1">
                <a:solidFill>
                  <a:srgbClr val="FF655C"/>
                </a:solidFill>
                <a:latin typeface="Aptos Display"/>
              </a:defRPr>
            </a:pPr>
            <a:r>
              <a:t>Seq Scan</a:t>
            </a:r>
          </a:p>
        </p:txBody>
      </p:sp>
      <p:sp>
        <p:nvSpPr>
          <p:cNvPr id="11" name="TextBox 10"/>
          <p:cNvSpPr txBox="1"/>
          <p:nvPr/>
        </p:nvSpPr>
        <p:spPr>
          <a:xfrm>
            <a:off x="2651760" y="4352544"/>
            <a:ext cx="2743200" cy="502920"/>
          </a:xfrm>
          <a:prstGeom prst="rect">
            <a:avLst/>
          </a:prstGeom>
          <a:noFill/>
        </p:spPr>
        <p:txBody>
          <a:bodyPr wrap="square" anchor="t">
            <a:spAutoFit/>
          </a:bodyPr>
          <a:lstStyle/>
          <a:p>
            <a:pPr algn="l">
              <a:defRPr sz="1400" b="0">
                <a:solidFill>
                  <a:srgbClr val="F2F2F2"/>
                </a:solidFill>
                <a:latin typeface="Aptos"/>
              </a:defRPr>
            </a:pPr>
            <a:r>
              <a:t>→ Sort → Limit</a:t>
            </a:r>
          </a:p>
        </p:txBody>
      </p:sp>
      <p:sp>
        <p:nvSpPr>
          <p:cNvPr id="12" name="Rounded Rectangle 11"/>
          <p:cNvSpPr/>
          <p:nvPr/>
        </p:nvSpPr>
        <p:spPr>
          <a:xfrm>
            <a:off x="6263640" y="1417320"/>
            <a:ext cx="2560320" cy="329184"/>
          </a:xfrm>
          <a:prstGeom prst="roundRect">
            <a:avLst/>
          </a:prstGeom>
          <a:solidFill>
            <a:srgbClr val="00C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13" name="TextBox 12"/>
          <p:cNvSpPr txBox="1"/>
          <p:nvPr/>
        </p:nvSpPr>
        <p:spPr>
          <a:xfrm>
            <a:off x="6373368" y="1472184"/>
            <a:ext cx="2340863" cy="201168"/>
          </a:xfrm>
          <a:prstGeom prst="rect">
            <a:avLst/>
          </a:prstGeom>
          <a:noFill/>
        </p:spPr>
        <p:txBody>
          <a:bodyPr wrap="square" anchor="t">
            <a:spAutoFit/>
          </a:bodyPr>
          <a:lstStyle/>
          <a:p>
            <a:pPr algn="l">
              <a:defRPr sz="1000" b="1">
                <a:solidFill>
                  <a:srgbClr val="17181C"/>
                </a:solidFill>
                <a:latin typeface="Aptos"/>
              </a:defRPr>
            </a:pPr>
            <a:r>
              <a:t>WITH COMPOSITE INDEX</a:t>
            </a:r>
          </a:p>
        </p:txBody>
      </p:sp>
      <p:sp>
        <p:nvSpPr>
          <p:cNvPr id="14" name="TextBox 13"/>
          <p:cNvSpPr txBox="1"/>
          <p:nvPr/>
        </p:nvSpPr>
        <p:spPr>
          <a:xfrm>
            <a:off x="6263640" y="2148840"/>
            <a:ext cx="2194560" cy="384048"/>
          </a:xfrm>
          <a:prstGeom prst="rect">
            <a:avLst/>
          </a:prstGeom>
          <a:noFill/>
        </p:spPr>
        <p:txBody>
          <a:bodyPr wrap="square" anchor="t">
            <a:spAutoFit/>
          </a:bodyPr>
          <a:lstStyle/>
          <a:p>
            <a:pPr algn="l">
              <a:defRPr sz="2400" b="1">
                <a:solidFill>
                  <a:srgbClr val="00C2D6"/>
                </a:solidFill>
                <a:latin typeface="Aptos Display"/>
              </a:defRPr>
            </a:pPr>
            <a:r>
              <a:t>0</a:t>
            </a:r>
          </a:p>
        </p:txBody>
      </p:sp>
      <p:sp>
        <p:nvSpPr>
          <p:cNvPr id="15" name="TextBox 14"/>
          <p:cNvSpPr txBox="1"/>
          <p:nvPr/>
        </p:nvSpPr>
        <p:spPr>
          <a:xfrm>
            <a:off x="8229600" y="2212848"/>
            <a:ext cx="2743200" cy="502920"/>
          </a:xfrm>
          <a:prstGeom prst="rect">
            <a:avLst/>
          </a:prstGeom>
          <a:noFill/>
        </p:spPr>
        <p:txBody>
          <a:bodyPr wrap="square" anchor="t">
            <a:spAutoFit/>
          </a:bodyPr>
          <a:lstStyle/>
          <a:p>
            <a:pPr algn="l">
              <a:defRPr sz="1400" b="0">
                <a:solidFill>
                  <a:srgbClr val="F2F2F2"/>
                </a:solidFill>
                <a:latin typeface="Aptos"/>
              </a:defRPr>
            </a:pPr>
            <a:r>
              <a:t>heap fetches</a:t>
            </a:r>
          </a:p>
        </p:txBody>
      </p:sp>
      <p:sp>
        <p:nvSpPr>
          <p:cNvPr id="16" name="TextBox 15"/>
          <p:cNvSpPr txBox="1"/>
          <p:nvPr/>
        </p:nvSpPr>
        <p:spPr>
          <a:xfrm>
            <a:off x="6263640" y="3218688"/>
            <a:ext cx="2194560" cy="384048"/>
          </a:xfrm>
          <a:prstGeom prst="rect">
            <a:avLst/>
          </a:prstGeom>
          <a:noFill/>
        </p:spPr>
        <p:txBody>
          <a:bodyPr wrap="square" anchor="t">
            <a:spAutoFit/>
          </a:bodyPr>
          <a:lstStyle/>
          <a:p>
            <a:pPr algn="l">
              <a:defRPr sz="2400" b="1">
                <a:solidFill>
                  <a:srgbClr val="00C2D6"/>
                </a:solidFill>
                <a:latin typeface="Aptos Display"/>
              </a:defRPr>
            </a:pPr>
            <a:r>
              <a:t>3</a:t>
            </a:r>
          </a:p>
        </p:txBody>
      </p:sp>
      <p:sp>
        <p:nvSpPr>
          <p:cNvPr id="17" name="TextBox 16"/>
          <p:cNvSpPr txBox="1"/>
          <p:nvPr/>
        </p:nvSpPr>
        <p:spPr>
          <a:xfrm>
            <a:off x="8229600" y="3282696"/>
            <a:ext cx="2743200" cy="502920"/>
          </a:xfrm>
          <a:prstGeom prst="rect">
            <a:avLst/>
          </a:prstGeom>
          <a:noFill/>
        </p:spPr>
        <p:txBody>
          <a:bodyPr wrap="square" anchor="t">
            <a:spAutoFit/>
          </a:bodyPr>
          <a:lstStyle/>
          <a:p>
            <a:pPr algn="l">
              <a:defRPr sz="1400" b="0">
                <a:solidFill>
                  <a:srgbClr val="F2F2F2"/>
                </a:solidFill>
                <a:latin typeface="Aptos"/>
              </a:defRPr>
            </a:pPr>
            <a:r>
              <a:t>shared buffers hit</a:t>
            </a:r>
          </a:p>
        </p:txBody>
      </p:sp>
      <p:sp>
        <p:nvSpPr>
          <p:cNvPr id="18" name="TextBox 17"/>
          <p:cNvSpPr txBox="1"/>
          <p:nvPr/>
        </p:nvSpPr>
        <p:spPr>
          <a:xfrm>
            <a:off x="6263640" y="4288536"/>
            <a:ext cx="2194560" cy="384048"/>
          </a:xfrm>
          <a:prstGeom prst="rect">
            <a:avLst/>
          </a:prstGeom>
          <a:noFill/>
        </p:spPr>
        <p:txBody>
          <a:bodyPr wrap="square" anchor="t">
            <a:spAutoFit/>
          </a:bodyPr>
          <a:lstStyle/>
          <a:p>
            <a:pPr algn="l">
              <a:defRPr sz="2400" b="1">
                <a:solidFill>
                  <a:srgbClr val="00C2D6"/>
                </a:solidFill>
                <a:latin typeface="Aptos Display"/>
              </a:defRPr>
            </a:pPr>
            <a:r>
              <a:t>Index Only</a:t>
            </a:r>
          </a:p>
        </p:txBody>
      </p:sp>
      <p:sp>
        <p:nvSpPr>
          <p:cNvPr id="19" name="TextBox 18"/>
          <p:cNvSpPr txBox="1"/>
          <p:nvPr/>
        </p:nvSpPr>
        <p:spPr>
          <a:xfrm>
            <a:off x="8229600" y="4352544"/>
            <a:ext cx="2743200" cy="502920"/>
          </a:xfrm>
          <a:prstGeom prst="rect">
            <a:avLst/>
          </a:prstGeom>
          <a:noFill/>
        </p:spPr>
        <p:txBody>
          <a:bodyPr wrap="square" anchor="t">
            <a:spAutoFit/>
          </a:bodyPr>
          <a:lstStyle/>
          <a:p>
            <a:pPr algn="l">
              <a:defRPr sz="1400" b="0">
                <a:solidFill>
                  <a:srgbClr val="F2F2F2"/>
                </a:solidFill>
                <a:latin typeface="Aptos"/>
              </a:defRPr>
            </a:pPr>
            <a:r>
              <a:t>Scan → Limit</a:t>
            </a:r>
          </a:p>
        </p:txBody>
      </p:sp>
      <p:sp>
        <p:nvSpPr>
          <p:cNvPr id="20" name="TextBox 19"/>
          <p:cNvSpPr txBox="1"/>
          <p:nvPr/>
        </p:nvSpPr>
        <p:spPr>
          <a:xfrm>
            <a:off x="502920" y="6510528"/>
            <a:ext cx="2377440" cy="164592"/>
          </a:xfrm>
          <a:prstGeom prst="rect">
            <a:avLst/>
          </a:prstGeom>
          <a:noFill/>
        </p:spPr>
        <p:txBody>
          <a:bodyPr wrap="square" anchor="t">
            <a:spAutoFit/>
          </a:bodyPr>
          <a:lstStyle/>
          <a:p>
            <a:pPr algn="l">
              <a:defRPr sz="750" b="1">
                <a:solidFill>
                  <a:srgbClr val="BEBEBE"/>
                </a:solidFill>
                <a:latin typeface="Aptos"/>
              </a:defRPr>
            </a:pPr>
            <a:r>
              <a:t>MY DISHONEST BENCHMARK</a:t>
            </a:r>
          </a:p>
        </p:txBody>
      </p:sp>
      <p:sp>
        <p:nvSpPr>
          <p:cNvPr id="21" name="TextBox 20"/>
          <p:cNvSpPr txBox="1"/>
          <p:nvPr/>
        </p:nvSpPr>
        <p:spPr>
          <a:xfrm>
            <a:off x="11155680" y="6473952"/>
            <a:ext cx="502920" cy="182880"/>
          </a:xfrm>
          <a:prstGeom prst="rect">
            <a:avLst/>
          </a:prstGeom>
          <a:noFill/>
        </p:spPr>
        <p:txBody>
          <a:bodyPr wrap="square" anchor="t">
            <a:spAutoFit/>
          </a:bodyPr>
          <a:lstStyle/>
          <a:p>
            <a:pPr algn="r">
              <a:defRPr sz="800" b="1">
                <a:solidFill>
                  <a:srgbClr val="BEBEBE"/>
                </a:solidFill>
                <a:latin typeface="Aptos"/>
              </a:defRPr>
            </a:pPr>
            <a:r>
              <a:t>17</a:t>
            </a:r>
          </a:p>
        </p:txBody>
      </p:sp>
    </p:spTree>
    <p:extLst>
      <p:ext uri="{BB962C8B-B14F-4D97-AF65-F5344CB8AC3E}">
        <p14:creationId xmlns:p14="http://schemas.microsoft.com/office/powerpoint/2010/main" val="24634195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 name="Rounded Rectangle 1"/>
          <p:cNvSpPr/>
          <p:nvPr/>
        </p:nvSpPr>
        <p:spPr>
          <a:xfrm>
            <a:off x="861648" y="566927"/>
            <a:ext cx="3587260" cy="584775"/>
          </a:xfrm>
          <a:prstGeom prst="roundRect">
            <a:avLst/>
          </a:prstGeom>
          <a:solidFill>
            <a:srgbClr val="00C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945" y="586622"/>
            <a:ext cx="3670963" cy="584775"/>
          </a:xfrm>
          <a:prstGeom prst="rect">
            <a:avLst/>
          </a:prstGeom>
          <a:noFill/>
        </p:spPr>
        <p:txBody>
          <a:bodyPr wrap="square" anchor="t">
            <a:spAutoFit/>
          </a:bodyPr>
          <a:lstStyle/>
          <a:p>
            <a:pPr algn="l">
              <a:defRPr sz="1000" b="1">
                <a:solidFill>
                  <a:srgbClr val="17181C"/>
                </a:solidFill>
                <a:latin typeface="Aptos"/>
              </a:defRPr>
            </a:pPr>
            <a:r>
              <a:rPr sz="3200" dirty="0"/>
              <a:t>HONEST BASELINE</a:t>
            </a:r>
          </a:p>
        </p:txBody>
      </p:sp>
      <p:sp>
        <p:nvSpPr>
          <p:cNvPr id="4" name="TextBox 3"/>
          <p:cNvSpPr txBox="1"/>
          <p:nvPr/>
        </p:nvSpPr>
        <p:spPr>
          <a:xfrm>
            <a:off x="731520" y="1325880"/>
            <a:ext cx="7589520" cy="640080"/>
          </a:xfrm>
          <a:prstGeom prst="rect">
            <a:avLst/>
          </a:prstGeom>
          <a:noFill/>
        </p:spPr>
        <p:txBody>
          <a:bodyPr wrap="square" anchor="t">
            <a:spAutoFit/>
          </a:bodyPr>
          <a:lstStyle/>
          <a:p>
            <a:pPr algn="l">
              <a:defRPr sz="3500" b="1">
                <a:solidFill>
                  <a:srgbClr val="FFFFFF"/>
                </a:solidFill>
                <a:latin typeface="Aptos Display"/>
              </a:defRPr>
            </a:pPr>
            <a:r>
              <a:t>Add the obvious missing index.</a:t>
            </a:r>
          </a:p>
        </p:txBody>
      </p:sp>
      <p:sp>
        <p:nvSpPr>
          <p:cNvPr id="5" name="TextBox 4"/>
          <p:cNvSpPr txBox="1"/>
          <p:nvPr/>
        </p:nvSpPr>
        <p:spPr>
          <a:xfrm>
            <a:off x="777240" y="2377440"/>
            <a:ext cx="7132320" cy="914400"/>
          </a:xfrm>
          <a:prstGeom prst="rect">
            <a:avLst/>
          </a:prstGeom>
          <a:noFill/>
        </p:spPr>
        <p:txBody>
          <a:bodyPr wrap="square" anchor="t">
            <a:spAutoFit/>
          </a:bodyPr>
          <a:lstStyle/>
          <a:p>
            <a:pPr algn="l">
              <a:defRPr sz="1700" b="0">
                <a:solidFill>
                  <a:srgbClr val="D0D0D0"/>
                </a:solidFill>
                <a:latin typeface="DejaVu Sans Mono"/>
              </a:defRPr>
            </a:pPr>
            <a:r>
              <a:t>CREATE INDEX bench_audit_created_at_audit_id_idx</a:t>
            </a:r>
            <a:br/>
            <a:r>
              <a:t>ON bench_audit(created_at, audit_id);</a:t>
            </a:r>
          </a:p>
        </p:txBody>
      </p:sp>
      <p:sp>
        <p:nvSpPr>
          <p:cNvPr id="6" name="TextBox 5"/>
          <p:cNvSpPr txBox="1"/>
          <p:nvPr/>
        </p:nvSpPr>
        <p:spPr>
          <a:xfrm>
            <a:off x="7955279" y="1965960"/>
            <a:ext cx="3108960" cy="777240"/>
          </a:xfrm>
          <a:prstGeom prst="rect">
            <a:avLst/>
          </a:prstGeom>
          <a:noFill/>
        </p:spPr>
        <p:txBody>
          <a:bodyPr wrap="square" anchor="t">
            <a:spAutoFit/>
          </a:bodyPr>
          <a:lstStyle/>
          <a:p>
            <a:pPr algn="ctr">
              <a:defRPr sz="4400" b="1">
                <a:solidFill>
                  <a:srgbClr val="FFFFFF"/>
                </a:solidFill>
                <a:latin typeface="Aptos Display"/>
              </a:defRPr>
            </a:pPr>
            <a:r>
              <a:rPr dirty="0"/>
              <a:t>2</a:t>
            </a:r>
            <a:r>
              <a:rPr lang="en-US" dirty="0"/>
              <a:t>2</a:t>
            </a:r>
            <a:r>
              <a:rPr dirty="0"/>
              <a:t>,</a:t>
            </a:r>
            <a:r>
              <a:rPr lang="en-US" dirty="0"/>
              <a:t>705</a:t>
            </a:r>
            <a:endParaRPr dirty="0"/>
          </a:p>
        </p:txBody>
      </p:sp>
      <p:sp>
        <p:nvSpPr>
          <p:cNvPr id="7" name="TextBox 6"/>
          <p:cNvSpPr txBox="1"/>
          <p:nvPr/>
        </p:nvSpPr>
        <p:spPr>
          <a:xfrm>
            <a:off x="7955279" y="2679191"/>
            <a:ext cx="3108960" cy="347472"/>
          </a:xfrm>
          <a:prstGeom prst="rect">
            <a:avLst/>
          </a:prstGeom>
          <a:noFill/>
        </p:spPr>
        <p:txBody>
          <a:bodyPr wrap="square" anchor="t">
            <a:spAutoFit/>
          </a:bodyPr>
          <a:lstStyle/>
          <a:p>
            <a:pPr algn="ctr">
              <a:defRPr sz="1200" b="1">
                <a:solidFill>
                  <a:srgbClr val="00C2D6"/>
                </a:solidFill>
                <a:latin typeface="Aptos"/>
              </a:defRPr>
            </a:pPr>
            <a:r>
              <a:t>TPS — HONEST BASELINE</a:t>
            </a:r>
          </a:p>
        </p:txBody>
      </p:sp>
      <p:sp>
        <p:nvSpPr>
          <p:cNvPr id="8" name="Rounded Rectangle 7"/>
          <p:cNvSpPr/>
          <p:nvPr/>
        </p:nvSpPr>
        <p:spPr>
          <a:xfrm>
            <a:off x="8321040" y="3886200"/>
            <a:ext cx="2377440" cy="329184"/>
          </a:xfrm>
          <a:prstGeom prst="roundRect">
            <a:avLst/>
          </a:prstGeom>
          <a:solidFill>
            <a:srgbClr val="F6C5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30767" y="3941063"/>
            <a:ext cx="2157984" cy="201168"/>
          </a:xfrm>
          <a:prstGeom prst="rect">
            <a:avLst/>
          </a:prstGeom>
          <a:noFill/>
        </p:spPr>
        <p:txBody>
          <a:bodyPr wrap="square" anchor="t">
            <a:spAutoFit/>
          </a:bodyPr>
          <a:lstStyle/>
          <a:p>
            <a:pPr algn="l">
              <a:defRPr sz="1000" b="1">
                <a:solidFill>
                  <a:srgbClr val="17181C"/>
                </a:solidFill>
                <a:latin typeface="Aptos"/>
              </a:defRPr>
            </a:pPr>
            <a:r>
              <a:t>41× OVER CASE 0</a:t>
            </a:r>
          </a:p>
        </p:txBody>
      </p:sp>
      <p:sp>
        <p:nvSpPr>
          <p:cNvPr id="10" name="TextBox 9"/>
          <p:cNvSpPr txBox="1"/>
          <p:nvPr/>
        </p:nvSpPr>
        <p:spPr>
          <a:xfrm>
            <a:off x="502920" y="6510528"/>
            <a:ext cx="2377440" cy="164592"/>
          </a:xfrm>
          <a:prstGeom prst="rect">
            <a:avLst/>
          </a:prstGeom>
          <a:noFill/>
        </p:spPr>
        <p:txBody>
          <a:bodyPr wrap="square" anchor="t">
            <a:spAutoFit/>
          </a:bodyPr>
          <a:lstStyle/>
          <a:p>
            <a:pPr algn="l">
              <a:defRPr sz="750" b="1">
                <a:solidFill>
                  <a:srgbClr val="AAAAAA"/>
                </a:solidFill>
                <a:latin typeface="Aptos"/>
              </a:defRPr>
            </a:pPr>
            <a:r>
              <a:t>MY DISHONEST BENCHMARK</a:t>
            </a:r>
          </a:p>
        </p:txBody>
      </p:sp>
      <p:sp>
        <p:nvSpPr>
          <p:cNvPr id="11" name="TextBox 10"/>
          <p:cNvSpPr txBox="1"/>
          <p:nvPr/>
        </p:nvSpPr>
        <p:spPr>
          <a:xfrm>
            <a:off x="11155680" y="6473952"/>
            <a:ext cx="502920" cy="182880"/>
          </a:xfrm>
          <a:prstGeom prst="rect">
            <a:avLst/>
          </a:prstGeom>
          <a:noFill/>
        </p:spPr>
        <p:txBody>
          <a:bodyPr wrap="square" anchor="t">
            <a:spAutoFit/>
          </a:bodyPr>
          <a:lstStyle/>
          <a:p>
            <a:pPr algn="r">
              <a:defRPr sz="800" b="1">
                <a:solidFill>
                  <a:srgbClr val="AAAAAA"/>
                </a:solidFill>
                <a:latin typeface="Aptos"/>
              </a:defRPr>
            </a:pPr>
            <a:r>
              <a:t>18</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 name="TextBox 1"/>
          <p:cNvSpPr txBox="1"/>
          <p:nvPr/>
        </p:nvSpPr>
        <p:spPr>
          <a:xfrm>
            <a:off x="594360" y="429768"/>
            <a:ext cx="4572000" cy="584775"/>
          </a:xfrm>
          <a:prstGeom prst="rect">
            <a:avLst/>
          </a:prstGeom>
          <a:noFill/>
        </p:spPr>
        <p:txBody>
          <a:bodyPr wrap="square" anchor="t">
            <a:spAutoFit/>
          </a:bodyPr>
          <a:lstStyle/>
          <a:p>
            <a:pPr algn="l">
              <a:defRPr sz="1000" b="1">
                <a:solidFill>
                  <a:srgbClr val="FF655C"/>
                </a:solidFill>
                <a:latin typeface="Aptos"/>
              </a:defRPr>
            </a:pPr>
            <a:r>
              <a:rPr sz="3200" dirty="0">
                <a:solidFill>
                  <a:srgbClr val="F2F2F2"/>
                </a:solidFill>
              </a:rPr>
              <a:t>FOUR</a:t>
            </a:r>
            <a:r>
              <a:rPr lang="en-US" sz="3200" dirty="0">
                <a:solidFill>
                  <a:srgbClr val="F2F2F2"/>
                </a:solidFill>
              </a:rPr>
              <a:t> </a:t>
            </a:r>
            <a:r>
              <a:rPr dirty="0">
                <a:solidFill>
                  <a:srgbClr val="F2F2F2"/>
                </a:solidFill>
              </a:rPr>
              <a:t> </a:t>
            </a:r>
            <a:r>
              <a:rPr sz="3200" dirty="0">
                <a:solidFill>
                  <a:srgbClr val="F2F2F2"/>
                </a:solidFill>
              </a:rPr>
              <a:t>LEVERS</a:t>
            </a:r>
          </a:p>
        </p:txBody>
      </p:sp>
      <p:sp>
        <p:nvSpPr>
          <p:cNvPr id="4" name="Rounded Rectangle 3"/>
          <p:cNvSpPr/>
          <p:nvPr/>
        </p:nvSpPr>
        <p:spPr>
          <a:xfrm>
            <a:off x="594360" y="1737360"/>
            <a:ext cx="2578608" cy="3017520"/>
          </a:xfrm>
          <a:prstGeom prst="roundRect">
            <a:avLst/>
          </a:prstGeom>
          <a:solidFill>
            <a:srgbClr val="222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5" name="TextBox 4"/>
          <p:cNvSpPr txBox="1"/>
          <p:nvPr/>
        </p:nvSpPr>
        <p:spPr>
          <a:xfrm>
            <a:off x="777240" y="1984248"/>
            <a:ext cx="548640" cy="457200"/>
          </a:xfrm>
          <a:prstGeom prst="rect">
            <a:avLst/>
          </a:prstGeom>
          <a:noFill/>
        </p:spPr>
        <p:txBody>
          <a:bodyPr wrap="square" anchor="t">
            <a:spAutoFit/>
          </a:bodyPr>
          <a:lstStyle/>
          <a:p>
            <a:pPr algn="l">
              <a:defRPr sz="2900" b="1">
                <a:solidFill>
                  <a:srgbClr val="FF655C"/>
                </a:solidFill>
                <a:latin typeface="Aptos Display"/>
              </a:defRPr>
            </a:pPr>
            <a:r>
              <a:t>1</a:t>
            </a:r>
          </a:p>
        </p:txBody>
      </p:sp>
      <p:sp>
        <p:nvSpPr>
          <p:cNvPr id="6" name="TextBox 5"/>
          <p:cNvSpPr txBox="1"/>
          <p:nvPr/>
        </p:nvSpPr>
        <p:spPr>
          <a:xfrm>
            <a:off x="777240" y="2743200"/>
            <a:ext cx="2148840" cy="320040"/>
          </a:xfrm>
          <a:prstGeom prst="rect">
            <a:avLst/>
          </a:prstGeom>
          <a:noFill/>
        </p:spPr>
        <p:txBody>
          <a:bodyPr wrap="square" anchor="t">
            <a:spAutoFit/>
          </a:bodyPr>
          <a:lstStyle/>
          <a:p>
            <a:pPr algn="l">
              <a:defRPr sz="1600" b="1">
                <a:solidFill>
                  <a:srgbClr val="F2F2F2"/>
                </a:solidFill>
                <a:latin typeface="Aptos"/>
              </a:defRPr>
            </a:pPr>
            <a:r>
              <a:t>GUARANTEES</a:t>
            </a:r>
          </a:p>
        </p:txBody>
      </p:sp>
      <p:sp>
        <p:nvSpPr>
          <p:cNvPr id="7" name="TextBox 6"/>
          <p:cNvSpPr txBox="1"/>
          <p:nvPr/>
        </p:nvSpPr>
        <p:spPr>
          <a:xfrm>
            <a:off x="777240" y="3310128"/>
            <a:ext cx="2148840" cy="960120"/>
          </a:xfrm>
          <a:prstGeom prst="rect">
            <a:avLst/>
          </a:prstGeom>
          <a:noFill/>
        </p:spPr>
        <p:txBody>
          <a:bodyPr wrap="square" anchor="t">
            <a:spAutoFit/>
          </a:bodyPr>
          <a:lstStyle/>
          <a:p>
            <a:pPr algn="l">
              <a:defRPr sz="1400" b="0">
                <a:solidFill>
                  <a:srgbClr val="BEBEBE"/>
                </a:solidFill>
                <a:latin typeface="Aptos"/>
              </a:defRPr>
            </a:pPr>
            <a:r>
              <a:t>durability / WAL / crash promises</a:t>
            </a:r>
          </a:p>
        </p:txBody>
      </p:sp>
      <p:sp>
        <p:nvSpPr>
          <p:cNvPr id="8" name="Rounded Rectangle 7"/>
          <p:cNvSpPr/>
          <p:nvPr/>
        </p:nvSpPr>
        <p:spPr>
          <a:xfrm>
            <a:off x="3447288" y="1737360"/>
            <a:ext cx="2578608" cy="3017520"/>
          </a:xfrm>
          <a:prstGeom prst="roundRect">
            <a:avLst/>
          </a:prstGeom>
          <a:solidFill>
            <a:srgbClr val="222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9" name="TextBox 8"/>
          <p:cNvSpPr txBox="1"/>
          <p:nvPr/>
        </p:nvSpPr>
        <p:spPr>
          <a:xfrm>
            <a:off x="3630168" y="1984248"/>
            <a:ext cx="548640" cy="457200"/>
          </a:xfrm>
          <a:prstGeom prst="rect">
            <a:avLst/>
          </a:prstGeom>
          <a:noFill/>
        </p:spPr>
        <p:txBody>
          <a:bodyPr wrap="square" anchor="t">
            <a:spAutoFit/>
          </a:bodyPr>
          <a:lstStyle/>
          <a:p>
            <a:pPr algn="l">
              <a:defRPr sz="2900" b="1">
                <a:solidFill>
                  <a:srgbClr val="F6C548"/>
                </a:solidFill>
                <a:latin typeface="Aptos Display"/>
              </a:defRPr>
            </a:pPr>
            <a:r>
              <a:t>2</a:t>
            </a:r>
          </a:p>
        </p:txBody>
      </p:sp>
      <p:sp>
        <p:nvSpPr>
          <p:cNvPr id="10" name="TextBox 9"/>
          <p:cNvSpPr txBox="1"/>
          <p:nvPr/>
        </p:nvSpPr>
        <p:spPr>
          <a:xfrm>
            <a:off x="3630168" y="2743200"/>
            <a:ext cx="2148840" cy="320040"/>
          </a:xfrm>
          <a:prstGeom prst="rect">
            <a:avLst/>
          </a:prstGeom>
          <a:noFill/>
        </p:spPr>
        <p:txBody>
          <a:bodyPr wrap="square" anchor="t">
            <a:spAutoFit/>
          </a:bodyPr>
          <a:lstStyle/>
          <a:p>
            <a:pPr algn="l">
              <a:defRPr sz="1600" b="1">
                <a:solidFill>
                  <a:srgbClr val="F2F2F2"/>
                </a:solidFill>
                <a:latin typeface="Aptos"/>
              </a:defRPr>
            </a:pPr>
            <a:r>
              <a:t>WORK</a:t>
            </a:r>
          </a:p>
        </p:txBody>
      </p:sp>
      <p:sp>
        <p:nvSpPr>
          <p:cNvPr id="11" name="TextBox 10"/>
          <p:cNvSpPr txBox="1"/>
          <p:nvPr/>
        </p:nvSpPr>
        <p:spPr>
          <a:xfrm>
            <a:off x="3630168" y="3310128"/>
            <a:ext cx="2148840" cy="960120"/>
          </a:xfrm>
          <a:prstGeom prst="rect">
            <a:avLst/>
          </a:prstGeom>
          <a:noFill/>
        </p:spPr>
        <p:txBody>
          <a:bodyPr wrap="square" anchor="t">
            <a:spAutoFit/>
          </a:bodyPr>
          <a:lstStyle/>
          <a:p>
            <a:pPr algn="l">
              <a:defRPr sz="1400" b="0">
                <a:solidFill>
                  <a:srgbClr val="BEBEBE"/>
                </a:solidFill>
                <a:latin typeface="Aptos"/>
              </a:defRPr>
            </a:pPr>
            <a:r>
              <a:t>do less or change persistence</a:t>
            </a:r>
          </a:p>
        </p:txBody>
      </p:sp>
      <p:sp>
        <p:nvSpPr>
          <p:cNvPr id="12" name="Rounded Rectangle 11"/>
          <p:cNvSpPr/>
          <p:nvPr/>
        </p:nvSpPr>
        <p:spPr>
          <a:xfrm>
            <a:off x="6300216" y="1737360"/>
            <a:ext cx="2578608" cy="3017520"/>
          </a:xfrm>
          <a:prstGeom prst="roundRect">
            <a:avLst/>
          </a:prstGeom>
          <a:solidFill>
            <a:srgbClr val="222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13" name="TextBox 12"/>
          <p:cNvSpPr txBox="1"/>
          <p:nvPr/>
        </p:nvSpPr>
        <p:spPr>
          <a:xfrm>
            <a:off x="6483096" y="1984248"/>
            <a:ext cx="548640" cy="457200"/>
          </a:xfrm>
          <a:prstGeom prst="rect">
            <a:avLst/>
          </a:prstGeom>
          <a:noFill/>
        </p:spPr>
        <p:txBody>
          <a:bodyPr wrap="square" anchor="t">
            <a:spAutoFit/>
          </a:bodyPr>
          <a:lstStyle/>
          <a:p>
            <a:pPr algn="l">
              <a:defRPr sz="2900" b="1">
                <a:solidFill>
                  <a:srgbClr val="00C2D6"/>
                </a:solidFill>
                <a:latin typeface="Aptos Display"/>
              </a:defRPr>
            </a:pPr>
            <a:r>
              <a:t>3</a:t>
            </a:r>
          </a:p>
        </p:txBody>
      </p:sp>
      <p:sp>
        <p:nvSpPr>
          <p:cNvPr id="14" name="TextBox 13"/>
          <p:cNvSpPr txBox="1"/>
          <p:nvPr/>
        </p:nvSpPr>
        <p:spPr>
          <a:xfrm>
            <a:off x="6483096" y="2743200"/>
            <a:ext cx="2148840" cy="320040"/>
          </a:xfrm>
          <a:prstGeom prst="rect">
            <a:avLst/>
          </a:prstGeom>
          <a:noFill/>
        </p:spPr>
        <p:txBody>
          <a:bodyPr wrap="square" anchor="t">
            <a:spAutoFit/>
          </a:bodyPr>
          <a:lstStyle/>
          <a:p>
            <a:pPr algn="l">
              <a:defRPr sz="1600" b="1">
                <a:solidFill>
                  <a:srgbClr val="F2F2F2"/>
                </a:solidFill>
                <a:latin typeface="Aptos"/>
              </a:defRPr>
            </a:pPr>
            <a:r>
              <a:t>EXECUTION</a:t>
            </a:r>
          </a:p>
        </p:txBody>
      </p:sp>
      <p:sp>
        <p:nvSpPr>
          <p:cNvPr id="15" name="TextBox 14"/>
          <p:cNvSpPr txBox="1"/>
          <p:nvPr/>
        </p:nvSpPr>
        <p:spPr>
          <a:xfrm>
            <a:off x="6483096" y="3310128"/>
            <a:ext cx="2148840" cy="960120"/>
          </a:xfrm>
          <a:prstGeom prst="rect">
            <a:avLst/>
          </a:prstGeom>
          <a:noFill/>
        </p:spPr>
        <p:txBody>
          <a:bodyPr wrap="square" anchor="t">
            <a:spAutoFit/>
          </a:bodyPr>
          <a:lstStyle/>
          <a:p>
            <a:pPr algn="l">
              <a:defRPr sz="1400" b="0">
                <a:solidFill>
                  <a:srgbClr val="BEBEBE"/>
                </a:solidFill>
                <a:latin typeface="Aptos"/>
              </a:defRPr>
            </a:pPr>
            <a:r>
              <a:t>server-side logic / protocol</a:t>
            </a:r>
          </a:p>
        </p:txBody>
      </p:sp>
      <p:sp>
        <p:nvSpPr>
          <p:cNvPr id="16" name="Rounded Rectangle 15"/>
          <p:cNvSpPr/>
          <p:nvPr/>
        </p:nvSpPr>
        <p:spPr>
          <a:xfrm>
            <a:off x="9153144" y="1737360"/>
            <a:ext cx="2578608" cy="3017520"/>
          </a:xfrm>
          <a:prstGeom prst="roundRect">
            <a:avLst/>
          </a:prstGeom>
          <a:solidFill>
            <a:srgbClr val="222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17" name="TextBox 16"/>
          <p:cNvSpPr txBox="1"/>
          <p:nvPr/>
        </p:nvSpPr>
        <p:spPr>
          <a:xfrm>
            <a:off x="9336024" y="1984248"/>
            <a:ext cx="548640" cy="457200"/>
          </a:xfrm>
          <a:prstGeom prst="rect">
            <a:avLst/>
          </a:prstGeom>
          <a:noFill/>
        </p:spPr>
        <p:txBody>
          <a:bodyPr wrap="square" anchor="t">
            <a:spAutoFit/>
          </a:bodyPr>
          <a:lstStyle/>
          <a:p>
            <a:pPr algn="l">
              <a:defRPr sz="2900" b="1">
                <a:solidFill>
                  <a:srgbClr val="AEE057"/>
                </a:solidFill>
                <a:latin typeface="Aptos Display"/>
              </a:defRPr>
            </a:pPr>
            <a:r>
              <a:t>4</a:t>
            </a:r>
          </a:p>
        </p:txBody>
      </p:sp>
      <p:sp>
        <p:nvSpPr>
          <p:cNvPr id="18" name="TextBox 17"/>
          <p:cNvSpPr txBox="1"/>
          <p:nvPr/>
        </p:nvSpPr>
        <p:spPr>
          <a:xfrm>
            <a:off x="9336024" y="2743200"/>
            <a:ext cx="2148840" cy="320040"/>
          </a:xfrm>
          <a:prstGeom prst="rect">
            <a:avLst/>
          </a:prstGeom>
          <a:noFill/>
        </p:spPr>
        <p:txBody>
          <a:bodyPr wrap="square" anchor="t">
            <a:spAutoFit/>
          </a:bodyPr>
          <a:lstStyle/>
          <a:p>
            <a:pPr algn="l">
              <a:defRPr sz="1600" b="1">
                <a:solidFill>
                  <a:srgbClr val="F2F2F2"/>
                </a:solidFill>
                <a:latin typeface="Aptos"/>
              </a:defRPr>
            </a:pPr>
            <a:r>
              <a:t>METRIC</a:t>
            </a:r>
          </a:p>
        </p:txBody>
      </p:sp>
      <p:sp>
        <p:nvSpPr>
          <p:cNvPr id="19" name="TextBox 18"/>
          <p:cNvSpPr txBox="1"/>
          <p:nvPr/>
        </p:nvSpPr>
        <p:spPr>
          <a:xfrm>
            <a:off x="9336024" y="3310128"/>
            <a:ext cx="2148840" cy="960120"/>
          </a:xfrm>
          <a:prstGeom prst="rect">
            <a:avLst/>
          </a:prstGeom>
          <a:noFill/>
        </p:spPr>
        <p:txBody>
          <a:bodyPr wrap="square" anchor="t">
            <a:spAutoFit/>
          </a:bodyPr>
          <a:lstStyle/>
          <a:p>
            <a:pPr algn="l">
              <a:defRPr sz="1400" b="0">
                <a:solidFill>
                  <a:srgbClr val="BEBEBE"/>
                </a:solidFill>
                <a:latin typeface="Aptos"/>
              </a:defRPr>
            </a:pPr>
            <a:r>
              <a:t>batching and a new y-axis</a:t>
            </a:r>
          </a:p>
        </p:txBody>
      </p:sp>
      <p:sp>
        <p:nvSpPr>
          <p:cNvPr id="20" name="TextBox 19"/>
          <p:cNvSpPr txBox="1"/>
          <p:nvPr/>
        </p:nvSpPr>
        <p:spPr>
          <a:xfrm>
            <a:off x="502920" y="6510528"/>
            <a:ext cx="2377440" cy="164592"/>
          </a:xfrm>
          <a:prstGeom prst="rect">
            <a:avLst/>
          </a:prstGeom>
          <a:noFill/>
        </p:spPr>
        <p:txBody>
          <a:bodyPr wrap="square" anchor="t">
            <a:spAutoFit/>
          </a:bodyPr>
          <a:lstStyle/>
          <a:p>
            <a:pPr algn="l">
              <a:defRPr sz="750" b="1">
                <a:solidFill>
                  <a:srgbClr val="BEBEBE"/>
                </a:solidFill>
                <a:latin typeface="Aptos"/>
              </a:defRPr>
            </a:pPr>
            <a:r>
              <a:t>MY DISHONEST BENCHMARK</a:t>
            </a:r>
          </a:p>
        </p:txBody>
      </p:sp>
      <p:sp>
        <p:nvSpPr>
          <p:cNvPr id="21" name="TextBox 20"/>
          <p:cNvSpPr txBox="1"/>
          <p:nvPr/>
        </p:nvSpPr>
        <p:spPr>
          <a:xfrm>
            <a:off x="11155680" y="6473952"/>
            <a:ext cx="502920" cy="182880"/>
          </a:xfrm>
          <a:prstGeom prst="rect">
            <a:avLst/>
          </a:prstGeom>
          <a:noFill/>
        </p:spPr>
        <p:txBody>
          <a:bodyPr wrap="square" anchor="t">
            <a:spAutoFit/>
          </a:bodyPr>
          <a:lstStyle/>
          <a:p>
            <a:pPr algn="r">
              <a:defRPr sz="800" b="1">
                <a:solidFill>
                  <a:srgbClr val="BEBEBE"/>
                </a:solidFill>
                <a:latin typeface="Aptos"/>
              </a:defRPr>
            </a:pPr>
            <a:r>
              <a:t>20</a:t>
            </a:r>
          </a:p>
        </p:txBody>
      </p:sp>
    </p:spTree>
    <p:extLst>
      <p:ext uri="{BB962C8B-B14F-4D97-AF65-F5344CB8AC3E}">
        <p14:creationId xmlns:p14="http://schemas.microsoft.com/office/powerpoint/2010/main" val="8371307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3" name="TextBox 2"/>
          <p:cNvSpPr txBox="1"/>
          <p:nvPr/>
        </p:nvSpPr>
        <p:spPr>
          <a:xfrm>
            <a:off x="594360" y="694944"/>
            <a:ext cx="10515600" cy="621792"/>
          </a:xfrm>
          <a:prstGeom prst="rect">
            <a:avLst/>
          </a:prstGeom>
          <a:noFill/>
        </p:spPr>
        <p:txBody>
          <a:bodyPr wrap="square" anchor="t">
            <a:spAutoFit/>
          </a:bodyPr>
          <a:lstStyle/>
          <a:p>
            <a:pPr algn="l">
              <a:defRPr sz="2900" b="1">
                <a:solidFill>
                  <a:srgbClr val="F2F2F2"/>
                </a:solidFill>
                <a:latin typeface="Aptos Display"/>
              </a:defRPr>
            </a:pPr>
            <a:r>
              <a:rPr dirty="0"/>
              <a:t>The scary durability knobs barely help</a:t>
            </a:r>
          </a:p>
        </p:txBody>
      </p:sp>
      <p:sp>
        <p:nvSpPr>
          <p:cNvPr id="4" name="TextBox 3"/>
          <p:cNvSpPr txBox="1"/>
          <p:nvPr/>
        </p:nvSpPr>
        <p:spPr>
          <a:xfrm>
            <a:off x="685800" y="1524000"/>
            <a:ext cx="3492500" cy="457200"/>
          </a:xfrm>
          <a:prstGeom prst="rect">
            <a:avLst/>
          </a:prstGeom>
          <a:noFill/>
        </p:spPr>
        <p:txBody>
          <a:bodyPr wrap="square" tIns="0" bIns="0" anchor="ctr">
            <a:noAutofit/>
          </a:bodyPr>
          <a:lstStyle/>
          <a:p>
            <a:pPr algn="l">
              <a:defRPr sz="1200" b="0">
                <a:solidFill>
                  <a:srgbClr val="F2F2F2"/>
                </a:solidFill>
                <a:latin typeface="Aptos"/>
              </a:defRPr>
            </a:pPr>
            <a:r>
              <a:rPr lang="en-US" sz="1800" dirty="0"/>
              <a:t>Indexed baseline</a:t>
            </a:r>
          </a:p>
        </p:txBody>
      </p:sp>
      <p:sp>
        <p:nvSpPr>
          <p:cNvPr id="5" name="Rounded Rectangle 4"/>
          <p:cNvSpPr/>
          <p:nvPr/>
        </p:nvSpPr>
        <p:spPr>
          <a:xfrm>
            <a:off x="4292193" y="1527048"/>
            <a:ext cx="6309360" cy="455675"/>
          </a:xfrm>
          <a:prstGeom prst="roundRect">
            <a:avLst/>
          </a:prstGeom>
          <a:solidFill>
            <a:srgbClr val="222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6" name="Rounded Rectangle 5"/>
          <p:cNvSpPr/>
          <p:nvPr/>
        </p:nvSpPr>
        <p:spPr>
          <a:xfrm>
            <a:off x="4292193" y="1527048"/>
            <a:ext cx="5342890" cy="455675"/>
          </a:xfrm>
          <a:prstGeom prst="roundRect">
            <a:avLst/>
          </a:prstGeom>
          <a:solidFill>
            <a:srgbClr val="00C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7" name="TextBox 6"/>
          <p:cNvSpPr txBox="1"/>
          <p:nvPr/>
        </p:nvSpPr>
        <p:spPr>
          <a:xfrm>
            <a:off x="10706100" y="1524000"/>
            <a:ext cx="1016000" cy="457200"/>
          </a:xfrm>
          <a:prstGeom prst="rect">
            <a:avLst/>
          </a:prstGeom>
          <a:noFill/>
        </p:spPr>
        <p:txBody>
          <a:bodyPr wrap="none" lIns="0" tIns="0" rIns="0" bIns="0" anchor="ctr">
            <a:noAutofit/>
          </a:bodyPr>
          <a:lstStyle/>
          <a:p>
            <a:pPr algn="r">
              <a:defRPr sz="1000" b="1">
                <a:solidFill>
                  <a:srgbClr val="F2F2F2"/>
                </a:solidFill>
                <a:latin typeface="Aptos"/>
              </a:defRPr>
            </a:pPr>
            <a:r>
              <a:rPr lang="en-US" sz="2000" b="1" dirty="0">
                <a:solidFill>
                  <a:srgbClr val="F2F2F2"/>
                </a:solidFill>
              </a:rPr>
              <a:t>22,705</a:t>
            </a:r>
            <a:endParaRPr dirty="0"/>
          </a:p>
        </p:txBody>
      </p:sp>
      <p:sp>
        <p:nvSpPr>
          <p:cNvPr id="8" name="TextBox 7"/>
          <p:cNvSpPr txBox="1"/>
          <p:nvPr/>
        </p:nvSpPr>
        <p:spPr>
          <a:xfrm>
            <a:off x="685800" y="2222500"/>
            <a:ext cx="3492500" cy="457200"/>
          </a:xfrm>
          <a:prstGeom prst="rect">
            <a:avLst/>
          </a:prstGeom>
          <a:noFill/>
        </p:spPr>
        <p:txBody>
          <a:bodyPr wrap="square" tIns="0" bIns="0" anchor="ctr">
            <a:noAutofit/>
          </a:bodyPr>
          <a:lstStyle/>
          <a:p>
            <a:pPr algn="l">
              <a:defRPr sz="1200" b="0">
                <a:solidFill>
                  <a:srgbClr val="F2F2F2"/>
                </a:solidFill>
                <a:latin typeface="Aptos"/>
              </a:defRPr>
            </a:pPr>
            <a:r>
              <a:rPr lang="en-US" sz="1800" dirty="0"/>
              <a:t>sync_commit off</a:t>
            </a:r>
          </a:p>
        </p:txBody>
      </p:sp>
      <p:sp>
        <p:nvSpPr>
          <p:cNvPr id="9" name="Rounded Rectangle 8"/>
          <p:cNvSpPr/>
          <p:nvPr/>
        </p:nvSpPr>
        <p:spPr>
          <a:xfrm>
            <a:off x="4292193" y="2220468"/>
            <a:ext cx="6309360" cy="455675"/>
          </a:xfrm>
          <a:prstGeom prst="roundRect">
            <a:avLst/>
          </a:prstGeom>
          <a:solidFill>
            <a:srgbClr val="222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10" name="Rounded Rectangle 9"/>
          <p:cNvSpPr/>
          <p:nvPr/>
        </p:nvSpPr>
        <p:spPr>
          <a:xfrm>
            <a:off x="4292193" y="2220468"/>
            <a:ext cx="5730240" cy="455675"/>
          </a:xfrm>
          <a:prstGeom prst="roundRect">
            <a:avLst/>
          </a:prstGeom>
          <a:solidFill>
            <a:srgbClr val="00C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11" name="TextBox 10"/>
          <p:cNvSpPr txBox="1"/>
          <p:nvPr/>
        </p:nvSpPr>
        <p:spPr>
          <a:xfrm>
            <a:off x="10706100" y="2222500"/>
            <a:ext cx="1016000" cy="457200"/>
          </a:xfrm>
          <a:prstGeom prst="rect">
            <a:avLst/>
          </a:prstGeom>
          <a:noFill/>
        </p:spPr>
        <p:txBody>
          <a:bodyPr wrap="none" lIns="0" tIns="0" rIns="0" bIns="0" anchor="ctr">
            <a:noAutofit/>
          </a:bodyPr>
          <a:lstStyle/>
          <a:p>
            <a:pPr algn="r">
              <a:defRPr sz="1000" b="1">
                <a:solidFill>
                  <a:srgbClr val="F2F2F2"/>
                </a:solidFill>
                <a:latin typeface="Aptos"/>
              </a:defRPr>
            </a:pPr>
            <a:r>
              <a:rPr lang="en-US" sz="2000" b="1" dirty="0">
                <a:solidFill>
                  <a:srgbClr val="F2F2F2"/>
                </a:solidFill>
              </a:rPr>
              <a:t>24,355</a:t>
            </a:r>
            <a:endParaRPr dirty="0"/>
          </a:p>
        </p:txBody>
      </p:sp>
      <p:sp>
        <p:nvSpPr>
          <p:cNvPr id="12" name="TextBox 11"/>
          <p:cNvSpPr txBox="1"/>
          <p:nvPr/>
        </p:nvSpPr>
        <p:spPr>
          <a:xfrm>
            <a:off x="685800" y="2908300"/>
            <a:ext cx="3492500" cy="457200"/>
          </a:xfrm>
          <a:prstGeom prst="rect">
            <a:avLst/>
          </a:prstGeom>
          <a:noFill/>
        </p:spPr>
        <p:txBody>
          <a:bodyPr wrap="square" tIns="0" bIns="0" anchor="ctr">
            <a:noAutofit/>
          </a:bodyPr>
          <a:lstStyle/>
          <a:p>
            <a:pPr algn="l">
              <a:defRPr sz="1200" b="0">
                <a:solidFill>
                  <a:srgbClr val="F2F2F2"/>
                </a:solidFill>
                <a:latin typeface="Aptos"/>
              </a:defRPr>
            </a:pPr>
            <a:r>
              <a:rPr lang="en-US" sz="1800" dirty="0"/>
              <a:t>full_page_writes off</a:t>
            </a:r>
          </a:p>
        </p:txBody>
      </p:sp>
      <p:sp>
        <p:nvSpPr>
          <p:cNvPr id="13" name="Rounded Rectangle 12"/>
          <p:cNvSpPr/>
          <p:nvPr/>
        </p:nvSpPr>
        <p:spPr>
          <a:xfrm>
            <a:off x="4292193" y="2913888"/>
            <a:ext cx="6309360" cy="455675"/>
          </a:xfrm>
          <a:prstGeom prst="roundRect">
            <a:avLst/>
          </a:prstGeom>
          <a:solidFill>
            <a:srgbClr val="222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14" name="Rounded Rectangle 13"/>
          <p:cNvSpPr/>
          <p:nvPr/>
        </p:nvSpPr>
        <p:spPr>
          <a:xfrm>
            <a:off x="4292193" y="2913888"/>
            <a:ext cx="5504180" cy="455675"/>
          </a:xfrm>
          <a:prstGeom prst="roundRect">
            <a:avLst/>
          </a:prstGeom>
          <a:solidFill>
            <a:srgbClr val="00C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15" name="TextBox 14"/>
          <p:cNvSpPr txBox="1"/>
          <p:nvPr/>
        </p:nvSpPr>
        <p:spPr>
          <a:xfrm>
            <a:off x="10706100" y="2908300"/>
            <a:ext cx="1016000" cy="457200"/>
          </a:xfrm>
          <a:prstGeom prst="rect">
            <a:avLst/>
          </a:prstGeom>
          <a:noFill/>
        </p:spPr>
        <p:txBody>
          <a:bodyPr wrap="none" lIns="0" tIns="0" rIns="0" bIns="0" anchor="ctr">
            <a:noAutofit/>
          </a:bodyPr>
          <a:lstStyle/>
          <a:p>
            <a:pPr algn="r">
              <a:defRPr sz="1000" b="1">
                <a:solidFill>
                  <a:srgbClr val="F2F2F2"/>
                </a:solidFill>
                <a:latin typeface="Aptos"/>
              </a:defRPr>
            </a:pPr>
            <a:r>
              <a:rPr lang="en-US" sz="2000" b="1" dirty="0">
                <a:solidFill>
                  <a:srgbClr val="F2F2F2"/>
                </a:solidFill>
              </a:rPr>
              <a:t>23,390</a:t>
            </a:r>
            <a:endParaRPr dirty="0"/>
          </a:p>
        </p:txBody>
      </p:sp>
      <p:sp>
        <p:nvSpPr>
          <p:cNvPr id="16" name="TextBox 15"/>
          <p:cNvSpPr txBox="1"/>
          <p:nvPr/>
        </p:nvSpPr>
        <p:spPr>
          <a:xfrm>
            <a:off x="685800" y="3606800"/>
            <a:ext cx="3492500" cy="457200"/>
          </a:xfrm>
          <a:prstGeom prst="rect">
            <a:avLst/>
          </a:prstGeom>
          <a:noFill/>
        </p:spPr>
        <p:txBody>
          <a:bodyPr wrap="square" tIns="0" bIns="0" anchor="ctr">
            <a:noAutofit/>
          </a:bodyPr>
          <a:lstStyle/>
          <a:p>
            <a:pPr algn="l">
              <a:defRPr sz="1200" b="0">
                <a:solidFill>
                  <a:srgbClr val="F2F2F2"/>
                </a:solidFill>
                <a:latin typeface="Aptos"/>
              </a:defRPr>
            </a:pPr>
            <a:r>
              <a:rPr lang="en-US" sz="1800" dirty="0"/>
              <a:t>fsync off</a:t>
            </a:r>
          </a:p>
        </p:txBody>
      </p:sp>
      <p:sp>
        <p:nvSpPr>
          <p:cNvPr id="17" name="Rounded Rectangle 16"/>
          <p:cNvSpPr/>
          <p:nvPr/>
        </p:nvSpPr>
        <p:spPr>
          <a:xfrm>
            <a:off x="4292193" y="3607308"/>
            <a:ext cx="6309360" cy="455675"/>
          </a:xfrm>
          <a:prstGeom prst="roundRect">
            <a:avLst/>
          </a:prstGeom>
          <a:solidFill>
            <a:srgbClr val="222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18" name="Rounded Rectangle 17"/>
          <p:cNvSpPr/>
          <p:nvPr/>
        </p:nvSpPr>
        <p:spPr>
          <a:xfrm>
            <a:off x="4292193" y="3607308"/>
            <a:ext cx="5769610" cy="455675"/>
          </a:xfrm>
          <a:prstGeom prst="roundRect">
            <a:avLst/>
          </a:prstGeom>
          <a:solidFill>
            <a:srgbClr val="00C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19" name="TextBox 18"/>
          <p:cNvSpPr txBox="1"/>
          <p:nvPr/>
        </p:nvSpPr>
        <p:spPr>
          <a:xfrm>
            <a:off x="10706100" y="3606800"/>
            <a:ext cx="1016000" cy="457200"/>
          </a:xfrm>
          <a:prstGeom prst="rect">
            <a:avLst/>
          </a:prstGeom>
          <a:noFill/>
        </p:spPr>
        <p:txBody>
          <a:bodyPr wrap="none" lIns="0" tIns="0" rIns="0" bIns="0" anchor="ctr">
            <a:noAutofit/>
          </a:bodyPr>
          <a:lstStyle/>
          <a:p>
            <a:pPr algn="r">
              <a:defRPr sz="1000" b="1">
                <a:solidFill>
                  <a:srgbClr val="F2F2F2"/>
                </a:solidFill>
                <a:latin typeface="Aptos"/>
              </a:defRPr>
            </a:pPr>
            <a:r>
              <a:rPr lang="en-US" sz="2000" b="1" dirty="0">
                <a:solidFill>
                  <a:srgbClr val="F2F2F2"/>
                </a:solidFill>
              </a:rPr>
              <a:t>24,522</a:t>
            </a:r>
            <a:endParaRPr dirty="0"/>
          </a:p>
        </p:txBody>
      </p:sp>
      <p:sp>
        <p:nvSpPr>
          <p:cNvPr id="20" name="TextBox 19"/>
          <p:cNvSpPr txBox="1"/>
          <p:nvPr/>
        </p:nvSpPr>
        <p:spPr>
          <a:xfrm>
            <a:off x="685800" y="4305300"/>
            <a:ext cx="3492500" cy="457200"/>
          </a:xfrm>
          <a:prstGeom prst="rect">
            <a:avLst/>
          </a:prstGeom>
          <a:noFill/>
        </p:spPr>
        <p:txBody>
          <a:bodyPr wrap="square" tIns="0" bIns="0" anchor="ctr">
            <a:noAutofit/>
          </a:bodyPr>
          <a:lstStyle/>
          <a:p>
            <a:pPr algn="l">
              <a:defRPr sz="1200" b="0">
                <a:solidFill>
                  <a:srgbClr val="F2F2F2"/>
                </a:solidFill>
                <a:latin typeface="Aptos"/>
              </a:defRPr>
            </a:pPr>
            <a:r>
              <a:rPr lang="en-US" sz="1800" dirty="0"/>
              <a:t>checkpoint tuning</a:t>
            </a:r>
          </a:p>
        </p:txBody>
      </p:sp>
      <p:sp>
        <p:nvSpPr>
          <p:cNvPr id="21" name="Rounded Rectangle 20"/>
          <p:cNvSpPr/>
          <p:nvPr/>
        </p:nvSpPr>
        <p:spPr>
          <a:xfrm>
            <a:off x="4292193" y="4300728"/>
            <a:ext cx="6309360" cy="455675"/>
          </a:xfrm>
          <a:prstGeom prst="roundRect">
            <a:avLst/>
          </a:prstGeom>
          <a:solidFill>
            <a:srgbClr val="222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22" name="Rounded Rectangle 21"/>
          <p:cNvSpPr/>
          <p:nvPr/>
        </p:nvSpPr>
        <p:spPr>
          <a:xfrm>
            <a:off x="4292193" y="4300728"/>
            <a:ext cx="5440680" cy="455675"/>
          </a:xfrm>
          <a:prstGeom prst="roundRect">
            <a:avLst/>
          </a:prstGeom>
          <a:solidFill>
            <a:srgbClr val="00C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23" name="TextBox 22"/>
          <p:cNvSpPr txBox="1"/>
          <p:nvPr/>
        </p:nvSpPr>
        <p:spPr>
          <a:xfrm>
            <a:off x="10706100" y="4305300"/>
            <a:ext cx="1016000" cy="457200"/>
          </a:xfrm>
          <a:prstGeom prst="rect">
            <a:avLst/>
          </a:prstGeom>
          <a:noFill/>
        </p:spPr>
        <p:txBody>
          <a:bodyPr wrap="none" lIns="0" tIns="0" rIns="0" bIns="0" anchor="ctr">
            <a:noAutofit/>
          </a:bodyPr>
          <a:lstStyle/>
          <a:p>
            <a:pPr algn="r">
              <a:defRPr sz="1000" b="1">
                <a:solidFill>
                  <a:srgbClr val="F2F2F2"/>
                </a:solidFill>
                <a:latin typeface="Aptos"/>
              </a:defRPr>
            </a:pPr>
            <a:r>
              <a:rPr lang="en-US" sz="2000" b="1" dirty="0">
                <a:solidFill>
                  <a:srgbClr val="F2F2F2"/>
                </a:solidFill>
              </a:rPr>
              <a:t>23,124</a:t>
            </a:r>
            <a:endParaRPr dirty="0"/>
          </a:p>
        </p:txBody>
      </p:sp>
      <p:sp>
        <p:nvSpPr>
          <p:cNvPr id="24" name="TextBox 23"/>
          <p:cNvSpPr txBox="1"/>
          <p:nvPr/>
        </p:nvSpPr>
        <p:spPr>
          <a:xfrm>
            <a:off x="685800" y="4991100"/>
            <a:ext cx="3492500" cy="457200"/>
          </a:xfrm>
          <a:prstGeom prst="rect">
            <a:avLst/>
          </a:prstGeom>
          <a:noFill/>
        </p:spPr>
        <p:txBody>
          <a:bodyPr wrap="square" tIns="0" bIns="0" anchor="ctr">
            <a:noAutofit/>
          </a:bodyPr>
          <a:lstStyle/>
          <a:p>
            <a:pPr algn="l">
              <a:defRPr sz="1200" b="1">
                <a:solidFill>
                  <a:srgbClr val="F2F2F2"/>
                </a:solidFill>
                <a:latin typeface="Aptos"/>
              </a:defRPr>
            </a:pPr>
            <a:r>
              <a:rPr lang="en-US" sz="1800" b="1" dirty="0"/>
              <a:t>all durability off</a:t>
            </a:r>
          </a:p>
        </p:txBody>
      </p:sp>
      <p:sp>
        <p:nvSpPr>
          <p:cNvPr id="25" name="Rounded Rectangle 24"/>
          <p:cNvSpPr/>
          <p:nvPr/>
        </p:nvSpPr>
        <p:spPr>
          <a:xfrm>
            <a:off x="4292193" y="4994148"/>
            <a:ext cx="6309360" cy="455675"/>
          </a:xfrm>
          <a:prstGeom prst="roundRect">
            <a:avLst/>
          </a:prstGeom>
          <a:solidFill>
            <a:srgbClr val="222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26" name="Rounded Rectangle 25"/>
          <p:cNvSpPr/>
          <p:nvPr/>
        </p:nvSpPr>
        <p:spPr>
          <a:xfrm>
            <a:off x="4292193" y="4994148"/>
            <a:ext cx="5803900" cy="455675"/>
          </a:xfrm>
          <a:prstGeom prst="roundRect">
            <a:avLst/>
          </a:prstGeom>
          <a:solidFill>
            <a:srgbClr val="FF6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706100" y="4991100"/>
            <a:ext cx="1016000" cy="457200"/>
          </a:xfrm>
          <a:prstGeom prst="rect">
            <a:avLst/>
          </a:prstGeom>
          <a:noFill/>
        </p:spPr>
        <p:txBody>
          <a:bodyPr wrap="none" lIns="0" tIns="0" rIns="0" bIns="0" anchor="ctr">
            <a:noAutofit/>
          </a:bodyPr>
          <a:lstStyle/>
          <a:p>
            <a:pPr algn="r">
              <a:defRPr sz="1000" b="1">
                <a:solidFill>
                  <a:srgbClr val="F2F2F2"/>
                </a:solidFill>
                <a:latin typeface="Aptos"/>
              </a:defRPr>
            </a:pPr>
            <a:r>
              <a:rPr lang="en-US" sz="2000" b="1" dirty="0">
                <a:solidFill>
                  <a:srgbClr val="FF655C"/>
                </a:solidFill>
              </a:rPr>
              <a:t>24,666</a:t>
            </a:r>
            <a:endParaRPr dirty="0"/>
          </a:p>
        </p:txBody>
      </p:sp>
      <p:sp>
        <p:nvSpPr>
          <p:cNvPr id="28" name="TextBox 27"/>
          <p:cNvSpPr txBox="1"/>
          <p:nvPr/>
        </p:nvSpPr>
        <p:spPr>
          <a:xfrm>
            <a:off x="502920" y="6510528"/>
            <a:ext cx="2377440" cy="164592"/>
          </a:xfrm>
          <a:prstGeom prst="rect">
            <a:avLst/>
          </a:prstGeom>
          <a:noFill/>
        </p:spPr>
        <p:txBody>
          <a:bodyPr wrap="square" anchor="t">
            <a:spAutoFit/>
          </a:bodyPr>
          <a:lstStyle/>
          <a:p>
            <a:pPr algn="l">
              <a:defRPr sz="750" b="1">
                <a:solidFill>
                  <a:srgbClr val="BEBEBE"/>
                </a:solidFill>
                <a:latin typeface="Aptos"/>
              </a:defRPr>
            </a:pPr>
            <a:r>
              <a:t>MY DISHONEST BENCHMARK</a:t>
            </a:r>
          </a:p>
        </p:txBody>
      </p:sp>
      <p:sp>
        <p:nvSpPr>
          <p:cNvPr id="29" name="TextBox 28"/>
          <p:cNvSpPr txBox="1"/>
          <p:nvPr/>
        </p:nvSpPr>
        <p:spPr>
          <a:xfrm>
            <a:off x="11155680" y="6473952"/>
            <a:ext cx="502920" cy="182880"/>
          </a:xfrm>
          <a:prstGeom prst="rect">
            <a:avLst/>
          </a:prstGeom>
          <a:noFill/>
        </p:spPr>
        <p:txBody>
          <a:bodyPr wrap="square" anchor="t">
            <a:spAutoFit/>
          </a:bodyPr>
          <a:lstStyle/>
          <a:p>
            <a:pPr algn="r">
              <a:defRPr sz="800" b="1">
                <a:solidFill>
                  <a:srgbClr val="BEBEBE"/>
                </a:solidFill>
                <a:latin typeface="Aptos"/>
              </a:defRPr>
            </a:pPr>
            <a:r>
              <a:t>21</a:t>
            </a:r>
          </a:p>
        </p:txBody>
      </p:sp>
    </p:spTree>
    <p:extLst>
      <p:ext uri="{BB962C8B-B14F-4D97-AF65-F5344CB8AC3E}">
        <p14:creationId xmlns:p14="http://schemas.microsoft.com/office/powerpoint/2010/main" val="3891057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0" name="Title"/>
          <p:cNvSpPr txBox="1"/>
          <p:nvPr/>
        </p:nvSpPr>
        <p:spPr>
          <a:xfrm>
            <a:off x="457200" y="429768"/>
            <a:ext cx="11003280" cy="584775"/>
          </a:xfrm>
          <a:prstGeom prst="rect">
            <a:avLst/>
          </a:prstGeom>
          <a:noFill/>
        </p:spPr>
        <p:txBody>
          <a:bodyPr wrap="square" anchor="t">
            <a:spAutoFit/>
          </a:bodyPr>
          <a:lstStyle/>
          <a:p>
            <a:pPr algn="l"/>
            <a:r>
              <a:rPr lang="en-US" sz="3200" b="1" dirty="0">
                <a:solidFill>
                  <a:srgbClr val="F2F2F2"/>
                </a:solidFill>
                <a:latin typeface="Aptos Display"/>
              </a:rPr>
              <a:t>Why Nuclear-sounding settings barely helped</a:t>
            </a:r>
          </a:p>
        </p:txBody>
      </p:sp>
      <p:sp>
        <p:nvSpPr>
          <p:cNvPr id="30" name="Label latency"/>
          <p:cNvSpPr txBox="1"/>
          <p:nvPr/>
        </p:nvSpPr>
        <p:spPr>
          <a:xfrm>
            <a:off x="457200" y="1879600"/>
            <a:ext cx="2286000" cy="914400"/>
          </a:xfrm>
          <a:prstGeom prst="rect">
            <a:avLst/>
          </a:prstGeom>
          <a:noFill/>
        </p:spPr>
        <p:txBody>
          <a:bodyPr wrap="square" lIns="91440" tIns="0" rIns="91440" bIns="0" anchor="ctr">
            <a:noAutofit/>
          </a:bodyPr>
          <a:lstStyle/>
          <a:p>
            <a:pPr algn="l">
              <a:lnSpc>
                <a:spcPct val="95000"/>
              </a:lnSpc>
            </a:pPr>
            <a:r>
              <a:rPr lang="en-US" sz="1600" b="1" dirty="0">
                <a:solidFill>
                  <a:srgbClr val="BEBEBE"/>
                </a:solidFill>
                <a:latin typeface="Aptos"/>
              </a:rPr>
              <a:t>Measured latency</a:t>
            </a:r>
          </a:p>
        </p:txBody>
      </p:sp>
      <p:sp>
        <p:nvSpPr>
          <p:cNvPr id="32" name="Label Write caching"/>
          <p:cNvSpPr txBox="1"/>
          <p:nvPr/>
        </p:nvSpPr>
        <p:spPr>
          <a:xfrm>
            <a:off x="457200" y="3048000"/>
            <a:ext cx="2286000" cy="1143000"/>
          </a:xfrm>
          <a:prstGeom prst="rect">
            <a:avLst/>
          </a:prstGeom>
          <a:noFill/>
        </p:spPr>
        <p:txBody>
          <a:bodyPr wrap="square" lIns="91440" tIns="0" rIns="91440" bIns="0" anchor="ctr">
            <a:noAutofit/>
          </a:bodyPr>
          <a:lstStyle/>
          <a:p>
            <a:pPr algn="l">
              <a:lnSpc>
                <a:spcPct val="95000"/>
              </a:lnSpc>
            </a:pPr>
            <a:r>
              <a:rPr lang="en-US" sz="1600" b="1" dirty="0">
                <a:solidFill>
                  <a:srgbClr val="BEBEBE"/>
                </a:solidFill>
                <a:latin typeface="Aptos"/>
              </a:rPr>
              <a:t>Write caching</a:t>
            </a:r>
          </a:p>
        </p:txBody>
      </p:sp>
      <p:sp>
        <p:nvSpPr>
          <p:cNvPr id="33" name="Label Benchmark impact"/>
          <p:cNvSpPr txBox="1"/>
          <p:nvPr/>
        </p:nvSpPr>
        <p:spPr>
          <a:xfrm>
            <a:off x="457200" y="4191000"/>
            <a:ext cx="2286000" cy="1143000"/>
          </a:xfrm>
          <a:prstGeom prst="rect">
            <a:avLst/>
          </a:prstGeom>
          <a:noFill/>
        </p:spPr>
        <p:txBody>
          <a:bodyPr wrap="square" lIns="91440" tIns="0" rIns="91440" bIns="0" anchor="ctr">
            <a:noAutofit/>
          </a:bodyPr>
          <a:lstStyle/>
          <a:p>
            <a:pPr algn="l">
              <a:lnSpc>
                <a:spcPct val="95000"/>
              </a:lnSpc>
            </a:pPr>
            <a:r>
              <a:rPr lang="en-US" sz="1600" b="1" dirty="0">
                <a:solidFill>
                  <a:srgbClr val="BEBEBE"/>
                </a:solidFill>
                <a:latin typeface="Aptos"/>
              </a:rPr>
              <a:t>Benchmark impact</a:t>
            </a:r>
          </a:p>
        </p:txBody>
      </p:sp>
      <p:sp>
        <p:nvSpPr>
          <p:cNvPr id="34" name="Card ~40 µs"/>
          <p:cNvSpPr/>
          <p:nvPr/>
        </p:nvSpPr>
        <p:spPr>
          <a:xfrm>
            <a:off x="2895600" y="1320800"/>
            <a:ext cx="4343400" cy="3835400"/>
          </a:xfrm>
          <a:prstGeom prst="roundRect">
            <a:avLst>
              <a:gd name="adj" fmla="val 6000"/>
            </a:avLst>
          </a:prstGeom>
          <a:solidFill>
            <a:srgbClr val="222329"/>
          </a:solidFill>
          <a:ln w="12700">
            <a:solidFill>
              <a:srgbClr val="FF655C"/>
            </a:solidFill>
          </a:ln>
        </p:spPr>
        <p:txBody>
          <a:bodyPr/>
          <a:lstStyle/>
          <a:p>
            <a:endParaRPr lang="en-US" dirty="0"/>
          </a:p>
        </p:txBody>
      </p:sp>
      <p:sp>
        <p:nvSpPr>
          <p:cNvPr id="35" name="Header"/>
          <p:cNvSpPr txBox="1"/>
          <p:nvPr/>
        </p:nvSpPr>
        <p:spPr>
          <a:xfrm>
            <a:off x="3149600" y="1549400"/>
            <a:ext cx="3835400" cy="330200"/>
          </a:xfrm>
          <a:prstGeom prst="rect">
            <a:avLst/>
          </a:prstGeom>
          <a:noFill/>
        </p:spPr>
        <p:txBody>
          <a:bodyPr wrap="square" lIns="0" tIns="0" rIns="0" bIns="0" anchor="ctr">
            <a:noAutofit/>
          </a:bodyPr>
          <a:lstStyle/>
          <a:p>
            <a:pPr algn="l">
              <a:lnSpc>
                <a:spcPct val="95000"/>
              </a:lnSpc>
            </a:pPr>
            <a:r>
              <a:rPr lang="en-US" sz="1600" b="1" dirty="0">
                <a:solidFill>
                  <a:srgbClr val="FF655C"/>
                </a:solidFill>
                <a:latin typeface="Aptos"/>
              </a:rPr>
              <a:t>default</a:t>
            </a:r>
            <a:r>
              <a:rPr lang="en-US" sz="1600" b="1" dirty="0">
                <a:solidFill>
                  <a:srgbClr val="C8C8C8"/>
                </a:solidFill>
                <a:latin typeface="Aptos"/>
              </a:rPr>
              <a:t>  open_datasync</a:t>
            </a:r>
          </a:p>
        </p:txBody>
      </p:sp>
      <p:sp>
        <p:nvSpPr>
          <p:cNvPr id="36" name="Latency"/>
          <p:cNvSpPr txBox="1"/>
          <p:nvPr/>
        </p:nvSpPr>
        <p:spPr>
          <a:xfrm>
            <a:off x="3149600" y="1879600"/>
            <a:ext cx="3835400" cy="914400"/>
          </a:xfrm>
          <a:prstGeom prst="rect">
            <a:avLst/>
          </a:prstGeom>
          <a:noFill/>
        </p:spPr>
        <p:txBody>
          <a:bodyPr wrap="square" lIns="0" tIns="0" rIns="0" bIns="0" anchor="ctr">
            <a:noAutofit/>
          </a:bodyPr>
          <a:lstStyle/>
          <a:p>
            <a:pPr algn="l">
              <a:lnSpc>
                <a:spcPct val="95000"/>
              </a:lnSpc>
            </a:pPr>
            <a:r>
              <a:rPr lang="en-US" sz="5400" b="1" dirty="0">
                <a:solidFill>
                  <a:srgbClr val="F2F2F2"/>
                </a:solidFill>
                <a:latin typeface="Aptos"/>
              </a:rPr>
              <a:t>~40 µs</a:t>
            </a:r>
          </a:p>
        </p:txBody>
      </p:sp>
      <p:cxnSp>
        <p:nvCxnSpPr>
          <p:cNvPr id="39" name="Divider"/>
          <p:cNvCxnSpPr/>
          <p:nvPr/>
        </p:nvCxnSpPr>
        <p:spPr>
          <a:xfrm>
            <a:off x="3149600" y="3048000"/>
            <a:ext cx="3835400" cy="0"/>
          </a:xfrm>
          <a:prstGeom prst="line">
            <a:avLst/>
          </a:prstGeom>
          <a:ln w="9525">
            <a:solidFill>
              <a:srgbClr val="3A3C44"/>
            </a:solidFill>
          </a:ln>
        </p:spPr>
      </p:cxnSp>
      <p:sp>
        <p:nvSpPr>
          <p:cNvPr id="40" name="Value"/>
          <p:cNvSpPr txBox="1"/>
          <p:nvPr/>
        </p:nvSpPr>
        <p:spPr>
          <a:xfrm>
            <a:off x="3149600" y="3048000"/>
            <a:ext cx="3835400" cy="1143000"/>
          </a:xfrm>
          <a:prstGeom prst="rect">
            <a:avLst/>
          </a:prstGeom>
          <a:noFill/>
        </p:spPr>
        <p:txBody>
          <a:bodyPr wrap="square" lIns="0" tIns="0" rIns="0" bIns="0" anchor="ctr">
            <a:noAutofit/>
          </a:bodyPr>
          <a:lstStyle/>
          <a:p>
            <a:pPr algn="l">
              <a:lnSpc>
                <a:spcPct val="95000"/>
              </a:lnSpc>
            </a:pPr>
            <a:r>
              <a:rPr lang="en-US" sz="1800" b="0" dirty="0">
                <a:solidFill>
                  <a:srgbClr val="F2F2F2"/>
                </a:solidFill>
                <a:latin typeface="Aptos"/>
              </a:rPr>
              <a:t>Can remain enabled</a:t>
            </a:r>
          </a:p>
        </p:txBody>
      </p:sp>
      <p:cxnSp>
        <p:nvCxnSpPr>
          <p:cNvPr id="41" name="Divider"/>
          <p:cNvCxnSpPr/>
          <p:nvPr/>
        </p:nvCxnSpPr>
        <p:spPr>
          <a:xfrm>
            <a:off x="3149600" y="4191000"/>
            <a:ext cx="3835400" cy="0"/>
          </a:xfrm>
          <a:prstGeom prst="line">
            <a:avLst/>
          </a:prstGeom>
          <a:ln w="9525">
            <a:solidFill>
              <a:srgbClr val="3A3C44"/>
            </a:solidFill>
          </a:ln>
        </p:spPr>
      </p:cxnSp>
      <p:sp>
        <p:nvSpPr>
          <p:cNvPr id="42" name="Value"/>
          <p:cNvSpPr txBox="1"/>
          <p:nvPr/>
        </p:nvSpPr>
        <p:spPr>
          <a:xfrm>
            <a:off x="3149600" y="4191000"/>
            <a:ext cx="3835400" cy="1143000"/>
          </a:xfrm>
          <a:prstGeom prst="rect">
            <a:avLst/>
          </a:prstGeom>
          <a:noFill/>
        </p:spPr>
        <p:txBody>
          <a:bodyPr wrap="square" lIns="0" tIns="0" rIns="0" bIns="0" anchor="ctr">
            <a:noAutofit/>
          </a:bodyPr>
          <a:lstStyle/>
          <a:p>
            <a:pPr algn="l">
              <a:lnSpc>
                <a:spcPct val="95000"/>
              </a:lnSpc>
            </a:pPr>
            <a:r>
              <a:rPr lang="en-US" sz="1800" b="1" dirty="0">
                <a:solidFill>
                  <a:srgbClr val="FF655C"/>
                </a:solidFill>
                <a:latin typeface="Aptos"/>
              </a:rPr>
              <a:t>High TPS</a:t>
            </a:r>
          </a:p>
        </p:txBody>
      </p:sp>
      <p:sp>
        <p:nvSpPr>
          <p:cNvPr id="43" name="Card ~2 ms"/>
          <p:cNvSpPr/>
          <p:nvPr/>
        </p:nvSpPr>
        <p:spPr>
          <a:xfrm>
            <a:off x="7391400" y="1320800"/>
            <a:ext cx="4343400" cy="3835400"/>
          </a:xfrm>
          <a:prstGeom prst="roundRect">
            <a:avLst>
              <a:gd name="adj" fmla="val 6000"/>
            </a:avLst>
          </a:prstGeom>
          <a:solidFill>
            <a:srgbClr val="222329"/>
          </a:solidFill>
          <a:ln w="12700">
            <a:solidFill>
              <a:srgbClr val="00C2D6"/>
            </a:solidFill>
          </a:ln>
        </p:spPr>
        <p:txBody>
          <a:bodyPr/>
          <a:lstStyle/>
          <a:p>
            <a:endParaRPr lang="en-US" dirty="0"/>
          </a:p>
        </p:txBody>
      </p:sp>
      <p:sp>
        <p:nvSpPr>
          <p:cNvPr id="44" name="Header"/>
          <p:cNvSpPr txBox="1"/>
          <p:nvPr/>
        </p:nvSpPr>
        <p:spPr>
          <a:xfrm>
            <a:off x="7645400" y="1549400"/>
            <a:ext cx="3835400" cy="330200"/>
          </a:xfrm>
          <a:prstGeom prst="rect">
            <a:avLst/>
          </a:prstGeom>
          <a:noFill/>
        </p:spPr>
        <p:txBody>
          <a:bodyPr wrap="square" lIns="0" tIns="0" rIns="0" bIns="0" anchor="ctr">
            <a:noAutofit/>
          </a:bodyPr>
          <a:lstStyle/>
          <a:p>
            <a:pPr algn="l">
              <a:lnSpc>
                <a:spcPct val="95000"/>
              </a:lnSpc>
            </a:pPr>
            <a:r>
              <a:rPr lang="en-US" sz="1600" b="1" dirty="0">
                <a:solidFill>
                  <a:srgbClr val="C8C8C8"/>
                </a:solidFill>
                <a:latin typeface="Aptos"/>
              </a:rPr>
              <a:t>fdatasync</a:t>
            </a:r>
          </a:p>
        </p:txBody>
      </p:sp>
      <p:sp>
        <p:nvSpPr>
          <p:cNvPr id="45" name="Latency"/>
          <p:cNvSpPr txBox="1"/>
          <p:nvPr/>
        </p:nvSpPr>
        <p:spPr>
          <a:xfrm>
            <a:off x="7645400" y="1879600"/>
            <a:ext cx="3835400" cy="914400"/>
          </a:xfrm>
          <a:prstGeom prst="rect">
            <a:avLst/>
          </a:prstGeom>
          <a:noFill/>
        </p:spPr>
        <p:txBody>
          <a:bodyPr wrap="square" lIns="0" tIns="0" rIns="0" bIns="0" anchor="ctr">
            <a:noAutofit/>
          </a:bodyPr>
          <a:lstStyle/>
          <a:p>
            <a:pPr algn="l">
              <a:lnSpc>
                <a:spcPct val="95000"/>
              </a:lnSpc>
            </a:pPr>
            <a:r>
              <a:rPr lang="en-US" sz="5400" b="1" dirty="0">
                <a:solidFill>
                  <a:srgbClr val="F2F2F2"/>
                </a:solidFill>
                <a:latin typeface="Aptos"/>
              </a:rPr>
              <a:t>~2 ms</a:t>
            </a:r>
          </a:p>
        </p:txBody>
      </p:sp>
      <p:cxnSp>
        <p:nvCxnSpPr>
          <p:cNvPr id="48" name="Divider"/>
          <p:cNvCxnSpPr/>
          <p:nvPr/>
        </p:nvCxnSpPr>
        <p:spPr>
          <a:xfrm>
            <a:off x="7645400" y="3048000"/>
            <a:ext cx="3835400" cy="0"/>
          </a:xfrm>
          <a:prstGeom prst="line">
            <a:avLst/>
          </a:prstGeom>
          <a:ln w="9525">
            <a:solidFill>
              <a:srgbClr val="3A3C44"/>
            </a:solidFill>
          </a:ln>
        </p:spPr>
      </p:cxnSp>
      <p:sp>
        <p:nvSpPr>
          <p:cNvPr id="49" name="Value"/>
          <p:cNvSpPr txBox="1"/>
          <p:nvPr/>
        </p:nvSpPr>
        <p:spPr>
          <a:xfrm>
            <a:off x="7645400" y="3048000"/>
            <a:ext cx="3835400" cy="1143000"/>
          </a:xfrm>
          <a:prstGeom prst="rect">
            <a:avLst/>
          </a:prstGeom>
          <a:noFill/>
        </p:spPr>
        <p:txBody>
          <a:bodyPr wrap="square" lIns="0" tIns="0" rIns="0" bIns="0" anchor="ctr">
            <a:noAutofit/>
          </a:bodyPr>
          <a:lstStyle/>
          <a:p>
            <a:pPr algn="l">
              <a:lnSpc>
                <a:spcPct val="95000"/>
              </a:lnSpc>
            </a:pPr>
            <a:r>
              <a:rPr lang="en-US" sz="1800" b="0" dirty="0">
                <a:solidFill>
                  <a:srgbClr val="F2F2F2"/>
                </a:solidFill>
                <a:latin typeface="Aptos"/>
              </a:rPr>
              <a:t>Can prevent write caching</a:t>
            </a:r>
          </a:p>
        </p:txBody>
      </p:sp>
      <p:cxnSp>
        <p:nvCxnSpPr>
          <p:cNvPr id="50" name="Divider"/>
          <p:cNvCxnSpPr/>
          <p:nvPr/>
        </p:nvCxnSpPr>
        <p:spPr>
          <a:xfrm>
            <a:off x="7645400" y="4191000"/>
            <a:ext cx="3835400" cy="0"/>
          </a:xfrm>
          <a:prstGeom prst="line">
            <a:avLst/>
          </a:prstGeom>
          <a:ln w="9525">
            <a:solidFill>
              <a:srgbClr val="3A3C44"/>
            </a:solidFill>
          </a:ln>
        </p:spPr>
      </p:cxnSp>
      <p:sp>
        <p:nvSpPr>
          <p:cNvPr id="51" name="Value"/>
          <p:cNvSpPr txBox="1"/>
          <p:nvPr/>
        </p:nvSpPr>
        <p:spPr>
          <a:xfrm>
            <a:off x="7645400" y="4191000"/>
            <a:ext cx="3835400" cy="1143000"/>
          </a:xfrm>
          <a:prstGeom prst="rect">
            <a:avLst/>
          </a:prstGeom>
          <a:noFill/>
        </p:spPr>
        <p:txBody>
          <a:bodyPr wrap="square" lIns="0" tIns="0" rIns="0" bIns="0" anchor="ctr">
            <a:noAutofit/>
          </a:bodyPr>
          <a:lstStyle/>
          <a:p>
            <a:pPr algn="l">
              <a:lnSpc>
                <a:spcPct val="95000"/>
              </a:lnSpc>
            </a:pPr>
            <a:r>
              <a:rPr lang="en-US" sz="1800" b="1" dirty="0">
                <a:solidFill>
                  <a:srgbClr val="00C2D6"/>
                </a:solidFill>
                <a:latin typeface="Aptos"/>
              </a:rPr>
              <a:t>Low TPS</a:t>
            </a:r>
          </a:p>
        </p:txBody>
      </p:sp>
      <p:cxnSp>
        <p:nvCxnSpPr>
          <p:cNvPr id="53" name="Divider"/>
          <p:cNvCxnSpPr/>
          <p:nvPr/>
        </p:nvCxnSpPr>
        <p:spPr>
          <a:xfrm>
            <a:off x="546100" y="3048000"/>
            <a:ext cx="2197100" cy="0"/>
          </a:xfrm>
          <a:prstGeom prst="line">
            <a:avLst/>
          </a:prstGeom>
          <a:ln w="9525">
            <a:solidFill>
              <a:srgbClr val="3A3C44"/>
            </a:solidFill>
          </a:ln>
        </p:spPr>
      </p:cxnSp>
      <p:cxnSp>
        <p:nvCxnSpPr>
          <p:cNvPr id="54" name="Divider"/>
          <p:cNvCxnSpPr/>
          <p:nvPr/>
        </p:nvCxnSpPr>
        <p:spPr>
          <a:xfrm>
            <a:off x="546100" y="4191000"/>
            <a:ext cx="2197100" cy="0"/>
          </a:xfrm>
          <a:prstGeom prst="line">
            <a:avLst/>
          </a:prstGeom>
          <a:ln w="9525">
            <a:solidFill>
              <a:srgbClr val="3A3C44"/>
            </a:solidFill>
          </a:ln>
        </p:spPr>
      </p:cxnSp>
      <p:sp>
        <p:nvSpPr>
          <p:cNvPr id="6" name="TextBox 5"/>
          <p:cNvSpPr txBox="1"/>
          <p:nvPr/>
        </p:nvSpPr>
        <p:spPr>
          <a:xfrm>
            <a:off x="502920" y="6510528"/>
            <a:ext cx="2377440" cy="164592"/>
          </a:xfrm>
          <a:prstGeom prst="rect">
            <a:avLst/>
          </a:prstGeom>
          <a:noFill/>
        </p:spPr>
        <p:txBody>
          <a:bodyPr wrap="square" anchor="t">
            <a:spAutoFit/>
          </a:bodyPr>
          <a:lstStyle/>
          <a:p>
            <a:pPr algn="l">
              <a:defRPr sz="750" b="1">
                <a:solidFill>
                  <a:srgbClr val="AAAAAA"/>
                </a:solidFill>
                <a:latin typeface="Aptos"/>
              </a:defRPr>
            </a:pPr>
            <a:r>
              <a:t>MY DISHONEST BENCHMARK</a:t>
            </a:r>
          </a:p>
        </p:txBody>
      </p:sp>
      <p:sp>
        <p:nvSpPr>
          <p:cNvPr id="7" name="TextBox 6"/>
          <p:cNvSpPr txBox="1"/>
          <p:nvPr/>
        </p:nvSpPr>
        <p:spPr>
          <a:xfrm>
            <a:off x="11155680" y="6473952"/>
            <a:ext cx="502920" cy="182880"/>
          </a:xfrm>
          <a:prstGeom prst="rect">
            <a:avLst/>
          </a:prstGeom>
          <a:noFill/>
        </p:spPr>
        <p:txBody>
          <a:bodyPr wrap="square" anchor="t">
            <a:spAutoFit/>
          </a:bodyPr>
          <a:lstStyle/>
          <a:p>
            <a:pPr algn="r">
              <a:defRPr sz="800" b="1">
                <a:solidFill>
                  <a:srgbClr val="AAAAAA"/>
                </a:solidFill>
                <a:latin typeface="Aptos"/>
              </a:defRPr>
            </a:pPr>
            <a:r>
              <a:t>22</a:t>
            </a:r>
          </a:p>
        </p:txBody>
      </p:sp>
    </p:spTree>
    <p:extLst>
      <p:ext uri="{BB962C8B-B14F-4D97-AF65-F5344CB8AC3E}">
        <p14:creationId xmlns:p14="http://schemas.microsoft.com/office/powerpoint/2010/main" val="40585965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 name="TextBox 1"/>
          <p:cNvSpPr txBox="1"/>
          <p:nvPr/>
        </p:nvSpPr>
        <p:spPr>
          <a:xfrm>
            <a:off x="594360" y="429768"/>
            <a:ext cx="6386732" cy="584775"/>
          </a:xfrm>
          <a:prstGeom prst="rect">
            <a:avLst/>
          </a:prstGeom>
          <a:noFill/>
        </p:spPr>
        <p:txBody>
          <a:bodyPr wrap="square" anchor="t">
            <a:spAutoFit/>
          </a:bodyPr>
          <a:lstStyle/>
          <a:p>
            <a:pPr algn="l">
              <a:defRPr sz="1000" b="1">
                <a:solidFill>
                  <a:srgbClr val="FF655C"/>
                </a:solidFill>
                <a:latin typeface="Aptos"/>
              </a:defRPr>
            </a:pPr>
            <a:r>
              <a:rPr sz="3200" dirty="0">
                <a:solidFill>
                  <a:srgbClr val="F2F2F2"/>
                </a:solidFill>
              </a:rPr>
              <a:t>UNLOGGED</a:t>
            </a:r>
            <a:r>
              <a:rPr dirty="0">
                <a:solidFill>
                  <a:srgbClr val="F2F2F2"/>
                </a:solidFill>
              </a:rPr>
              <a:t> </a:t>
            </a:r>
            <a:r>
              <a:rPr sz="3200" dirty="0">
                <a:solidFill>
                  <a:srgbClr val="F2F2F2"/>
                </a:solidFill>
              </a:rPr>
              <a:t>LEDGER / AUDIT</a:t>
            </a:r>
          </a:p>
        </p:txBody>
      </p:sp>
      <p:sp>
        <p:nvSpPr>
          <p:cNvPr id="3" name="TextBox 2"/>
          <p:cNvSpPr txBox="1"/>
          <p:nvPr/>
        </p:nvSpPr>
        <p:spPr>
          <a:xfrm>
            <a:off x="594360" y="1011471"/>
            <a:ext cx="10515600" cy="538609"/>
          </a:xfrm>
          <a:prstGeom prst="rect">
            <a:avLst/>
          </a:prstGeom>
          <a:noFill/>
        </p:spPr>
        <p:txBody>
          <a:bodyPr wrap="square" anchor="t">
            <a:spAutoFit/>
          </a:bodyPr>
          <a:lstStyle/>
          <a:p>
            <a:pPr algn="l">
              <a:defRPr sz="2900" b="1">
                <a:solidFill>
                  <a:srgbClr val="F2F2F2"/>
                </a:solidFill>
                <a:latin typeface="Aptos Display"/>
              </a:defRPr>
            </a:pPr>
            <a:r>
              <a:rPr lang="en-US" dirty="0">
                <a:solidFill>
                  <a:srgbClr val="F2F2F2"/>
                </a:solidFill>
              </a:rPr>
              <a:t>W</a:t>
            </a:r>
            <a:r>
              <a:rPr dirty="0">
                <a:solidFill>
                  <a:srgbClr val="F2F2F2"/>
                </a:solidFill>
              </a:rPr>
              <a:t>rite less WAL</a:t>
            </a:r>
          </a:p>
        </p:txBody>
      </p:sp>
      <p:sp>
        <p:nvSpPr>
          <p:cNvPr id="4" name="Rounded Rectangle 3"/>
          <p:cNvSpPr/>
          <p:nvPr/>
        </p:nvSpPr>
        <p:spPr>
          <a:xfrm>
            <a:off x="777240" y="1920240"/>
            <a:ext cx="2926080" cy="2011680"/>
          </a:xfrm>
          <a:prstGeom prst="roundRect">
            <a:avLst/>
          </a:prstGeom>
          <a:solidFill>
            <a:srgbClr val="222329"/>
          </a:solidFill>
          <a:ln>
            <a:solidFill>
              <a:srgbClr val="FF65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5" name="TextBox 4"/>
          <p:cNvSpPr txBox="1"/>
          <p:nvPr/>
        </p:nvSpPr>
        <p:spPr>
          <a:xfrm>
            <a:off x="777240" y="2240280"/>
            <a:ext cx="2926080" cy="320040"/>
          </a:xfrm>
          <a:prstGeom prst="rect">
            <a:avLst/>
          </a:prstGeom>
          <a:noFill/>
        </p:spPr>
        <p:txBody>
          <a:bodyPr wrap="square" anchor="t">
            <a:spAutoFit/>
          </a:bodyPr>
          <a:lstStyle/>
          <a:p>
            <a:pPr algn="ctr">
              <a:defRPr sz="1800" b="1">
                <a:solidFill>
                  <a:srgbClr val="FF655C"/>
                </a:solidFill>
                <a:latin typeface="Aptos"/>
              </a:defRPr>
            </a:pPr>
            <a:r>
              <a:t>LOGGED</a:t>
            </a:r>
          </a:p>
        </p:txBody>
      </p:sp>
      <p:sp>
        <p:nvSpPr>
          <p:cNvPr id="6" name="TextBox 5"/>
          <p:cNvSpPr txBox="1"/>
          <p:nvPr/>
        </p:nvSpPr>
        <p:spPr>
          <a:xfrm>
            <a:off x="777240" y="2743200"/>
            <a:ext cx="2926080" cy="640080"/>
          </a:xfrm>
          <a:prstGeom prst="rect">
            <a:avLst/>
          </a:prstGeom>
          <a:noFill/>
        </p:spPr>
        <p:txBody>
          <a:bodyPr wrap="square" anchor="t">
            <a:spAutoFit/>
          </a:bodyPr>
          <a:lstStyle/>
          <a:p>
            <a:pPr algn="ctr">
              <a:defRPr sz="2000" b="1">
                <a:solidFill>
                  <a:srgbClr val="F2F2F2"/>
                </a:solidFill>
                <a:latin typeface="Aptos"/>
              </a:defRPr>
            </a:pPr>
            <a:r>
              <a:t>ledger</a:t>
            </a:r>
            <a:br/>
            <a:r>
              <a:t>audit</a:t>
            </a:r>
          </a:p>
        </p:txBody>
      </p:sp>
      <p:sp>
        <p:nvSpPr>
          <p:cNvPr id="7" name="TextBox 6"/>
          <p:cNvSpPr txBox="1"/>
          <p:nvPr/>
        </p:nvSpPr>
        <p:spPr>
          <a:xfrm>
            <a:off x="4069080" y="2651760"/>
            <a:ext cx="548640" cy="457200"/>
          </a:xfrm>
          <a:prstGeom prst="rect">
            <a:avLst/>
          </a:prstGeom>
          <a:noFill/>
        </p:spPr>
        <p:txBody>
          <a:bodyPr wrap="square" anchor="t">
            <a:spAutoFit/>
          </a:bodyPr>
          <a:lstStyle/>
          <a:p>
            <a:pPr algn="ctr">
              <a:defRPr sz="3400" b="1">
                <a:solidFill>
                  <a:srgbClr val="BEBEBE"/>
                </a:solidFill>
                <a:latin typeface="Aptos"/>
              </a:defRPr>
            </a:pPr>
            <a:r>
              <a:t>→</a:t>
            </a:r>
          </a:p>
        </p:txBody>
      </p:sp>
      <p:sp>
        <p:nvSpPr>
          <p:cNvPr id="8" name="Rounded Rectangle 7"/>
          <p:cNvSpPr/>
          <p:nvPr/>
        </p:nvSpPr>
        <p:spPr>
          <a:xfrm>
            <a:off x="4937760" y="1920240"/>
            <a:ext cx="2926080" cy="2011680"/>
          </a:xfrm>
          <a:prstGeom prst="roundRect">
            <a:avLst/>
          </a:prstGeom>
          <a:solidFill>
            <a:srgbClr val="222329"/>
          </a:solidFill>
          <a:ln>
            <a:solidFill>
              <a:srgbClr val="00C2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9" name="TextBox 8"/>
          <p:cNvSpPr txBox="1"/>
          <p:nvPr/>
        </p:nvSpPr>
        <p:spPr>
          <a:xfrm>
            <a:off x="4937760" y="2240280"/>
            <a:ext cx="2926080" cy="320040"/>
          </a:xfrm>
          <a:prstGeom prst="rect">
            <a:avLst/>
          </a:prstGeom>
          <a:noFill/>
        </p:spPr>
        <p:txBody>
          <a:bodyPr wrap="square" anchor="t">
            <a:spAutoFit/>
          </a:bodyPr>
          <a:lstStyle/>
          <a:p>
            <a:pPr algn="ctr">
              <a:defRPr sz="1800" b="1">
                <a:solidFill>
                  <a:srgbClr val="00C2D6"/>
                </a:solidFill>
                <a:latin typeface="Aptos"/>
              </a:defRPr>
            </a:pPr>
            <a:r>
              <a:t>UNLOGGED</a:t>
            </a:r>
          </a:p>
        </p:txBody>
      </p:sp>
      <p:sp>
        <p:nvSpPr>
          <p:cNvPr id="10" name="TextBox 9"/>
          <p:cNvSpPr txBox="1"/>
          <p:nvPr/>
        </p:nvSpPr>
        <p:spPr>
          <a:xfrm>
            <a:off x="4937760" y="2743200"/>
            <a:ext cx="2926080" cy="640080"/>
          </a:xfrm>
          <a:prstGeom prst="rect">
            <a:avLst/>
          </a:prstGeom>
          <a:noFill/>
        </p:spPr>
        <p:txBody>
          <a:bodyPr wrap="square" anchor="t">
            <a:spAutoFit/>
          </a:bodyPr>
          <a:lstStyle/>
          <a:p>
            <a:pPr algn="ctr">
              <a:defRPr sz="2000" b="1">
                <a:solidFill>
                  <a:srgbClr val="F2F2F2"/>
                </a:solidFill>
                <a:latin typeface="Aptos"/>
              </a:defRPr>
            </a:pPr>
            <a:r>
              <a:t>ledger</a:t>
            </a:r>
            <a:br/>
            <a:r>
              <a:t>audit</a:t>
            </a:r>
          </a:p>
        </p:txBody>
      </p:sp>
      <p:sp>
        <p:nvSpPr>
          <p:cNvPr id="11" name="TextBox 10"/>
          <p:cNvSpPr txBox="1"/>
          <p:nvPr/>
        </p:nvSpPr>
        <p:spPr>
          <a:xfrm>
            <a:off x="8458200" y="1920240"/>
            <a:ext cx="2926080" cy="777240"/>
          </a:xfrm>
          <a:prstGeom prst="rect">
            <a:avLst/>
          </a:prstGeom>
          <a:noFill/>
        </p:spPr>
        <p:txBody>
          <a:bodyPr wrap="square" anchor="t">
            <a:spAutoFit/>
          </a:bodyPr>
          <a:lstStyle/>
          <a:p>
            <a:pPr algn="ctr">
              <a:defRPr sz="4400" b="1">
                <a:solidFill>
                  <a:srgbClr val="F2F2F2"/>
                </a:solidFill>
                <a:latin typeface="Aptos Display"/>
              </a:defRPr>
            </a:pPr>
            <a:r>
              <a:rPr dirty="0"/>
              <a:t>37,</a:t>
            </a:r>
            <a:r>
              <a:rPr lang="en-US" dirty="0"/>
              <a:t>780</a:t>
            </a:r>
            <a:endParaRPr dirty="0"/>
          </a:p>
        </p:txBody>
      </p:sp>
      <p:sp>
        <p:nvSpPr>
          <p:cNvPr id="12" name="TextBox 11"/>
          <p:cNvSpPr txBox="1"/>
          <p:nvPr/>
        </p:nvSpPr>
        <p:spPr>
          <a:xfrm>
            <a:off x="8458200" y="2633472"/>
            <a:ext cx="2926080" cy="347472"/>
          </a:xfrm>
          <a:prstGeom prst="rect">
            <a:avLst/>
          </a:prstGeom>
          <a:noFill/>
        </p:spPr>
        <p:txBody>
          <a:bodyPr wrap="square" anchor="t">
            <a:spAutoFit/>
          </a:bodyPr>
          <a:lstStyle/>
          <a:p>
            <a:pPr algn="ctr">
              <a:defRPr sz="1200" b="1">
                <a:solidFill>
                  <a:srgbClr val="00C2D6"/>
                </a:solidFill>
                <a:latin typeface="Aptos"/>
              </a:defRPr>
            </a:pPr>
            <a:r>
              <a:t>TPS</a:t>
            </a:r>
          </a:p>
        </p:txBody>
      </p:sp>
      <p:sp>
        <p:nvSpPr>
          <p:cNvPr id="13" name="Rounded Rectangle 12"/>
          <p:cNvSpPr/>
          <p:nvPr/>
        </p:nvSpPr>
        <p:spPr>
          <a:xfrm>
            <a:off x="9235440" y="3429000"/>
            <a:ext cx="1371600" cy="329184"/>
          </a:xfrm>
          <a:prstGeom prst="roundRect">
            <a:avLst/>
          </a:prstGeom>
          <a:solidFill>
            <a:srgbClr val="00C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14" name="TextBox 13"/>
          <p:cNvSpPr txBox="1"/>
          <p:nvPr/>
        </p:nvSpPr>
        <p:spPr>
          <a:xfrm>
            <a:off x="9345167" y="3483864"/>
            <a:ext cx="1152144" cy="246221"/>
          </a:xfrm>
          <a:prstGeom prst="rect">
            <a:avLst/>
          </a:prstGeom>
          <a:noFill/>
        </p:spPr>
        <p:txBody>
          <a:bodyPr wrap="square" anchor="t">
            <a:spAutoFit/>
          </a:bodyPr>
          <a:lstStyle/>
          <a:p>
            <a:pPr algn="l">
              <a:defRPr sz="1000" b="1">
                <a:solidFill>
                  <a:srgbClr val="17181C"/>
                </a:solidFill>
                <a:latin typeface="Aptos"/>
              </a:defRPr>
            </a:pPr>
            <a:r>
              <a:rPr dirty="0"/>
              <a:t>1.</a:t>
            </a:r>
            <a:r>
              <a:rPr lang="en-US" dirty="0"/>
              <a:t>66</a:t>
            </a:r>
            <a:r>
              <a:rPr dirty="0"/>
              <a:t>×</a:t>
            </a:r>
          </a:p>
        </p:txBody>
      </p:sp>
      <p:sp>
        <p:nvSpPr>
          <p:cNvPr id="15" name="TextBox 14"/>
          <p:cNvSpPr txBox="1"/>
          <p:nvPr/>
        </p:nvSpPr>
        <p:spPr>
          <a:xfrm>
            <a:off x="502920" y="6510528"/>
            <a:ext cx="2377440" cy="164592"/>
          </a:xfrm>
          <a:prstGeom prst="rect">
            <a:avLst/>
          </a:prstGeom>
          <a:noFill/>
        </p:spPr>
        <p:txBody>
          <a:bodyPr wrap="square" anchor="t">
            <a:spAutoFit/>
          </a:bodyPr>
          <a:lstStyle/>
          <a:p>
            <a:pPr algn="l">
              <a:defRPr sz="750" b="1">
                <a:solidFill>
                  <a:srgbClr val="BEBEBE"/>
                </a:solidFill>
                <a:latin typeface="Aptos"/>
              </a:defRPr>
            </a:pPr>
            <a:r>
              <a:t>MY DISHONEST BENCHMARK</a:t>
            </a:r>
          </a:p>
        </p:txBody>
      </p:sp>
      <p:sp>
        <p:nvSpPr>
          <p:cNvPr id="16" name="TextBox 15"/>
          <p:cNvSpPr txBox="1"/>
          <p:nvPr/>
        </p:nvSpPr>
        <p:spPr>
          <a:xfrm>
            <a:off x="11155680" y="6473952"/>
            <a:ext cx="502920" cy="182880"/>
          </a:xfrm>
          <a:prstGeom prst="rect">
            <a:avLst/>
          </a:prstGeom>
          <a:noFill/>
        </p:spPr>
        <p:txBody>
          <a:bodyPr wrap="square" anchor="t">
            <a:spAutoFit/>
          </a:bodyPr>
          <a:lstStyle/>
          <a:p>
            <a:pPr algn="r">
              <a:defRPr sz="800" b="1">
                <a:solidFill>
                  <a:srgbClr val="BEBEBE"/>
                </a:solidFill>
                <a:latin typeface="Aptos"/>
              </a:defRPr>
            </a:pPr>
            <a:r>
              <a:t>24</a:t>
            </a:r>
          </a:p>
        </p:txBody>
      </p:sp>
    </p:spTree>
    <p:extLst>
      <p:ext uri="{BB962C8B-B14F-4D97-AF65-F5344CB8AC3E}">
        <p14:creationId xmlns:p14="http://schemas.microsoft.com/office/powerpoint/2010/main" val="35702284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 name="TextBox 1"/>
          <p:cNvSpPr txBox="1"/>
          <p:nvPr/>
        </p:nvSpPr>
        <p:spPr>
          <a:xfrm>
            <a:off x="594360" y="165997"/>
            <a:ext cx="4572000" cy="584775"/>
          </a:xfrm>
          <a:prstGeom prst="rect">
            <a:avLst/>
          </a:prstGeom>
          <a:noFill/>
        </p:spPr>
        <p:txBody>
          <a:bodyPr wrap="square" anchor="t">
            <a:spAutoFit/>
          </a:bodyPr>
          <a:lstStyle/>
          <a:p>
            <a:pPr algn="l">
              <a:defRPr sz="1000" b="1">
                <a:solidFill>
                  <a:srgbClr val="FF655C"/>
                </a:solidFill>
                <a:latin typeface="Aptos"/>
              </a:defRPr>
            </a:pPr>
            <a:r>
              <a:rPr sz="3200" dirty="0">
                <a:solidFill>
                  <a:srgbClr val="F2F2F2"/>
                </a:solidFill>
              </a:rPr>
              <a:t>LESS WORK</a:t>
            </a:r>
          </a:p>
        </p:txBody>
      </p:sp>
      <p:sp>
        <p:nvSpPr>
          <p:cNvPr id="4" name="Rounded Rectangle 3"/>
          <p:cNvSpPr/>
          <p:nvPr/>
        </p:nvSpPr>
        <p:spPr>
          <a:xfrm>
            <a:off x="777240" y="1417320"/>
            <a:ext cx="329184" cy="329184"/>
          </a:xfrm>
          <a:prstGeom prst="roundRect">
            <a:avLst/>
          </a:prstGeom>
          <a:solidFill>
            <a:srgbClr val="FF6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5" name="TextBox 4"/>
          <p:cNvSpPr txBox="1"/>
          <p:nvPr/>
        </p:nvSpPr>
        <p:spPr>
          <a:xfrm>
            <a:off x="777240" y="1458468"/>
            <a:ext cx="329184" cy="182880"/>
          </a:xfrm>
          <a:prstGeom prst="rect">
            <a:avLst/>
          </a:prstGeom>
          <a:noFill/>
        </p:spPr>
        <p:txBody>
          <a:bodyPr wrap="square" anchor="t">
            <a:spAutoFit/>
          </a:bodyPr>
          <a:lstStyle/>
          <a:p>
            <a:pPr algn="ctr">
              <a:defRPr sz="1200" b="1">
                <a:solidFill>
                  <a:srgbClr val="17181C"/>
                </a:solidFill>
                <a:latin typeface="Aptos"/>
              </a:defRPr>
            </a:pPr>
            <a:r>
              <a:t>×</a:t>
            </a:r>
          </a:p>
        </p:txBody>
      </p:sp>
      <p:sp>
        <p:nvSpPr>
          <p:cNvPr id="6" name="TextBox 5"/>
          <p:cNvSpPr txBox="1"/>
          <p:nvPr/>
        </p:nvSpPr>
        <p:spPr>
          <a:xfrm>
            <a:off x="1280160" y="1408176"/>
            <a:ext cx="3474720" cy="347472"/>
          </a:xfrm>
          <a:prstGeom prst="rect">
            <a:avLst/>
          </a:prstGeom>
          <a:noFill/>
        </p:spPr>
        <p:txBody>
          <a:bodyPr wrap="square" anchor="t">
            <a:spAutoFit/>
          </a:bodyPr>
          <a:lstStyle/>
          <a:p>
            <a:pPr algn="l">
              <a:defRPr sz="1600" b="0">
                <a:solidFill>
                  <a:srgbClr val="BEBEBE"/>
                </a:solidFill>
                <a:latin typeface="Aptos"/>
              </a:defRPr>
            </a:pPr>
            <a:r>
              <a:t>SELECT account</a:t>
            </a:r>
          </a:p>
        </p:txBody>
      </p:sp>
      <p:sp>
        <p:nvSpPr>
          <p:cNvPr id="7" name="Rounded Rectangle 6"/>
          <p:cNvSpPr/>
          <p:nvPr/>
        </p:nvSpPr>
        <p:spPr>
          <a:xfrm>
            <a:off x="777240" y="2057400"/>
            <a:ext cx="329184" cy="329184"/>
          </a:xfrm>
          <a:prstGeom prst="roundRect">
            <a:avLst/>
          </a:prstGeom>
          <a:solidFill>
            <a:srgbClr val="AEE0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8" name="TextBox 7"/>
          <p:cNvSpPr txBox="1"/>
          <p:nvPr/>
        </p:nvSpPr>
        <p:spPr>
          <a:xfrm>
            <a:off x="777240" y="2098548"/>
            <a:ext cx="329184" cy="182880"/>
          </a:xfrm>
          <a:prstGeom prst="rect">
            <a:avLst/>
          </a:prstGeom>
          <a:noFill/>
        </p:spPr>
        <p:txBody>
          <a:bodyPr wrap="square" anchor="t">
            <a:spAutoFit/>
          </a:bodyPr>
          <a:lstStyle/>
          <a:p>
            <a:pPr algn="ctr">
              <a:defRPr sz="1200" b="1">
                <a:solidFill>
                  <a:srgbClr val="17181C"/>
                </a:solidFill>
                <a:latin typeface="Aptos"/>
              </a:defRPr>
            </a:pPr>
            <a:r>
              <a:t>✓</a:t>
            </a:r>
          </a:p>
        </p:txBody>
      </p:sp>
      <p:sp>
        <p:nvSpPr>
          <p:cNvPr id="9" name="TextBox 8"/>
          <p:cNvSpPr txBox="1"/>
          <p:nvPr/>
        </p:nvSpPr>
        <p:spPr>
          <a:xfrm>
            <a:off x="1280160" y="2048256"/>
            <a:ext cx="3474720" cy="347472"/>
          </a:xfrm>
          <a:prstGeom prst="rect">
            <a:avLst/>
          </a:prstGeom>
          <a:noFill/>
        </p:spPr>
        <p:txBody>
          <a:bodyPr wrap="square" anchor="t">
            <a:spAutoFit/>
          </a:bodyPr>
          <a:lstStyle/>
          <a:p>
            <a:pPr algn="l">
              <a:defRPr sz="1600" b="1">
                <a:solidFill>
                  <a:srgbClr val="F2F2F2"/>
                </a:solidFill>
                <a:latin typeface="Aptos"/>
              </a:defRPr>
            </a:pPr>
            <a:r>
              <a:t>UPDATE balance</a:t>
            </a:r>
          </a:p>
        </p:txBody>
      </p:sp>
      <p:sp>
        <p:nvSpPr>
          <p:cNvPr id="10" name="Rounded Rectangle 9"/>
          <p:cNvSpPr/>
          <p:nvPr/>
        </p:nvSpPr>
        <p:spPr>
          <a:xfrm>
            <a:off x="777240" y="2697480"/>
            <a:ext cx="329184" cy="329184"/>
          </a:xfrm>
          <a:prstGeom prst="roundRect">
            <a:avLst/>
          </a:prstGeom>
          <a:solidFill>
            <a:srgbClr val="AEE0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11" name="TextBox 10"/>
          <p:cNvSpPr txBox="1"/>
          <p:nvPr/>
        </p:nvSpPr>
        <p:spPr>
          <a:xfrm>
            <a:off x="777240" y="2738628"/>
            <a:ext cx="329184" cy="182880"/>
          </a:xfrm>
          <a:prstGeom prst="rect">
            <a:avLst/>
          </a:prstGeom>
          <a:noFill/>
        </p:spPr>
        <p:txBody>
          <a:bodyPr wrap="square" anchor="t">
            <a:spAutoFit/>
          </a:bodyPr>
          <a:lstStyle/>
          <a:p>
            <a:pPr algn="ctr">
              <a:defRPr sz="1200" b="1">
                <a:solidFill>
                  <a:srgbClr val="17181C"/>
                </a:solidFill>
                <a:latin typeface="Aptos"/>
              </a:defRPr>
            </a:pPr>
            <a:r>
              <a:t>✓</a:t>
            </a:r>
          </a:p>
        </p:txBody>
      </p:sp>
      <p:sp>
        <p:nvSpPr>
          <p:cNvPr id="12" name="TextBox 11"/>
          <p:cNvSpPr txBox="1"/>
          <p:nvPr/>
        </p:nvSpPr>
        <p:spPr>
          <a:xfrm>
            <a:off x="1280160" y="2688336"/>
            <a:ext cx="3474720" cy="347472"/>
          </a:xfrm>
          <a:prstGeom prst="rect">
            <a:avLst/>
          </a:prstGeom>
          <a:noFill/>
        </p:spPr>
        <p:txBody>
          <a:bodyPr wrap="square" anchor="t">
            <a:spAutoFit/>
          </a:bodyPr>
          <a:lstStyle/>
          <a:p>
            <a:pPr algn="l">
              <a:defRPr sz="1600" b="1">
                <a:solidFill>
                  <a:srgbClr val="F2F2F2"/>
                </a:solidFill>
                <a:latin typeface="Aptos"/>
              </a:defRPr>
            </a:pPr>
            <a:r>
              <a:t>INSERT ledger</a:t>
            </a:r>
          </a:p>
        </p:txBody>
      </p:sp>
      <p:sp>
        <p:nvSpPr>
          <p:cNvPr id="13" name="Rounded Rectangle 12"/>
          <p:cNvSpPr/>
          <p:nvPr/>
        </p:nvSpPr>
        <p:spPr>
          <a:xfrm>
            <a:off x="777240" y="3337559"/>
            <a:ext cx="329184" cy="329184"/>
          </a:xfrm>
          <a:prstGeom prst="roundRect">
            <a:avLst/>
          </a:prstGeom>
          <a:solidFill>
            <a:srgbClr val="FF6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14" name="TextBox 13"/>
          <p:cNvSpPr txBox="1"/>
          <p:nvPr/>
        </p:nvSpPr>
        <p:spPr>
          <a:xfrm>
            <a:off x="777240" y="3378707"/>
            <a:ext cx="329184" cy="182880"/>
          </a:xfrm>
          <a:prstGeom prst="rect">
            <a:avLst/>
          </a:prstGeom>
          <a:noFill/>
        </p:spPr>
        <p:txBody>
          <a:bodyPr wrap="square" anchor="t">
            <a:spAutoFit/>
          </a:bodyPr>
          <a:lstStyle/>
          <a:p>
            <a:pPr algn="ctr">
              <a:defRPr sz="1200" b="1">
                <a:solidFill>
                  <a:srgbClr val="17181C"/>
                </a:solidFill>
                <a:latin typeface="Aptos"/>
              </a:defRPr>
            </a:pPr>
            <a:r>
              <a:t>×</a:t>
            </a:r>
          </a:p>
        </p:txBody>
      </p:sp>
      <p:sp>
        <p:nvSpPr>
          <p:cNvPr id="15" name="TextBox 14"/>
          <p:cNvSpPr txBox="1"/>
          <p:nvPr/>
        </p:nvSpPr>
        <p:spPr>
          <a:xfrm>
            <a:off x="1280160" y="3328415"/>
            <a:ext cx="3474720" cy="347472"/>
          </a:xfrm>
          <a:prstGeom prst="rect">
            <a:avLst/>
          </a:prstGeom>
          <a:noFill/>
        </p:spPr>
        <p:txBody>
          <a:bodyPr wrap="square" anchor="t">
            <a:spAutoFit/>
          </a:bodyPr>
          <a:lstStyle/>
          <a:p>
            <a:pPr algn="l">
              <a:defRPr sz="1600" b="0">
                <a:solidFill>
                  <a:srgbClr val="BEBEBE"/>
                </a:solidFill>
                <a:latin typeface="Aptos"/>
              </a:defRPr>
            </a:pPr>
            <a:r>
              <a:t>FK check</a:t>
            </a:r>
          </a:p>
        </p:txBody>
      </p:sp>
      <p:sp>
        <p:nvSpPr>
          <p:cNvPr id="16" name="Rounded Rectangle 15"/>
          <p:cNvSpPr/>
          <p:nvPr/>
        </p:nvSpPr>
        <p:spPr>
          <a:xfrm>
            <a:off x="777240" y="3977639"/>
            <a:ext cx="329184" cy="329184"/>
          </a:xfrm>
          <a:prstGeom prst="roundRect">
            <a:avLst/>
          </a:prstGeom>
          <a:solidFill>
            <a:srgbClr val="FF6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17" name="TextBox 16"/>
          <p:cNvSpPr txBox="1"/>
          <p:nvPr/>
        </p:nvSpPr>
        <p:spPr>
          <a:xfrm>
            <a:off x="777240" y="4018787"/>
            <a:ext cx="329184" cy="182880"/>
          </a:xfrm>
          <a:prstGeom prst="rect">
            <a:avLst/>
          </a:prstGeom>
          <a:noFill/>
        </p:spPr>
        <p:txBody>
          <a:bodyPr wrap="square" anchor="t">
            <a:spAutoFit/>
          </a:bodyPr>
          <a:lstStyle/>
          <a:p>
            <a:pPr algn="ctr">
              <a:defRPr sz="1200" b="1">
                <a:solidFill>
                  <a:srgbClr val="17181C"/>
                </a:solidFill>
                <a:latin typeface="Aptos"/>
              </a:defRPr>
            </a:pPr>
            <a:r>
              <a:t>×</a:t>
            </a:r>
          </a:p>
        </p:txBody>
      </p:sp>
      <p:sp>
        <p:nvSpPr>
          <p:cNvPr id="18" name="TextBox 17"/>
          <p:cNvSpPr txBox="1"/>
          <p:nvPr/>
        </p:nvSpPr>
        <p:spPr>
          <a:xfrm>
            <a:off x="1280160" y="3968496"/>
            <a:ext cx="3474720" cy="347472"/>
          </a:xfrm>
          <a:prstGeom prst="rect">
            <a:avLst/>
          </a:prstGeom>
          <a:noFill/>
        </p:spPr>
        <p:txBody>
          <a:bodyPr wrap="square" anchor="t">
            <a:spAutoFit/>
          </a:bodyPr>
          <a:lstStyle/>
          <a:p>
            <a:pPr algn="l">
              <a:defRPr sz="1600" b="0">
                <a:solidFill>
                  <a:srgbClr val="BEBEBE"/>
                </a:solidFill>
                <a:latin typeface="Aptos"/>
              </a:defRPr>
            </a:pPr>
            <a:r>
              <a:t>INSERT audit</a:t>
            </a:r>
          </a:p>
        </p:txBody>
      </p:sp>
      <p:sp>
        <p:nvSpPr>
          <p:cNvPr id="19" name="Rounded Rectangle 18"/>
          <p:cNvSpPr/>
          <p:nvPr/>
        </p:nvSpPr>
        <p:spPr>
          <a:xfrm>
            <a:off x="777240" y="4617720"/>
            <a:ext cx="329184" cy="329184"/>
          </a:xfrm>
          <a:prstGeom prst="roundRect">
            <a:avLst/>
          </a:prstGeom>
          <a:solidFill>
            <a:srgbClr val="FF6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20" name="TextBox 19"/>
          <p:cNvSpPr txBox="1"/>
          <p:nvPr/>
        </p:nvSpPr>
        <p:spPr>
          <a:xfrm>
            <a:off x="777240" y="4658868"/>
            <a:ext cx="329184" cy="182880"/>
          </a:xfrm>
          <a:prstGeom prst="rect">
            <a:avLst/>
          </a:prstGeom>
          <a:noFill/>
        </p:spPr>
        <p:txBody>
          <a:bodyPr wrap="square" anchor="t">
            <a:spAutoFit/>
          </a:bodyPr>
          <a:lstStyle/>
          <a:p>
            <a:pPr algn="ctr">
              <a:defRPr sz="1200" b="1">
                <a:solidFill>
                  <a:srgbClr val="17181C"/>
                </a:solidFill>
                <a:latin typeface="Aptos"/>
              </a:defRPr>
            </a:pPr>
            <a:r>
              <a:t>×</a:t>
            </a:r>
          </a:p>
        </p:txBody>
      </p:sp>
      <p:sp>
        <p:nvSpPr>
          <p:cNvPr id="21" name="TextBox 20"/>
          <p:cNvSpPr txBox="1"/>
          <p:nvPr/>
        </p:nvSpPr>
        <p:spPr>
          <a:xfrm>
            <a:off x="1280160" y="4608576"/>
            <a:ext cx="3474720" cy="347472"/>
          </a:xfrm>
          <a:prstGeom prst="rect">
            <a:avLst/>
          </a:prstGeom>
          <a:noFill/>
        </p:spPr>
        <p:txBody>
          <a:bodyPr wrap="square" anchor="t">
            <a:spAutoFit/>
          </a:bodyPr>
          <a:lstStyle/>
          <a:p>
            <a:pPr algn="l">
              <a:defRPr sz="1600" b="0">
                <a:solidFill>
                  <a:srgbClr val="BEBEBE"/>
                </a:solidFill>
                <a:latin typeface="Aptos"/>
              </a:defRPr>
            </a:pPr>
            <a:r>
              <a:t>audit cleanup</a:t>
            </a:r>
          </a:p>
        </p:txBody>
      </p:sp>
      <p:sp>
        <p:nvSpPr>
          <p:cNvPr id="22" name="TextBox 21"/>
          <p:cNvSpPr txBox="1"/>
          <p:nvPr/>
        </p:nvSpPr>
        <p:spPr>
          <a:xfrm>
            <a:off x="6400800" y="1874519"/>
            <a:ext cx="3291840" cy="777240"/>
          </a:xfrm>
          <a:prstGeom prst="rect">
            <a:avLst/>
          </a:prstGeom>
          <a:noFill/>
        </p:spPr>
        <p:txBody>
          <a:bodyPr wrap="square" anchor="t">
            <a:spAutoFit/>
          </a:bodyPr>
          <a:lstStyle/>
          <a:p>
            <a:pPr algn="ctr">
              <a:defRPr sz="4400" b="1">
                <a:solidFill>
                  <a:srgbClr val="F2F2F2"/>
                </a:solidFill>
                <a:latin typeface="Aptos Display"/>
              </a:defRPr>
            </a:pPr>
            <a:r>
              <a:rPr dirty="0"/>
              <a:t>4</a:t>
            </a:r>
            <a:r>
              <a:rPr lang="en-US" dirty="0"/>
              <a:t>5</a:t>
            </a:r>
            <a:r>
              <a:rPr dirty="0"/>
              <a:t>,</a:t>
            </a:r>
            <a:r>
              <a:rPr lang="en-US" dirty="0"/>
              <a:t>145</a:t>
            </a:r>
            <a:endParaRPr dirty="0"/>
          </a:p>
        </p:txBody>
      </p:sp>
      <p:sp>
        <p:nvSpPr>
          <p:cNvPr id="23" name="TextBox 22"/>
          <p:cNvSpPr txBox="1"/>
          <p:nvPr/>
        </p:nvSpPr>
        <p:spPr>
          <a:xfrm>
            <a:off x="6400800" y="2587752"/>
            <a:ext cx="3291840" cy="347472"/>
          </a:xfrm>
          <a:prstGeom prst="rect">
            <a:avLst/>
          </a:prstGeom>
          <a:noFill/>
        </p:spPr>
        <p:txBody>
          <a:bodyPr wrap="square" anchor="t">
            <a:spAutoFit/>
          </a:bodyPr>
          <a:lstStyle/>
          <a:p>
            <a:pPr algn="ctr">
              <a:defRPr sz="1200" b="1">
                <a:solidFill>
                  <a:srgbClr val="FF655C"/>
                </a:solidFill>
                <a:latin typeface="Aptos"/>
              </a:defRPr>
            </a:pPr>
            <a:r>
              <a:t>TPS</a:t>
            </a:r>
          </a:p>
        </p:txBody>
      </p:sp>
      <p:sp>
        <p:nvSpPr>
          <p:cNvPr id="24" name="Rounded Rectangle 23"/>
          <p:cNvSpPr/>
          <p:nvPr/>
        </p:nvSpPr>
        <p:spPr>
          <a:xfrm>
            <a:off x="6858000" y="3337560"/>
            <a:ext cx="2468880" cy="329184"/>
          </a:xfrm>
          <a:prstGeom prst="roundRect">
            <a:avLst/>
          </a:prstGeom>
          <a:solidFill>
            <a:srgbClr val="FF6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25" name="TextBox 24"/>
          <p:cNvSpPr txBox="1"/>
          <p:nvPr/>
        </p:nvSpPr>
        <p:spPr>
          <a:xfrm>
            <a:off x="6967728" y="3392424"/>
            <a:ext cx="2249424" cy="246221"/>
          </a:xfrm>
          <a:prstGeom prst="rect">
            <a:avLst/>
          </a:prstGeom>
          <a:noFill/>
        </p:spPr>
        <p:txBody>
          <a:bodyPr wrap="square" anchor="t">
            <a:spAutoFit/>
          </a:bodyPr>
          <a:lstStyle/>
          <a:p>
            <a:pPr algn="l">
              <a:defRPr sz="1000" b="1">
                <a:solidFill>
                  <a:srgbClr val="17181C"/>
                </a:solidFill>
                <a:latin typeface="Aptos"/>
              </a:defRPr>
            </a:pPr>
            <a:r>
              <a:rPr dirty="0"/>
              <a:t>1.9</a:t>
            </a:r>
            <a:r>
              <a:rPr lang="en-US" dirty="0"/>
              <a:t>9</a:t>
            </a:r>
            <a:r>
              <a:rPr dirty="0"/>
              <a:t>× VS INDEXED</a:t>
            </a:r>
          </a:p>
        </p:txBody>
      </p:sp>
      <p:sp>
        <p:nvSpPr>
          <p:cNvPr id="26" name="TextBox 25"/>
          <p:cNvSpPr txBox="1"/>
          <p:nvPr/>
        </p:nvSpPr>
        <p:spPr>
          <a:xfrm>
            <a:off x="6217920" y="4069080"/>
            <a:ext cx="3749039" cy="457200"/>
          </a:xfrm>
          <a:prstGeom prst="rect">
            <a:avLst/>
          </a:prstGeom>
          <a:noFill/>
        </p:spPr>
        <p:txBody>
          <a:bodyPr wrap="square" anchor="t">
            <a:spAutoFit/>
          </a:bodyPr>
          <a:lstStyle/>
          <a:p>
            <a:pPr algn="ctr">
              <a:defRPr sz="2200" b="1">
                <a:solidFill>
                  <a:srgbClr val="F2F2F2"/>
                </a:solidFill>
                <a:latin typeface="Aptos"/>
              </a:defRPr>
            </a:pPr>
            <a:r>
              <a:t>Doing less work is faster.</a:t>
            </a:r>
          </a:p>
        </p:txBody>
      </p:sp>
      <p:sp>
        <p:nvSpPr>
          <p:cNvPr id="27" name="TextBox 26"/>
          <p:cNvSpPr txBox="1"/>
          <p:nvPr/>
        </p:nvSpPr>
        <p:spPr>
          <a:xfrm>
            <a:off x="502920" y="6510528"/>
            <a:ext cx="2377440" cy="164592"/>
          </a:xfrm>
          <a:prstGeom prst="rect">
            <a:avLst/>
          </a:prstGeom>
          <a:noFill/>
        </p:spPr>
        <p:txBody>
          <a:bodyPr wrap="square" anchor="t">
            <a:spAutoFit/>
          </a:bodyPr>
          <a:lstStyle/>
          <a:p>
            <a:pPr algn="l">
              <a:defRPr sz="750" b="1">
                <a:solidFill>
                  <a:srgbClr val="BEBEBE"/>
                </a:solidFill>
                <a:latin typeface="Aptos"/>
              </a:defRPr>
            </a:pPr>
            <a:r>
              <a:t>MY DISHONEST BENCHMARK</a:t>
            </a:r>
          </a:p>
        </p:txBody>
      </p:sp>
      <p:sp>
        <p:nvSpPr>
          <p:cNvPr id="28" name="TextBox 27"/>
          <p:cNvSpPr txBox="1"/>
          <p:nvPr/>
        </p:nvSpPr>
        <p:spPr>
          <a:xfrm>
            <a:off x="11155680" y="6473952"/>
            <a:ext cx="502920" cy="182880"/>
          </a:xfrm>
          <a:prstGeom prst="rect">
            <a:avLst/>
          </a:prstGeom>
          <a:noFill/>
        </p:spPr>
        <p:txBody>
          <a:bodyPr wrap="square" anchor="t">
            <a:spAutoFit/>
          </a:bodyPr>
          <a:lstStyle/>
          <a:p>
            <a:pPr algn="r">
              <a:defRPr sz="800" b="1">
                <a:solidFill>
                  <a:srgbClr val="BEBEBE"/>
                </a:solidFill>
                <a:latin typeface="Aptos"/>
              </a:defRPr>
            </a:pPr>
            <a:r>
              <a:t>23</a:t>
            </a:r>
          </a:p>
        </p:txBody>
      </p:sp>
    </p:spTree>
    <p:extLst>
      <p:ext uri="{BB962C8B-B14F-4D97-AF65-F5344CB8AC3E}">
        <p14:creationId xmlns:p14="http://schemas.microsoft.com/office/powerpoint/2010/main" val="8870369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 name="TextBox 1"/>
          <p:cNvSpPr txBox="1"/>
          <p:nvPr/>
        </p:nvSpPr>
        <p:spPr>
          <a:xfrm>
            <a:off x="594359" y="130828"/>
            <a:ext cx="6580163" cy="584775"/>
          </a:xfrm>
          <a:prstGeom prst="rect">
            <a:avLst/>
          </a:prstGeom>
          <a:noFill/>
        </p:spPr>
        <p:txBody>
          <a:bodyPr wrap="square" anchor="t">
            <a:spAutoFit/>
          </a:bodyPr>
          <a:lstStyle/>
          <a:p>
            <a:pPr algn="l">
              <a:defRPr sz="1000" b="1">
                <a:solidFill>
                  <a:srgbClr val="FF655C"/>
                </a:solidFill>
                <a:latin typeface="Aptos"/>
              </a:defRPr>
            </a:pPr>
            <a:r>
              <a:rPr sz="3200" dirty="0">
                <a:solidFill>
                  <a:srgbClr val="F2F2F2"/>
                </a:solidFill>
              </a:rPr>
              <a:t>SERVER-SIDE + PREPARED</a:t>
            </a:r>
          </a:p>
        </p:txBody>
      </p:sp>
      <p:sp>
        <p:nvSpPr>
          <p:cNvPr id="3" name="TextBox 2"/>
          <p:cNvSpPr txBox="1"/>
          <p:nvPr/>
        </p:nvSpPr>
        <p:spPr>
          <a:xfrm>
            <a:off x="594360" y="694944"/>
            <a:ext cx="10515600" cy="538609"/>
          </a:xfrm>
          <a:prstGeom prst="rect">
            <a:avLst/>
          </a:prstGeom>
          <a:noFill/>
        </p:spPr>
        <p:txBody>
          <a:bodyPr wrap="square" anchor="t">
            <a:spAutoFit/>
          </a:bodyPr>
          <a:lstStyle/>
          <a:p>
            <a:pPr algn="l">
              <a:defRPr sz="2900" b="1">
                <a:solidFill>
                  <a:srgbClr val="F2F2F2"/>
                </a:solidFill>
                <a:latin typeface="Aptos Display"/>
              </a:defRPr>
            </a:pPr>
            <a:r>
              <a:rPr lang="en-US" dirty="0">
                <a:solidFill>
                  <a:srgbClr val="F2F2F2"/>
                </a:solidFill>
              </a:rPr>
              <a:t>C</a:t>
            </a:r>
            <a:r>
              <a:rPr dirty="0">
                <a:solidFill>
                  <a:srgbClr val="F2F2F2"/>
                </a:solidFill>
              </a:rPr>
              <a:t>hange the execution shape</a:t>
            </a:r>
          </a:p>
        </p:txBody>
      </p:sp>
      <p:sp>
        <p:nvSpPr>
          <p:cNvPr id="4" name="TextBox 3"/>
          <p:cNvSpPr txBox="1"/>
          <p:nvPr/>
        </p:nvSpPr>
        <p:spPr>
          <a:xfrm>
            <a:off x="685800" y="1612900"/>
            <a:ext cx="3492500" cy="546100"/>
          </a:xfrm>
          <a:prstGeom prst="rect">
            <a:avLst/>
          </a:prstGeom>
          <a:noFill/>
        </p:spPr>
        <p:txBody>
          <a:bodyPr wrap="none" tIns="0" bIns="0" anchor="ctr">
            <a:noAutofit/>
          </a:bodyPr>
          <a:lstStyle/>
          <a:p>
            <a:pPr algn="l">
              <a:defRPr sz="1800" b="0">
                <a:solidFill>
                  <a:srgbClr val="F2F2F2"/>
                </a:solidFill>
                <a:latin typeface="Aptos"/>
              </a:defRPr>
            </a:pPr>
            <a:r>
              <a:rPr lang="en-US" sz="1800" b="0" dirty="0">
                <a:solidFill>
                  <a:srgbClr val="F2F2F2"/>
                </a:solidFill>
                <a:latin typeface="Aptos"/>
              </a:rPr>
              <a:t>Indexed baseline</a:t>
            </a:r>
          </a:p>
        </p:txBody>
      </p:sp>
      <p:sp>
        <p:nvSpPr>
          <p:cNvPr id="5" name="Rounded Rectangle 4"/>
          <p:cNvSpPr/>
          <p:nvPr/>
        </p:nvSpPr>
        <p:spPr>
          <a:xfrm>
            <a:off x="4292193" y="1618488"/>
            <a:ext cx="6406286" cy="548640"/>
          </a:xfrm>
          <a:prstGeom prst="roundRect">
            <a:avLst/>
          </a:prstGeom>
          <a:solidFill>
            <a:srgbClr val="222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6" name="Rounded Rectangle 5"/>
          <p:cNvSpPr/>
          <p:nvPr/>
        </p:nvSpPr>
        <p:spPr>
          <a:xfrm>
            <a:off x="4292193" y="1612900"/>
            <a:ext cx="1638300" cy="546100"/>
          </a:xfrm>
          <a:prstGeom prst="roundRect">
            <a:avLst/>
          </a:prstGeom>
          <a:solidFill>
            <a:srgbClr val="00C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820400" y="1612900"/>
            <a:ext cx="1066800" cy="546100"/>
          </a:xfrm>
          <a:prstGeom prst="rect">
            <a:avLst/>
          </a:prstGeom>
          <a:noFill/>
        </p:spPr>
        <p:txBody>
          <a:bodyPr wrap="none" tIns="0" bIns="0" anchor="ctr">
            <a:noAutofit/>
          </a:bodyPr>
          <a:lstStyle/>
          <a:p>
            <a:pPr algn="l">
              <a:defRPr sz="2000" b="1">
                <a:solidFill>
                  <a:srgbClr val="F2F2F2"/>
                </a:solidFill>
                <a:latin typeface="Aptos"/>
              </a:defRPr>
            </a:pPr>
            <a:r>
              <a:rPr lang="en-US" sz="2000" b="1" dirty="0">
                <a:solidFill>
                  <a:srgbClr val="F2F2F2"/>
                </a:solidFill>
                <a:latin typeface="Aptos"/>
              </a:rPr>
              <a:t>22,705</a:t>
            </a:r>
          </a:p>
        </p:txBody>
      </p:sp>
      <p:sp>
        <p:nvSpPr>
          <p:cNvPr id="8" name="TextBox 7"/>
          <p:cNvSpPr txBox="1"/>
          <p:nvPr/>
        </p:nvSpPr>
        <p:spPr>
          <a:xfrm>
            <a:off x="685800" y="2400300"/>
            <a:ext cx="3492500" cy="546100"/>
          </a:xfrm>
          <a:prstGeom prst="rect">
            <a:avLst/>
          </a:prstGeom>
          <a:noFill/>
        </p:spPr>
        <p:txBody>
          <a:bodyPr wrap="none" tIns="0" bIns="0" anchor="ctr">
            <a:noAutofit/>
          </a:bodyPr>
          <a:lstStyle/>
          <a:p>
            <a:pPr algn="l">
              <a:defRPr sz="1800" b="0">
                <a:solidFill>
                  <a:srgbClr val="F2F2F2"/>
                </a:solidFill>
                <a:latin typeface="Aptos"/>
              </a:defRPr>
            </a:pPr>
            <a:r>
              <a:rPr lang="en-US" sz="1800" b="0" dirty="0">
                <a:solidFill>
                  <a:srgbClr val="F2F2F2"/>
                </a:solidFill>
                <a:latin typeface="Aptos"/>
              </a:rPr>
              <a:t>Stored procedure</a:t>
            </a:r>
          </a:p>
        </p:txBody>
      </p:sp>
      <p:sp>
        <p:nvSpPr>
          <p:cNvPr id="9" name="Rounded Rectangle 8"/>
          <p:cNvSpPr/>
          <p:nvPr/>
        </p:nvSpPr>
        <p:spPr>
          <a:xfrm>
            <a:off x="4292193" y="2404872"/>
            <a:ext cx="6406286" cy="548640"/>
          </a:xfrm>
          <a:prstGeom prst="roundRect">
            <a:avLst/>
          </a:prstGeom>
          <a:solidFill>
            <a:srgbClr val="222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10" name="Rounded Rectangle 9"/>
          <p:cNvSpPr/>
          <p:nvPr/>
        </p:nvSpPr>
        <p:spPr>
          <a:xfrm>
            <a:off x="4292193" y="2400300"/>
            <a:ext cx="5359400" cy="546100"/>
          </a:xfrm>
          <a:prstGeom prst="roundRect">
            <a:avLst/>
          </a:prstGeom>
          <a:solidFill>
            <a:srgbClr val="00C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820400" y="2400300"/>
            <a:ext cx="1066800" cy="546100"/>
          </a:xfrm>
          <a:prstGeom prst="rect">
            <a:avLst/>
          </a:prstGeom>
          <a:noFill/>
        </p:spPr>
        <p:txBody>
          <a:bodyPr wrap="none" tIns="0" bIns="0" anchor="ctr">
            <a:noAutofit/>
          </a:bodyPr>
          <a:lstStyle/>
          <a:p>
            <a:pPr algn="l">
              <a:defRPr sz="2000" b="1">
                <a:solidFill>
                  <a:srgbClr val="F2F2F2"/>
                </a:solidFill>
                <a:latin typeface="Aptos"/>
              </a:defRPr>
            </a:pPr>
            <a:r>
              <a:rPr lang="en-US" sz="2000" b="1" dirty="0">
                <a:solidFill>
                  <a:srgbClr val="F2F2F2"/>
                </a:solidFill>
                <a:latin typeface="Aptos"/>
              </a:rPr>
              <a:t>74,473</a:t>
            </a:r>
          </a:p>
        </p:txBody>
      </p:sp>
      <p:sp>
        <p:nvSpPr>
          <p:cNvPr id="12" name="TextBox 11"/>
          <p:cNvSpPr txBox="1"/>
          <p:nvPr/>
        </p:nvSpPr>
        <p:spPr>
          <a:xfrm>
            <a:off x="685800" y="3187700"/>
            <a:ext cx="3492500" cy="546100"/>
          </a:xfrm>
          <a:prstGeom prst="rect">
            <a:avLst/>
          </a:prstGeom>
          <a:noFill/>
        </p:spPr>
        <p:txBody>
          <a:bodyPr wrap="none" tIns="0" bIns="0" anchor="ctr">
            <a:noAutofit/>
          </a:bodyPr>
          <a:lstStyle/>
          <a:p>
            <a:pPr algn="l">
              <a:defRPr sz="1800" b="0">
                <a:solidFill>
                  <a:srgbClr val="F2F2F2"/>
                </a:solidFill>
                <a:latin typeface="Aptos"/>
              </a:defRPr>
            </a:pPr>
            <a:r>
              <a:rPr lang="en-US" sz="1800" b="0" dirty="0">
                <a:solidFill>
                  <a:srgbClr val="F2F2F2"/>
                </a:solidFill>
                <a:latin typeface="Aptos"/>
              </a:rPr>
              <a:t>SQL function</a:t>
            </a:r>
          </a:p>
        </p:txBody>
      </p:sp>
      <p:sp>
        <p:nvSpPr>
          <p:cNvPr id="13" name="Rounded Rectangle 12"/>
          <p:cNvSpPr/>
          <p:nvPr/>
        </p:nvSpPr>
        <p:spPr>
          <a:xfrm>
            <a:off x="4292193" y="3191256"/>
            <a:ext cx="6406286" cy="548640"/>
          </a:xfrm>
          <a:prstGeom prst="roundRect">
            <a:avLst/>
          </a:prstGeom>
          <a:solidFill>
            <a:srgbClr val="222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14" name="Rounded Rectangle 13"/>
          <p:cNvSpPr/>
          <p:nvPr/>
        </p:nvSpPr>
        <p:spPr>
          <a:xfrm>
            <a:off x="4292193" y="3187700"/>
            <a:ext cx="5219700" cy="546100"/>
          </a:xfrm>
          <a:prstGeom prst="roundRect">
            <a:avLst/>
          </a:prstGeom>
          <a:solidFill>
            <a:srgbClr val="00C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820400" y="3187700"/>
            <a:ext cx="1066800" cy="546100"/>
          </a:xfrm>
          <a:prstGeom prst="rect">
            <a:avLst/>
          </a:prstGeom>
          <a:noFill/>
        </p:spPr>
        <p:txBody>
          <a:bodyPr wrap="none" tIns="0" bIns="0" anchor="ctr">
            <a:noAutofit/>
          </a:bodyPr>
          <a:lstStyle/>
          <a:p>
            <a:pPr algn="l">
              <a:defRPr sz="2000" b="1">
                <a:solidFill>
                  <a:srgbClr val="F2F2F2"/>
                </a:solidFill>
                <a:latin typeface="Aptos"/>
              </a:defRPr>
            </a:pPr>
            <a:r>
              <a:rPr lang="en-US" sz="2000" b="1" dirty="0">
                <a:solidFill>
                  <a:srgbClr val="F2F2F2"/>
                </a:solidFill>
                <a:latin typeface="Aptos"/>
              </a:rPr>
              <a:t>72,473</a:t>
            </a:r>
          </a:p>
        </p:txBody>
      </p:sp>
      <p:sp>
        <p:nvSpPr>
          <p:cNvPr id="16" name="TextBox 15"/>
          <p:cNvSpPr txBox="1"/>
          <p:nvPr/>
        </p:nvSpPr>
        <p:spPr>
          <a:xfrm>
            <a:off x="685800" y="3975100"/>
            <a:ext cx="3492500" cy="546100"/>
          </a:xfrm>
          <a:prstGeom prst="rect">
            <a:avLst/>
          </a:prstGeom>
          <a:noFill/>
        </p:spPr>
        <p:txBody>
          <a:bodyPr wrap="none" tIns="0" bIns="0" anchor="ctr">
            <a:noAutofit/>
          </a:bodyPr>
          <a:lstStyle/>
          <a:p>
            <a:pPr algn="l">
              <a:defRPr sz="1800" b="0">
                <a:solidFill>
                  <a:srgbClr val="F2F2F2"/>
                </a:solidFill>
                <a:latin typeface="Aptos"/>
              </a:defRPr>
            </a:pPr>
            <a:r>
              <a:rPr lang="en-US" sz="1800" b="0" dirty="0">
                <a:solidFill>
                  <a:srgbClr val="F2F2F2"/>
                </a:solidFill>
                <a:latin typeface="Aptos"/>
              </a:rPr>
              <a:t>Prepared protocol</a:t>
            </a:r>
          </a:p>
        </p:txBody>
      </p:sp>
      <p:sp>
        <p:nvSpPr>
          <p:cNvPr id="17" name="Rounded Rectangle 16"/>
          <p:cNvSpPr/>
          <p:nvPr/>
        </p:nvSpPr>
        <p:spPr>
          <a:xfrm>
            <a:off x="4292193" y="3977640"/>
            <a:ext cx="6406286" cy="548640"/>
          </a:xfrm>
          <a:prstGeom prst="roundRect">
            <a:avLst/>
          </a:prstGeom>
          <a:solidFill>
            <a:srgbClr val="222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18" name="Rounded Rectangle 17"/>
          <p:cNvSpPr/>
          <p:nvPr/>
        </p:nvSpPr>
        <p:spPr>
          <a:xfrm>
            <a:off x="4292193" y="3975100"/>
            <a:ext cx="2501900" cy="546100"/>
          </a:xfrm>
          <a:prstGeom prst="roundRect">
            <a:avLst/>
          </a:prstGeom>
          <a:solidFill>
            <a:srgbClr val="00C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20400" y="3975100"/>
            <a:ext cx="1066800" cy="546100"/>
          </a:xfrm>
          <a:prstGeom prst="rect">
            <a:avLst/>
          </a:prstGeom>
          <a:noFill/>
        </p:spPr>
        <p:txBody>
          <a:bodyPr wrap="none" tIns="0" bIns="0" anchor="ctr">
            <a:noAutofit/>
          </a:bodyPr>
          <a:lstStyle/>
          <a:p>
            <a:pPr algn="l">
              <a:defRPr sz="2000" b="1">
                <a:solidFill>
                  <a:srgbClr val="F2F2F2"/>
                </a:solidFill>
                <a:latin typeface="Aptos"/>
              </a:defRPr>
            </a:pPr>
            <a:r>
              <a:rPr lang="en-US" sz="2000" b="1" dirty="0">
                <a:solidFill>
                  <a:srgbClr val="F2F2F2"/>
                </a:solidFill>
                <a:latin typeface="Aptos"/>
              </a:rPr>
              <a:t>34,684</a:t>
            </a:r>
          </a:p>
        </p:txBody>
      </p:sp>
      <p:sp>
        <p:nvSpPr>
          <p:cNvPr id="20" name="TextBox 19"/>
          <p:cNvSpPr txBox="1"/>
          <p:nvPr/>
        </p:nvSpPr>
        <p:spPr>
          <a:xfrm>
            <a:off x="685800" y="4762500"/>
            <a:ext cx="3492500" cy="546100"/>
          </a:xfrm>
          <a:prstGeom prst="rect">
            <a:avLst/>
          </a:prstGeom>
          <a:noFill/>
        </p:spPr>
        <p:txBody>
          <a:bodyPr wrap="none" tIns="0" bIns="0" anchor="ctr">
            <a:noAutofit/>
          </a:bodyPr>
          <a:lstStyle/>
          <a:p>
            <a:pPr algn="l">
              <a:defRPr sz="1800" b="1">
                <a:solidFill>
                  <a:srgbClr val="F2F2F2"/>
                </a:solidFill>
                <a:latin typeface="Aptos"/>
              </a:defRPr>
            </a:pPr>
            <a:r>
              <a:rPr lang="en-US" sz="1800" b="1" dirty="0">
                <a:solidFill>
                  <a:srgbClr val="F2F2F2"/>
                </a:solidFill>
                <a:latin typeface="Aptos"/>
              </a:rPr>
              <a:t>SQL function + prepared</a:t>
            </a:r>
          </a:p>
        </p:txBody>
      </p:sp>
      <p:sp>
        <p:nvSpPr>
          <p:cNvPr id="21" name="Rounded Rectangle 20"/>
          <p:cNvSpPr/>
          <p:nvPr/>
        </p:nvSpPr>
        <p:spPr>
          <a:xfrm>
            <a:off x="4292193" y="4764024"/>
            <a:ext cx="6406286" cy="548640"/>
          </a:xfrm>
          <a:prstGeom prst="roundRect">
            <a:avLst/>
          </a:prstGeom>
          <a:solidFill>
            <a:srgbClr val="222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22" name="Rounded Rectangle 21"/>
          <p:cNvSpPr/>
          <p:nvPr/>
        </p:nvSpPr>
        <p:spPr>
          <a:xfrm>
            <a:off x="4292193" y="4762500"/>
            <a:ext cx="6400800" cy="546100"/>
          </a:xfrm>
          <a:prstGeom prst="roundRect">
            <a:avLst/>
          </a:prstGeom>
          <a:solidFill>
            <a:srgbClr val="FF6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820400" y="4762500"/>
            <a:ext cx="1066800" cy="546100"/>
          </a:xfrm>
          <a:prstGeom prst="rect">
            <a:avLst/>
          </a:prstGeom>
          <a:noFill/>
        </p:spPr>
        <p:txBody>
          <a:bodyPr wrap="none" tIns="0" bIns="0" anchor="ctr">
            <a:noAutofit/>
          </a:bodyPr>
          <a:lstStyle/>
          <a:p>
            <a:pPr algn="l">
              <a:defRPr sz="2000" b="1">
                <a:solidFill>
                  <a:srgbClr val="F2F2F2"/>
                </a:solidFill>
                <a:latin typeface="Aptos"/>
              </a:defRPr>
            </a:pPr>
            <a:r>
              <a:rPr lang="en-US" sz="2000" b="1" dirty="0">
                <a:solidFill>
                  <a:srgbClr val="F2F2F2"/>
                </a:solidFill>
                <a:latin typeface="Aptos"/>
              </a:rPr>
              <a:t>80,178</a:t>
            </a:r>
          </a:p>
        </p:txBody>
      </p:sp>
      <p:sp>
        <p:nvSpPr>
          <p:cNvPr id="24" name="TextBox 23"/>
          <p:cNvSpPr txBox="1"/>
          <p:nvPr/>
        </p:nvSpPr>
        <p:spPr>
          <a:xfrm>
            <a:off x="502920" y="6510528"/>
            <a:ext cx="2377440" cy="164592"/>
          </a:xfrm>
          <a:prstGeom prst="rect">
            <a:avLst/>
          </a:prstGeom>
          <a:noFill/>
        </p:spPr>
        <p:txBody>
          <a:bodyPr wrap="square" anchor="t">
            <a:spAutoFit/>
          </a:bodyPr>
          <a:lstStyle/>
          <a:p>
            <a:pPr algn="l">
              <a:defRPr sz="750" b="1">
                <a:solidFill>
                  <a:srgbClr val="BEBEBE"/>
                </a:solidFill>
                <a:latin typeface="Aptos"/>
              </a:defRPr>
            </a:pPr>
            <a:r>
              <a:t>MY DISHONEST BENCHMARK</a:t>
            </a:r>
          </a:p>
        </p:txBody>
      </p:sp>
      <p:sp>
        <p:nvSpPr>
          <p:cNvPr id="25" name="TextBox 24"/>
          <p:cNvSpPr txBox="1"/>
          <p:nvPr/>
        </p:nvSpPr>
        <p:spPr>
          <a:xfrm>
            <a:off x="11155680" y="6473952"/>
            <a:ext cx="502920" cy="182880"/>
          </a:xfrm>
          <a:prstGeom prst="rect">
            <a:avLst/>
          </a:prstGeom>
          <a:noFill/>
        </p:spPr>
        <p:txBody>
          <a:bodyPr wrap="square" anchor="t">
            <a:spAutoFit/>
          </a:bodyPr>
          <a:lstStyle/>
          <a:p>
            <a:pPr algn="r">
              <a:defRPr sz="800" b="1">
                <a:solidFill>
                  <a:srgbClr val="BEBEBE"/>
                </a:solidFill>
                <a:latin typeface="Aptos"/>
              </a:defRPr>
            </a:pPr>
            <a:r>
              <a:t>25</a:t>
            </a:r>
          </a:p>
        </p:txBody>
      </p:sp>
    </p:spTree>
    <p:extLst>
      <p:ext uri="{BB962C8B-B14F-4D97-AF65-F5344CB8AC3E}">
        <p14:creationId xmlns:p14="http://schemas.microsoft.com/office/powerpoint/2010/main" val="31833341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934005-2653-3F47-8531-EB4634947575}"/>
              </a:ext>
            </a:extLst>
          </p:cNvPr>
          <p:cNvPicPr>
            <a:picLocks noChangeAspect="1"/>
          </p:cNvPicPr>
          <p:nvPr/>
        </p:nvPicPr>
        <p:blipFill>
          <a:blip r:embed="rId2"/>
          <a:stretch>
            <a:fillRect/>
          </a:stretch>
        </p:blipFill>
        <p:spPr>
          <a:xfrm>
            <a:off x="596900" y="2235200"/>
            <a:ext cx="5346700" cy="3009900"/>
          </a:xfrm>
          <a:prstGeom prst="roundRect">
            <a:avLst>
              <a:gd name="adj" fmla="val 3000"/>
            </a:avLst>
          </a:prstGeom>
          <a:ln w="9525">
            <a:solidFill>
              <a:srgbClr val="3A3B42"/>
            </a:solidFill>
          </a:ln>
        </p:spPr>
      </p:pic>
      <p:pic>
        <p:nvPicPr>
          <p:cNvPr id="5" name="Picture 4">
            <a:extLst>
              <a:ext uri="{FF2B5EF4-FFF2-40B4-BE49-F238E27FC236}">
                <a16:creationId xmlns:a16="http://schemas.microsoft.com/office/drawing/2014/main" id="{DF3C6E72-A9BA-BE9A-39E1-32E047F464D3}"/>
              </a:ext>
            </a:extLst>
          </p:cNvPr>
          <p:cNvPicPr>
            <a:picLocks noChangeAspect="1"/>
          </p:cNvPicPr>
          <p:nvPr/>
        </p:nvPicPr>
        <p:blipFill>
          <a:blip r:embed="rId3"/>
          <a:stretch>
            <a:fillRect/>
          </a:stretch>
        </p:blipFill>
        <p:spPr>
          <a:xfrm>
            <a:off x="6248400" y="2235200"/>
            <a:ext cx="5346700" cy="3009900"/>
          </a:xfrm>
          <a:prstGeom prst="roundRect">
            <a:avLst>
              <a:gd name="adj" fmla="val 3000"/>
            </a:avLst>
          </a:prstGeom>
          <a:ln w="9525">
            <a:solidFill>
              <a:srgbClr val="3A3B42"/>
            </a:solidFill>
          </a:ln>
        </p:spPr>
      </p:pic>
      <p:sp>
        <p:nvSpPr>
          <p:cNvPr id="20" name="Title"/>
          <p:cNvSpPr txBox="1"/>
          <p:nvPr/>
        </p:nvSpPr>
        <p:spPr>
          <a:xfrm>
            <a:off x="596900" y="127000"/>
            <a:ext cx="8890000" cy="584200"/>
          </a:xfrm>
          <a:prstGeom prst="rect">
            <a:avLst/>
          </a:prstGeom>
          <a:noFill/>
        </p:spPr>
        <p:txBody>
          <a:bodyPr wrap="square" anchor="t">
            <a:spAutoFit/>
          </a:bodyPr>
          <a:lstStyle/>
          <a:p>
            <a:pPr algn="l"/>
            <a:r>
              <a:rPr lang="en-US" sz="3200" b="1" dirty="0">
                <a:solidFill>
                  <a:srgbClr val="F2F2F2"/>
                </a:solidFill>
                <a:latin typeface="Aptos"/>
              </a:rPr>
              <a:t>SERVER-SIDE FUNCTIONS</a:t>
            </a:r>
          </a:p>
        </p:txBody>
      </p:sp>
      <p:sp>
        <p:nvSpPr>
          <p:cNvPr id="21" name="Subtitle"/>
          <p:cNvSpPr txBox="1"/>
          <p:nvPr/>
        </p:nvSpPr>
        <p:spPr>
          <a:xfrm>
            <a:off x="596900" y="698500"/>
            <a:ext cx="10998200" cy="533400"/>
          </a:xfrm>
          <a:prstGeom prst="rect">
            <a:avLst/>
          </a:prstGeom>
          <a:noFill/>
        </p:spPr>
        <p:txBody>
          <a:bodyPr wrap="square" anchor="t">
            <a:spAutoFit/>
          </a:bodyPr>
          <a:lstStyle/>
          <a:p>
            <a:pPr algn="l"/>
            <a:r>
              <a:rPr lang="en-US" sz="2900" b="1" dirty="0">
                <a:solidFill>
                  <a:srgbClr val="F2F2F2"/>
                </a:solidFill>
                <a:latin typeface="Aptos Display"/>
              </a:rPr>
              <a:t>Six round trips become one call</a:t>
            </a:r>
          </a:p>
        </p:txBody>
      </p:sp>
      <p:sp>
        <p:nvSpPr>
          <p:cNvPr id="22" name="Caption 22"/>
          <p:cNvSpPr txBox="1"/>
          <p:nvPr/>
        </p:nvSpPr>
        <p:spPr>
          <a:xfrm>
            <a:off x="596900" y="5397500"/>
            <a:ext cx="5346700" cy="381000"/>
          </a:xfrm>
          <a:prstGeom prst="rect">
            <a:avLst/>
          </a:prstGeom>
          <a:noFill/>
        </p:spPr>
        <p:txBody>
          <a:bodyPr wrap="square" anchor="t">
            <a:spAutoFit/>
          </a:bodyPr>
          <a:lstStyle/>
          <a:p>
            <a:pPr algn="l"/>
            <a:r>
              <a:rPr lang="en-US" sz="1400" b="1" dirty="0">
                <a:solidFill>
                  <a:srgbClr val="BEBEBE"/>
                </a:solidFill>
                <a:latin typeface="Aptos"/>
              </a:rPr>
              <a:t>BEFORE  </a:t>
            </a:r>
            <a:r>
              <a:rPr lang="en-US" sz="1400" b="0" dirty="0">
                <a:solidFill>
                  <a:srgbClr val="BEBEBE"/>
                </a:solidFill>
                <a:latin typeface="Aptos"/>
              </a:rPr>
              <a:t>Each statement waits on the network</a:t>
            </a:r>
          </a:p>
        </p:txBody>
      </p:sp>
      <p:sp>
        <p:nvSpPr>
          <p:cNvPr id="23" name="Caption 23"/>
          <p:cNvSpPr txBox="1"/>
          <p:nvPr/>
        </p:nvSpPr>
        <p:spPr>
          <a:xfrm>
            <a:off x="6248400" y="5397500"/>
            <a:ext cx="5346700" cy="381000"/>
          </a:xfrm>
          <a:prstGeom prst="rect">
            <a:avLst/>
          </a:prstGeom>
          <a:noFill/>
        </p:spPr>
        <p:txBody>
          <a:bodyPr wrap="square" anchor="t">
            <a:spAutoFit/>
          </a:bodyPr>
          <a:lstStyle/>
          <a:p>
            <a:pPr algn="l"/>
            <a:r>
              <a:rPr lang="en-US" sz="1400" b="1" dirty="0">
                <a:solidFill>
                  <a:srgbClr val="FF655C"/>
                </a:solidFill>
                <a:latin typeface="Aptos"/>
              </a:rPr>
              <a:t>AFTER  </a:t>
            </a:r>
            <a:r>
              <a:rPr lang="en-US" sz="1400" b="0" dirty="0">
                <a:solidFill>
                  <a:srgbClr val="BEBEBE"/>
                </a:solidFill>
                <a:latin typeface="Aptos"/>
              </a:rPr>
              <a:t>The whole transaction runs inside PostgreSQL</a:t>
            </a:r>
          </a:p>
        </p:txBody>
      </p:sp>
      <p:sp>
        <p:nvSpPr>
          <p:cNvPr id="24" name="Footer"/>
          <p:cNvSpPr txBox="1"/>
          <p:nvPr/>
        </p:nvSpPr>
        <p:spPr>
          <a:xfrm>
            <a:off x="508000" y="6515100"/>
            <a:ext cx="2374900" cy="165100"/>
          </a:xfrm>
          <a:prstGeom prst="rect">
            <a:avLst/>
          </a:prstGeom>
          <a:noFill/>
        </p:spPr>
        <p:txBody>
          <a:bodyPr wrap="square" anchor="t">
            <a:spAutoFit/>
          </a:bodyPr>
          <a:lstStyle/>
          <a:p>
            <a:pPr algn="l"/>
            <a:r>
              <a:rPr lang="en-US" sz="750" b="1" dirty="0">
                <a:solidFill>
                  <a:srgbClr val="BEBEBE"/>
                </a:solidFill>
                <a:latin typeface="Aptos"/>
              </a:rPr>
              <a:t>MY DISHONEST BENCHMARK</a:t>
            </a:r>
          </a:p>
        </p:txBody>
      </p:sp>
      <p:sp>
        <p:nvSpPr>
          <p:cNvPr id="25" name="Page"/>
          <p:cNvSpPr txBox="1"/>
          <p:nvPr/>
        </p:nvSpPr>
        <p:spPr>
          <a:xfrm>
            <a:off x="11150600" y="6477000"/>
            <a:ext cx="508000" cy="177800"/>
          </a:xfrm>
          <a:prstGeom prst="rect">
            <a:avLst/>
          </a:prstGeom>
          <a:noFill/>
        </p:spPr>
        <p:txBody>
          <a:bodyPr wrap="square" anchor="t">
            <a:spAutoFit/>
          </a:bodyPr>
          <a:lstStyle/>
          <a:p>
            <a:pPr algn="r"/>
            <a:r>
              <a:rPr lang="en-US" sz="800" b="1" dirty="0">
                <a:solidFill>
                  <a:srgbClr val="BEBEBE"/>
                </a:solidFill>
                <a:latin typeface="Aptos"/>
              </a:rPr>
              <a:t>30</a:t>
            </a:r>
          </a:p>
        </p:txBody>
      </p:sp>
    </p:spTree>
    <p:extLst>
      <p:ext uri="{BB962C8B-B14F-4D97-AF65-F5344CB8AC3E}">
        <p14:creationId xmlns:p14="http://schemas.microsoft.com/office/powerpoint/2010/main" val="20357811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0" name="Title"/>
          <p:cNvSpPr txBox="1"/>
          <p:nvPr/>
        </p:nvSpPr>
        <p:spPr>
          <a:xfrm>
            <a:off x="596900" y="127000"/>
            <a:ext cx="8890000" cy="584200"/>
          </a:xfrm>
          <a:prstGeom prst="rect">
            <a:avLst/>
          </a:prstGeom>
          <a:noFill/>
        </p:spPr>
        <p:txBody>
          <a:bodyPr wrap="square" anchor="t">
            <a:spAutoFit/>
          </a:bodyPr>
          <a:lstStyle/>
          <a:p>
            <a:pPr algn="l"/>
            <a:r>
              <a:rPr lang="en-US" sz="3200" b="1" dirty="0">
                <a:solidFill>
                  <a:srgbClr val="F2F2F2"/>
                </a:solidFill>
                <a:latin typeface="Aptos"/>
              </a:rPr>
              <a:t>PREPARED PROTOCOL</a:t>
            </a:r>
          </a:p>
        </p:txBody>
      </p:sp>
      <p:sp>
        <p:nvSpPr>
          <p:cNvPr id="21" name="Subtitle"/>
          <p:cNvSpPr txBox="1"/>
          <p:nvPr/>
        </p:nvSpPr>
        <p:spPr>
          <a:xfrm>
            <a:off x="596900" y="698500"/>
            <a:ext cx="10998200" cy="533400"/>
          </a:xfrm>
          <a:prstGeom prst="rect">
            <a:avLst/>
          </a:prstGeom>
          <a:noFill/>
        </p:spPr>
        <p:txBody>
          <a:bodyPr wrap="square" anchor="t">
            <a:spAutoFit/>
          </a:bodyPr>
          <a:lstStyle/>
          <a:p>
            <a:pPr algn="l"/>
            <a:r>
              <a:rPr lang="en-US" sz="2900" b="1" dirty="0">
                <a:solidFill>
                  <a:srgbClr val="F2F2F2"/>
                </a:solidFill>
                <a:latin typeface="Aptos Display"/>
              </a:rPr>
              <a:t>Parse and plan once, then only execute</a:t>
            </a:r>
          </a:p>
        </p:txBody>
      </p:sp>
      <p:sp>
        <p:nvSpPr>
          <p:cNvPr id="40" name="Card Simple protocol"/>
          <p:cNvSpPr/>
          <p:nvPr/>
        </p:nvSpPr>
        <p:spPr>
          <a:xfrm>
            <a:off x="596900" y="1473200"/>
            <a:ext cx="5346700" cy="4216400"/>
          </a:xfrm>
          <a:prstGeom prst="roundRect">
            <a:avLst>
              <a:gd name="adj" fmla="val 6000"/>
            </a:avLst>
          </a:prstGeom>
          <a:solidFill>
            <a:srgbClr val="222329"/>
          </a:solidFill>
          <a:ln w="12700">
            <a:solidFill>
              <a:srgbClr val="BEBEBE"/>
            </a:solidFill>
          </a:ln>
        </p:spPr>
        <p:txBody>
          <a:bodyPr wrap="square" lIns="152400" tIns="0" rIns="152400" bIns="0" anchor="ctr">
            <a:noAutofit/>
          </a:bodyPr>
          <a:lstStyle/>
          <a:p>
            <a:pPr algn="ctr"/>
            <a:endParaRPr lang="en-US" dirty="0"/>
          </a:p>
        </p:txBody>
      </p:sp>
      <p:sp>
        <p:nvSpPr>
          <p:cNvPr id="41" name="Header"/>
          <p:cNvSpPr/>
          <p:nvPr/>
        </p:nvSpPr>
        <p:spPr>
          <a:xfrm>
            <a:off x="850900" y="1701800"/>
            <a:ext cx="4838700" cy="381000"/>
          </a:xfrm>
          <a:prstGeom prst="rect">
            <a:avLst/>
          </a:prstGeom>
          <a:noFill/>
          <a:ln>
            <a:noFill/>
          </a:ln>
        </p:spPr>
        <p:txBody>
          <a:bodyPr wrap="square" lIns="152400" tIns="0" rIns="152400" bIns="0" anchor="ctr">
            <a:noAutofit/>
          </a:bodyPr>
          <a:lstStyle/>
          <a:p>
            <a:pPr algn="ctr"/>
            <a:r>
              <a:rPr lang="en-US" sz="2200" b="1" dirty="0">
                <a:solidFill>
                  <a:srgbClr val="F2F2F2"/>
                </a:solidFill>
                <a:latin typeface="Aptos"/>
              </a:rPr>
              <a:t>Simple protocol</a:t>
            </a:r>
          </a:p>
        </p:txBody>
      </p:sp>
      <p:sp>
        <p:nvSpPr>
          <p:cNvPr id="42" name="Subhead"/>
          <p:cNvSpPr/>
          <p:nvPr/>
        </p:nvSpPr>
        <p:spPr>
          <a:xfrm>
            <a:off x="850900" y="2108200"/>
            <a:ext cx="4838700" cy="279400"/>
          </a:xfrm>
          <a:prstGeom prst="rect">
            <a:avLst/>
          </a:prstGeom>
          <a:noFill/>
          <a:ln>
            <a:noFill/>
          </a:ln>
        </p:spPr>
        <p:txBody>
          <a:bodyPr wrap="square" lIns="152400" tIns="0" rIns="152400" bIns="0" anchor="ctr">
            <a:noAutofit/>
          </a:bodyPr>
          <a:lstStyle/>
          <a:p>
            <a:pPr algn="ctr"/>
            <a:r>
              <a:rPr lang="en-US" sz="1400" b="0" dirty="0">
                <a:solidFill>
                  <a:srgbClr val="BEBEBE"/>
                </a:solidFill>
                <a:latin typeface="Aptos"/>
              </a:rPr>
              <a:t>Every statement, every time</a:t>
            </a:r>
          </a:p>
        </p:txBody>
      </p:sp>
      <p:sp>
        <p:nvSpPr>
          <p:cNvPr id="43" name="Step"/>
          <p:cNvSpPr/>
          <p:nvPr/>
        </p:nvSpPr>
        <p:spPr>
          <a:xfrm>
            <a:off x="977900" y="2514600"/>
            <a:ext cx="4584700" cy="558800"/>
          </a:xfrm>
          <a:prstGeom prst="roundRect">
            <a:avLst>
              <a:gd name="adj" fmla="val 12000"/>
            </a:avLst>
          </a:prstGeom>
          <a:solidFill>
            <a:srgbClr val="2C2E36"/>
          </a:solidFill>
          <a:ln>
            <a:noFill/>
          </a:ln>
        </p:spPr>
        <p:txBody>
          <a:bodyPr wrap="square" lIns="152400" tIns="0" rIns="152400" bIns="0" anchor="ctr">
            <a:noAutofit/>
          </a:bodyPr>
          <a:lstStyle/>
          <a:p>
            <a:pPr algn="ctr"/>
            <a:r>
              <a:rPr lang="en-US" sz="1600" b="0" dirty="0">
                <a:solidFill>
                  <a:srgbClr val="F2F2F2"/>
                </a:solidFill>
                <a:latin typeface="Aptos"/>
              </a:rPr>
              <a:t>Parse</a:t>
            </a:r>
          </a:p>
        </p:txBody>
      </p:sp>
      <p:cxnSp>
        <p:nvCxnSpPr>
          <p:cNvPr id="44" name="Arrow"/>
          <p:cNvCxnSpPr/>
          <p:nvPr/>
        </p:nvCxnSpPr>
        <p:spPr>
          <a:xfrm>
            <a:off x="3270250" y="3098800"/>
            <a:ext cx="0" cy="177800"/>
          </a:xfrm>
          <a:prstGeom prst="line">
            <a:avLst/>
          </a:prstGeom>
          <a:ln w="15875">
            <a:solidFill>
              <a:srgbClr val="BEBEBE"/>
            </a:solidFill>
            <a:tailEnd type="triangle" w="sm" len="sm"/>
          </a:ln>
        </p:spPr>
      </p:cxnSp>
      <p:sp>
        <p:nvSpPr>
          <p:cNvPr id="45" name="Step"/>
          <p:cNvSpPr/>
          <p:nvPr/>
        </p:nvSpPr>
        <p:spPr>
          <a:xfrm>
            <a:off x="977900" y="3302000"/>
            <a:ext cx="4584700" cy="558800"/>
          </a:xfrm>
          <a:prstGeom prst="roundRect">
            <a:avLst>
              <a:gd name="adj" fmla="val 12000"/>
            </a:avLst>
          </a:prstGeom>
          <a:solidFill>
            <a:srgbClr val="2C2E36"/>
          </a:solidFill>
          <a:ln>
            <a:noFill/>
          </a:ln>
        </p:spPr>
        <p:txBody>
          <a:bodyPr wrap="square" lIns="152400" tIns="0" rIns="152400" bIns="0" anchor="ctr">
            <a:noAutofit/>
          </a:bodyPr>
          <a:lstStyle/>
          <a:p>
            <a:pPr algn="ctr"/>
            <a:r>
              <a:rPr lang="en-US" sz="1600" b="0" dirty="0">
                <a:solidFill>
                  <a:srgbClr val="F2F2F2"/>
                </a:solidFill>
                <a:latin typeface="Aptos"/>
              </a:rPr>
              <a:t>Analyze &amp; rewrite</a:t>
            </a:r>
          </a:p>
        </p:txBody>
      </p:sp>
      <p:cxnSp>
        <p:nvCxnSpPr>
          <p:cNvPr id="46" name="Arrow"/>
          <p:cNvCxnSpPr/>
          <p:nvPr/>
        </p:nvCxnSpPr>
        <p:spPr>
          <a:xfrm>
            <a:off x="3270250" y="3886200"/>
            <a:ext cx="0" cy="177800"/>
          </a:xfrm>
          <a:prstGeom prst="line">
            <a:avLst/>
          </a:prstGeom>
          <a:ln w="15875">
            <a:solidFill>
              <a:srgbClr val="BEBEBE"/>
            </a:solidFill>
            <a:tailEnd type="triangle" w="sm" len="sm"/>
          </a:ln>
        </p:spPr>
      </p:cxnSp>
      <p:sp>
        <p:nvSpPr>
          <p:cNvPr id="47" name="Step"/>
          <p:cNvSpPr/>
          <p:nvPr/>
        </p:nvSpPr>
        <p:spPr>
          <a:xfrm>
            <a:off x="977900" y="4089400"/>
            <a:ext cx="4584700" cy="558800"/>
          </a:xfrm>
          <a:prstGeom prst="roundRect">
            <a:avLst>
              <a:gd name="adj" fmla="val 12000"/>
            </a:avLst>
          </a:prstGeom>
          <a:solidFill>
            <a:srgbClr val="2C2E36"/>
          </a:solidFill>
          <a:ln>
            <a:noFill/>
          </a:ln>
        </p:spPr>
        <p:txBody>
          <a:bodyPr wrap="square" lIns="152400" tIns="0" rIns="152400" bIns="0" anchor="ctr">
            <a:noAutofit/>
          </a:bodyPr>
          <a:lstStyle/>
          <a:p>
            <a:pPr algn="ctr"/>
            <a:r>
              <a:rPr lang="en-US" sz="1600" b="0" dirty="0">
                <a:solidFill>
                  <a:srgbClr val="F2F2F2"/>
                </a:solidFill>
                <a:latin typeface="Aptos"/>
              </a:rPr>
              <a:t>Plan</a:t>
            </a:r>
          </a:p>
        </p:txBody>
      </p:sp>
      <p:cxnSp>
        <p:nvCxnSpPr>
          <p:cNvPr id="48" name="Arrow"/>
          <p:cNvCxnSpPr/>
          <p:nvPr/>
        </p:nvCxnSpPr>
        <p:spPr>
          <a:xfrm>
            <a:off x="3270250" y="4673600"/>
            <a:ext cx="0" cy="177800"/>
          </a:xfrm>
          <a:prstGeom prst="line">
            <a:avLst/>
          </a:prstGeom>
          <a:ln w="15875">
            <a:solidFill>
              <a:srgbClr val="BEBEBE"/>
            </a:solidFill>
            <a:tailEnd type="triangle" w="sm" len="sm"/>
          </a:ln>
        </p:spPr>
      </p:cxnSp>
      <p:sp>
        <p:nvSpPr>
          <p:cNvPr id="49" name="Step"/>
          <p:cNvSpPr/>
          <p:nvPr/>
        </p:nvSpPr>
        <p:spPr>
          <a:xfrm>
            <a:off x="977900" y="4876800"/>
            <a:ext cx="4584700" cy="558800"/>
          </a:xfrm>
          <a:prstGeom prst="roundRect">
            <a:avLst>
              <a:gd name="adj" fmla="val 12000"/>
            </a:avLst>
          </a:prstGeom>
          <a:solidFill>
            <a:srgbClr val="2C2E36"/>
          </a:solidFill>
          <a:ln>
            <a:noFill/>
          </a:ln>
        </p:spPr>
        <p:txBody>
          <a:bodyPr wrap="square" lIns="152400" tIns="0" rIns="152400" bIns="0" anchor="ctr">
            <a:noAutofit/>
          </a:bodyPr>
          <a:lstStyle/>
          <a:p>
            <a:pPr algn="ctr"/>
            <a:r>
              <a:rPr lang="en-US" sz="1600" b="0" dirty="0">
                <a:solidFill>
                  <a:srgbClr val="F2F2F2"/>
                </a:solidFill>
                <a:latin typeface="Aptos"/>
              </a:rPr>
              <a:t>Execute</a:t>
            </a:r>
          </a:p>
        </p:txBody>
      </p:sp>
      <p:sp>
        <p:nvSpPr>
          <p:cNvPr id="50" name="Card Prepared protocol"/>
          <p:cNvSpPr/>
          <p:nvPr/>
        </p:nvSpPr>
        <p:spPr>
          <a:xfrm>
            <a:off x="6248400" y="1473200"/>
            <a:ext cx="5346700" cy="4216400"/>
          </a:xfrm>
          <a:prstGeom prst="roundRect">
            <a:avLst>
              <a:gd name="adj" fmla="val 6000"/>
            </a:avLst>
          </a:prstGeom>
          <a:solidFill>
            <a:srgbClr val="222329"/>
          </a:solidFill>
          <a:ln w="12700">
            <a:solidFill>
              <a:srgbClr val="00C2D6"/>
            </a:solidFill>
          </a:ln>
        </p:spPr>
        <p:txBody>
          <a:bodyPr wrap="square" lIns="152400" tIns="0" rIns="152400" bIns="0" anchor="ctr">
            <a:noAutofit/>
          </a:bodyPr>
          <a:lstStyle/>
          <a:p>
            <a:pPr algn="ctr"/>
            <a:endParaRPr lang="en-US" dirty="0"/>
          </a:p>
        </p:txBody>
      </p:sp>
      <p:sp>
        <p:nvSpPr>
          <p:cNvPr id="51" name="Header"/>
          <p:cNvSpPr/>
          <p:nvPr/>
        </p:nvSpPr>
        <p:spPr>
          <a:xfrm>
            <a:off x="6502400" y="1701800"/>
            <a:ext cx="4838700" cy="381000"/>
          </a:xfrm>
          <a:prstGeom prst="rect">
            <a:avLst/>
          </a:prstGeom>
          <a:noFill/>
          <a:ln>
            <a:noFill/>
          </a:ln>
        </p:spPr>
        <p:txBody>
          <a:bodyPr wrap="square" lIns="152400" tIns="0" rIns="152400" bIns="0" anchor="ctr">
            <a:noAutofit/>
          </a:bodyPr>
          <a:lstStyle/>
          <a:p>
            <a:pPr algn="ctr"/>
            <a:r>
              <a:rPr lang="en-US" sz="2200" b="1" dirty="0">
                <a:solidFill>
                  <a:srgbClr val="00C2D6"/>
                </a:solidFill>
                <a:latin typeface="Aptos"/>
              </a:rPr>
              <a:t>Prepared protocol</a:t>
            </a:r>
          </a:p>
        </p:txBody>
      </p:sp>
      <p:sp>
        <p:nvSpPr>
          <p:cNvPr id="52" name="Subhead"/>
          <p:cNvSpPr/>
          <p:nvPr/>
        </p:nvSpPr>
        <p:spPr>
          <a:xfrm>
            <a:off x="6502400" y="2108200"/>
            <a:ext cx="4838700" cy="279400"/>
          </a:xfrm>
          <a:prstGeom prst="rect">
            <a:avLst/>
          </a:prstGeom>
          <a:noFill/>
          <a:ln>
            <a:noFill/>
          </a:ln>
        </p:spPr>
        <p:txBody>
          <a:bodyPr wrap="square" lIns="152400" tIns="0" rIns="152400" bIns="0" anchor="ctr">
            <a:noAutofit/>
          </a:bodyPr>
          <a:lstStyle/>
          <a:p>
            <a:pPr algn="ctr"/>
            <a:r>
              <a:rPr lang="en-US" sz="1400" b="0" dirty="0">
                <a:solidFill>
                  <a:srgbClr val="BEBEBE"/>
                </a:solidFill>
                <a:latin typeface="Aptos"/>
              </a:rPr>
              <a:t>After the first run, only Execute</a:t>
            </a:r>
          </a:p>
        </p:txBody>
      </p:sp>
      <p:sp>
        <p:nvSpPr>
          <p:cNvPr id="53" name="Step"/>
          <p:cNvSpPr/>
          <p:nvPr/>
        </p:nvSpPr>
        <p:spPr>
          <a:xfrm>
            <a:off x="6629400" y="2514600"/>
            <a:ext cx="4584700" cy="558800"/>
          </a:xfrm>
          <a:prstGeom prst="roundRect">
            <a:avLst>
              <a:gd name="adj" fmla="val 12000"/>
            </a:avLst>
          </a:prstGeom>
          <a:noFill/>
          <a:ln w="12700">
            <a:solidFill>
              <a:srgbClr val="4A4D57"/>
            </a:solidFill>
            <a:prstDash val="dash"/>
          </a:ln>
        </p:spPr>
        <p:txBody>
          <a:bodyPr wrap="square" lIns="152400" tIns="0" rIns="152400" bIns="0" anchor="ctr">
            <a:noAutofit/>
          </a:bodyPr>
          <a:lstStyle/>
          <a:p>
            <a:pPr algn="ctr"/>
            <a:r>
              <a:rPr lang="en-US" sz="1600" b="0" dirty="0">
                <a:solidFill>
                  <a:srgbClr val="7C7F89"/>
                </a:solidFill>
                <a:latin typeface="Aptos"/>
              </a:rPr>
              <a:t>Parse</a:t>
            </a:r>
            <a:r>
              <a:rPr lang="en-US" sz="1400" b="1" dirty="0">
                <a:solidFill>
                  <a:srgbClr val="7C7F89"/>
                </a:solidFill>
                <a:latin typeface="Aptos"/>
              </a:rPr>
              <a:t>   skipped</a:t>
            </a:r>
          </a:p>
        </p:txBody>
      </p:sp>
      <p:cxnSp>
        <p:nvCxnSpPr>
          <p:cNvPr id="54" name="Arrow"/>
          <p:cNvCxnSpPr/>
          <p:nvPr/>
        </p:nvCxnSpPr>
        <p:spPr>
          <a:xfrm>
            <a:off x="8921750" y="3098800"/>
            <a:ext cx="0" cy="177800"/>
          </a:xfrm>
          <a:prstGeom prst="line">
            <a:avLst/>
          </a:prstGeom>
          <a:ln w="15875">
            <a:solidFill>
              <a:srgbClr val="4A4D57"/>
            </a:solidFill>
            <a:tailEnd type="triangle" w="sm" len="sm"/>
          </a:ln>
        </p:spPr>
      </p:cxnSp>
      <p:sp>
        <p:nvSpPr>
          <p:cNvPr id="55" name="Step"/>
          <p:cNvSpPr/>
          <p:nvPr/>
        </p:nvSpPr>
        <p:spPr>
          <a:xfrm>
            <a:off x="6629400" y="3302000"/>
            <a:ext cx="4584700" cy="558800"/>
          </a:xfrm>
          <a:prstGeom prst="roundRect">
            <a:avLst>
              <a:gd name="adj" fmla="val 12000"/>
            </a:avLst>
          </a:prstGeom>
          <a:noFill/>
          <a:ln w="12700">
            <a:solidFill>
              <a:srgbClr val="4A4D57"/>
            </a:solidFill>
            <a:prstDash val="dash"/>
          </a:ln>
        </p:spPr>
        <p:txBody>
          <a:bodyPr wrap="square" lIns="152400" tIns="0" rIns="152400" bIns="0" anchor="ctr">
            <a:noAutofit/>
          </a:bodyPr>
          <a:lstStyle/>
          <a:p>
            <a:pPr algn="ctr"/>
            <a:r>
              <a:rPr lang="en-US" sz="1600" b="0" dirty="0">
                <a:solidFill>
                  <a:srgbClr val="7C7F89"/>
                </a:solidFill>
                <a:latin typeface="Aptos"/>
              </a:rPr>
              <a:t>Analyze &amp; rewrite</a:t>
            </a:r>
            <a:r>
              <a:rPr lang="en-US" sz="1400" b="1" dirty="0">
                <a:solidFill>
                  <a:srgbClr val="7C7F89"/>
                </a:solidFill>
                <a:latin typeface="Aptos"/>
              </a:rPr>
              <a:t>   skipped</a:t>
            </a:r>
          </a:p>
        </p:txBody>
      </p:sp>
      <p:cxnSp>
        <p:nvCxnSpPr>
          <p:cNvPr id="56" name="Arrow"/>
          <p:cNvCxnSpPr/>
          <p:nvPr/>
        </p:nvCxnSpPr>
        <p:spPr>
          <a:xfrm>
            <a:off x="8921750" y="3886200"/>
            <a:ext cx="0" cy="177800"/>
          </a:xfrm>
          <a:prstGeom prst="line">
            <a:avLst/>
          </a:prstGeom>
          <a:ln w="15875">
            <a:solidFill>
              <a:srgbClr val="4A4D57"/>
            </a:solidFill>
            <a:tailEnd type="triangle" w="sm" len="sm"/>
          </a:ln>
        </p:spPr>
      </p:cxnSp>
      <p:sp>
        <p:nvSpPr>
          <p:cNvPr id="57" name="Step"/>
          <p:cNvSpPr/>
          <p:nvPr/>
        </p:nvSpPr>
        <p:spPr>
          <a:xfrm>
            <a:off x="6629400" y="4089400"/>
            <a:ext cx="4584700" cy="558800"/>
          </a:xfrm>
          <a:prstGeom prst="roundRect">
            <a:avLst>
              <a:gd name="adj" fmla="val 12000"/>
            </a:avLst>
          </a:prstGeom>
          <a:noFill/>
          <a:ln w="12700">
            <a:solidFill>
              <a:srgbClr val="4A4D57"/>
            </a:solidFill>
            <a:prstDash val="dash"/>
          </a:ln>
        </p:spPr>
        <p:txBody>
          <a:bodyPr wrap="square" lIns="152400" tIns="0" rIns="152400" bIns="0" anchor="ctr">
            <a:noAutofit/>
          </a:bodyPr>
          <a:lstStyle/>
          <a:p>
            <a:pPr algn="ctr"/>
            <a:r>
              <a:rPr lang="en-US" sz="1600" b="0" dirty="0">
                <a:solidFill>
                  <a:srgbClr val="7C7F89"/>
                </a:solidFill>
                <a:latin typeface="Aptos"/>
              </a:rPr>
              <a:t>Plan</a:t>
            </a:r>
            <a:r>
              <a:rPr lang="en-US" sz="1400" b="1" dirty="0">
                <a:solidFill>
                  <a:srgbClr val="7C7F89"/>
                </a:solidFill>
                <a:latin typeface="Aptos"/>
              </a:rPr>
              <a:t>   skipped</a:t>
            </a:r>
          </a:p>
        </p:txBody>
      </p:sp>
      <p:cxnSp>
        <p:nvCxnSpPr>
          <p:cNvPr id="58" name="Arrow"/>
          <p:cNvCxnSpPr/>
          <p:nvPr/>
        </p:nvCxnSpPr>
        <p:spPr>
          <a:xfrm>
            <a:off x="8921750" y="4673600"/>
            <a:ext cx="0" cy="177800"/>
          </a:xfrm>
          <a:prstGeom prst="line">
            <a:avLst/>
          </a:prstGeom>
          <a:ln w="15875">
            <a:solidFill>
              <a:srgbClr val="00C2D6"/>
            </a:solidFill>
            <a:tailEnd type="triangle" w="sm" len="sm"/>
          </a:ln>
        </p:spPr>
      </p:cxnSp>
      <p:sp>
        <p:nvSpPr>
          <p:cNvPr id="59" name="Step"/>
          <p:cNvSpPr/>
          <p:nvPr/>
        </p:nvSpPr>
        <p:spPr>
          <a:xfrm>
            <a:off x="6629400" y="4876800"/>
            <a:ext cx="4584700" cy="558800"/>
          </a:xfrm>
          <a:prstGeom prst="roundRect">
            <a:avLst>
              <a:gd name="adj" fmla="val 12000"/>
            </a:avLst>
          </a:prstGeom>
          <a:solidFill>
            <a:srgbClr val="2C2E36"/>
          </a:solidFill>
          <a:ln w="12700">
            <a:solidFill>
              <a:srgbClr val="00C2D6"/>
            </a:solidFill>
          </a:ln>
        </p:spPr>
        <p:txBody>
          <a:bodyPr wrap="square" lIns="152400" tIns="0" rIns="152400" bIns="0" anchor="ctr">
            <a:noAutofit/>
          </a:bodyPr>
          <a:lstStyle/>
          <a:p>
            <a:pPr algn="ctr"/>
            <a:r>
              <a:rPr lang="en-US" sz="1600" b="1" dirty="0">
                <a:solidFill>
                  <a:srgbClr val="F2F2F2"/>
                </a:solidFill>
                <a:latin typeface="Aptos"/>
              </a:rPr>
              <a:t>Execute</a:t>
            </a:r>
          </a:p>
        </p:txBody>
      </p:sp>
      <p:sp>
        <p:nvSpPr>
          <p:cNvPr id="60" name="Takeaway"/>
          <p:cNvSpPr/>
          <p:nvPr/>
        </p:nvSpPr>
        <p:spPr>
          <a:xfrm>
            <a:off x="596900" y="5918200"/>
            <a:ext cx="10998200" cy="381000"/>
          </a:xfrm>
          <a:prstGeom prst="rect">
            <a:avLst/>
          </a:prstGeom>
          <a:noFill/>
          <a:ln>
            <a:noFill/>
          </a:ln>
        </p:spPr>
        <p:txBody>
          <a:bodyPr wrap="square" lIns="91440" tIns="0" rIns="152400" bIns="0" anchor="ctr">
            <a:noAutofit/>
          </a:bodyPr>
          <a:lstStyle/>
          <a:p>
            <a:pPr algn="l"/>
            <a:r>
              <a:rPr lang="en-US" sz="1600" b="1" dirty="0">
                <a:solidFill>
                  <a:srgbClr val="F2F2F2"/>
                </a:solidFill>
                <a:latin typeface="Aptos"/>
              </a:rPr>
              <a:t>22,705 → 34,684 TPS (+53%). </a:t>
            </a:r>
            <a:r>
              <a:rPr lang="en-US" sz="1600" b="0" dirty="0">
                <a:solidFill>
                  <a:srgbClr val="BEBEBE"/>
                </a:solidFill>
                <a:latin typeface="Aptos"/>
              </a:rPr>
              <a:t>Still six round trips per transaction; each statement just costs less CPU.</a:t>
            </a:r>
          </a:p>
        </p:txBody>
      </p:sp>
      <p:sp>
        <p:nvSpPr>
          <p:cNvPr id="24" name="Footer"/>
          <p:cNvSpPr txBox="1"/>
          <p:nvPr/>
        </p:nvSpPr>
        <p:spPr>
          <a:xfrm>
            <a:off x="508000" y="6515100"/>
            <a:ext cx="2374900" cy="165100"/>
          </a:xfrm>
          <a:prstGeom prst="rect">
            <a:avLst/>
          </a:prstGeom>
          <a:noFill/>
        </p:spPr>
        <p:txBody>
          <a:bodyPr wrap="square" anchor="t">
            <a:spAutoFit/>
          </a:bodyPr>
          <a:lstStyle/>
          <a:p>
            <a:pPr algn="l"/>
            <a:r>
              <a:rPr lang="en-US" sz="750" b="1" dirty="0">
                <a:solidFill>
                  <a:srgbClr val="BEBEBE"/>
                </a:solidFill>
                <a:latin typeface="Aptos"/>
              </a:rPr>
              <a:t>MY DISHONEST BENCHMARK</a:t>
            </a:r>
          </a:p>
        </p:txBody>
      </p:sp>
      <p:sp>
        <p:nvSpPr>
          <p:cNvPr id="25" name="Page"/>
          <p:cNvSpPr txBox="1"/>
          <p:nvPr/>
        </p:nvSpPr>
        <p:spPr>
          <a:xfrm>
            <a:off x="11150600" y="6477000"/>
            <a:ext cx="508000" cy="177800"/>
          </a:xfrm>
          <a:prstGeom prst="rect">
            <a:avLst/>
          </a:prstGeom>
          <a:noFill/>
        </p:spPr>
        <p:txBody>
          <a:bodyPr wrap="square" anchor="t">
            <a:spAutoFit/>
          </a:bodyPr>
          <a:lstStyle/>
          <a:p>
            <a:pPr algn="r"/>
            <a:r>
              <a:rPr lang="en-US" sz="800" b="1" dirty="0">
                <a:solidFill>
                  <a:srgbClr val="BEBEBE"/>
                </a:solidFill>
                <a:latin typeface="Aptos"/>
              </a:rPr>
              <a:t>30</a:t>
            </a:r>
          </a:p>
        </p:txBody>
      </p:sp>
    </p:spTree>
    <p:extLst>
      <p:ext uri="{BB962C8B-B14F-4D97-AF65-F5344CB8AC3E}">
        <p14:creationId xmlns:p14="http://schemas.microsoft.com/office/powerpoint/2010/main" val="1257331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4" name="TextBox 3"/>
          <p:cNvSpPr txBox="1"/>
          <p:nvPr/>
        </p:nvSpPr>
        <p:spPr>
          <a:xfrm>
            <a:off x="731520" y="1325880"/>
            <a:ext cx="6766560" cy="640080"/>
          </a:xfrm>
          <a:prstGeom prst="rect">
            <a:avLst/>
          </a:prstGeom>
          <a:noFill/>
        </p:spPr>
        <p:txBody>
          <a:bodyPr wrap="square" anchor="t">
            <a:spAutoFit/>
          </a:bodyPr>
          <a:lstStyle/>
          <a:p>
            <a:pPr algn="l">
              <a:defRPr sz="3600" b="1">
                <a:solidFill>
                  <a:srgbClr val="FFFFFF"/>
                </a:solidFill>
                <a:latin typeface="Aptos Display"/>
              </a:defRPr>
            </a:pPr>
            <a:r>
              <a:t>The respectable hero result.</a:t>
            </a:r>
          </a:p>
        </p:txBody>
      </p:sp>
      <p:sp>
        <p:nvSpPr>
          <p:cNvPr id="5" name="TextBox 4"/>
          <p:cNvSpPr txBox="1"/>
          <p:nvPr/>
        </p:nvSpPr>
        <p:spPr>
          <a:xfrm>
            <a:off x="777240" y="2560320"/>
            <a:ext cx="4023360" cy="777240"/>
          </a:xfrm>
          <a:prstGeom prst="rect">
            <a:avLst/>
          </a:prstGeom>
          <a:noFill/>
        </p:spPr>
        <p:txBody>
          <a:bodyPr wrap="square" anchor="t">
            <a:spAutoFit/>
          </a:bodyPr>
          <a:lstStyle/>
          <a:p>
            <a:pPr algn="ctr">
              <a:defRPr sz="4400" b="1">
                <a:solidFill>
                  <a:srgbClr val="FFFFFF"/>
                </a:solidFill>
                <a:latin typeface="Aptos Display"/>
              </a:defRPr>
            </a:pPr>
            <a:r>
              <a:rPr lang="en-US" dirty="0"/>
              <a:t>80,178</a:t>
            </a:r>
            <a:endParaRPr dirty="0"/>
          </a:p>
        </p:txBody>
      </p:sp>
      <p:sp>
        <p:nvSpPr>
          <p:cNvPr id="6" name="TextBox 5"/>
          <p:cNvSpPr txBox="1"/>
          <p:nvPr/>
        </p:nvSpPr>
        <p:spPr>
          <a:xfrm>
            <a:off x="777240" y="3273552"/>
            <a:ext cx="4023360" cy="347472"/>
          </a:xfrm>
          <a:prstGeom prst="rect">
            <a:avLst/>
          </a:prstGeom>
          <a:noFill/>
        </p:spPr>
        <p:txBody>
          <a:bodyPr wrap="square" anchor="t">
            <a:spAutoFit/>
          </a:bodyPr>
          <a:lstStyle/>
          <a:p>
            <a:pPr algn="ctr">
              <a:defRPr sz="1200" b="1">
                <a:solidFill>
                  <a:srgbClr val="AEE057"/>
                </a:solidFill>
                <a:latin typeface="Aptos"/>
              </a:defRPr>
            </a:pPr>
            <a:r>
              <a:t>TPS</a:t>
            </a:r>
          </a:p>
        </p:txBody>
      </p:sp>
      <p:sp>
        <p:nvSpPr>
          <p:cNvPr id="7" name="Rounded Rectangle 6"/>
          <p:cNvSpPr/>
          <p:nvPr/>
        </p:nvSpPr>
        <p:spPr>
          <a:xfrm>
            <a:off x="1325880" y="4041648"/>
            <a:ext cx="2423160" cy="329184"/>
          </a:xfrm>
          <a:prstGeom prst="roundRect">
            <a:avLst/>
          </a:prstGeom>
          <a:solidFill>
            <a:srgbClr val="AEE0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35607" y="4096511"/>
            <a:ext cx="2203704" cy="246221"/>
          </a:xfrm>
          <a:prstGeom prst="rect">
            <a:avLst/>
          </a:prstGeom>
          <a:noFill/>
        </p:spPr>
        <p:txBody>
          <a:bodyPr wrap="square" anchor="t">
            <a:spAutoFit/>
          </a:bodyPr>
          <a:lstStyle/>
          <a:p>
            <a:pPr algn="l">
              <a:defRPr sz="1000" b="1">
                <a:solidFill>
                  <a:srgbClr val="17181C"/>
                </a:solidFill>
                <a:latin typeface="Aptos"/>
              </a:defRPr>
            </a:pPr>
            <a:r>
              <a:rPr dirty="0"/>
              <a:t>3.5</a:t>
            </a:r>
            <a:r>
              <a:rPr lang="en-US" dirty="0"/>
              <a:t>3</a:t>
            </a:r>
            <a:r>
              <a:rPr dirty="0"/>
              <a:t>× VS INDEXED</a:t>
            </a:r>
          </a:p>
        </p:txBody>
      </p:sp>
      <p:sp>
        <p:nvSpPr>
          <p:cNvPr id="11" name="TextBox 10"/>
          <p:cNvSpPr txBox="1"/>
          <p:nvPr/>
        </p:nvSpPr>
        <p:spPr>
          <a:xfrm>
            <a:off x="502920" y="6510528"/>
            <a:ext cx="2377440" cy="164592"/>
          </a:xfrm>
          <a:prstGeom prst="rect">
            <a:avLst/>
          </a:prstGeom>
          <a:noFill/>
        </p:spPr>
        <p:txBody>
          <a:bodyPr wrap="square" anchor="t">
            <a:spAutoFit/>
          </a:bodyPr>
          <a:lstStyle/>
          <a:p>
            <a:pPr algn="l">
              <a:defRPr sz="750" b="1">
                <a:solidFill>
                  <a:srgbClr val="AAAAAA"/>
                </a:solidFill>
                <a:latin typeface="Aptos"/>
              </a:defRPr>
            </a:pPr>
            <a:r>
              <a:t>MY DISHONEST BENCHMARK</a:t>
            </a:r>
          </a:p>
        </p:txBody>
      </p:sp>
      <p:sp>
        <p:nvSpPr>
          <p:cNvPr id="12" name="TextBox 11"/>
          <p:cNvSpPr txBox="1"/>
          <p:nvPr/>
        </p:nvSpPr>
        <p:spPr>
          <a:xfrm>
            <a:off x="11155680" y="6473952"/>
            <a:ext cx="502920" cy="182880"/>
          </a:xfrm>
          <a:prstGeom prst="rect">
            <a:avLst/>
          </a:prstGeom>
          <a:noFill/>
        </p:spPr>
        <p:txBody>
          <a:bodyPr wrap="square" anchor="t">
            <a:spAutoFit/>
          </a:bodyPr>
          <a:lstStyle/>
          <a:p>
            <a:pPr algn="r">
              <a:defRPr sz="800" b="1">
                <a:solidFill>
                  <a:srgbClr val="AAAAAA"/>
                </a:solidFill>
                <a:latin typeface="Aptos"/>
              </a:defRPr>
            </a:pPr>
            <a:r>
              <a:t>26</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3" name="TextBox 2"/>
          <p:cNvSpPr txBox="1"/>
          <p:nvPr/>
        </p:nvSpPr>
        <p:spPr>
          <a:xfrm>
            <a:off x="795528" y="649224"/>
            <a:ext cx="1815084" cy="201168"/>
          </a:xfrm>
          <a:prstGeom prst="rect">
            <a:avLst/>
          </a:prstGeom>
          <a:noFill/>
        </p:spPr>
        <p:txBody>
          <a:bodyPr wrap="square" anchor="t">
            <a:spAutoFit/>
          </a:bodyPr>
          <a:lstStyle/>
          <a:p>
            <a:pPr algn="l">
              <a:defRPr sz="1000" b="1">
                <a:solidFill>
                  <a:srgbClr val="17181C"/>
                </a:solidFill>
                <a:latin typeface="Aptos"/>
              </a:defRPr>
            </a:pPr>
            <a:r>
              <a:rPr dirty="0"/>
              <a:t>BEFORE CHEATING</a:t>
            </a:r>
          </a:p>
        </p:txBody>
      </p:sp>
      <p:sp>
        <p:nvSpPr>
          <p:cNvPr id="4" name="TextBox 3"/>
          <p:cNvSpPr txBox="1"/>
          <p:nvPr/>
        </p:nvSpPr>
        <p:spPr>
          <a:xfrm>
            <a:off x="749808" y="1600200"/>
            <a:ext cx="10607040" cy="2926080"/>
          </a:xfrm>
          <a:prstGeom prst="rect">
            <a:avLst/>
          </a:prstGeom>
          <a:noFill/>
        </p:spPr>
        <p:txBody>
          <a:bodyPr wrap="square" anchor="ctr">
            <a:spAutoFit/>
          </a:bodyPr>
          <a:lstStyle/>
          <a:p>
            <a:pPr algn="l">
              <a:defRPr sz="4200" b="1">
                <a:solidFill>
                  <a:srgbClr val="FFFFFF"/>
                </a:solidFill>
                <a:latin typeface="Aptos Display"/>
              </a:defRPr>
            </a:pPr>
            <a:r>
              <a:t>This is where an honest benchmark pauses.</a:t>
            </a:r>
          </a:p>
        </p:txBody>
      </p:sp>
      <p:sp>
        <p:nvSpPr>
          <p:cNvPr id="6" name="TextBox 5"/>
          <p:cNvSpPr txBox="1"/>
          <p:nvPr/>
        </p:nvSpPr>
        <p:spPr>
          <a:xfrm>
            <a:off x="502920" y="6510528"/>
            <a:ext cx="2377440" cy="164592"/>
          </a:xfrm>
          <a:prstGeom prst="rect">
            <a:avLst/>
          </a:prstGeom>
          <a:noFill/>
        </p:spPr>
        <p:txBody>
          <a:bodyPr wrap="square" anchor="t">
            <a:spAutoFit/>
          </a:bodyPr>
          <a:lstStyle/>
          <a:p>
            <a:pPr algn="l">
              <a:defRPr sz="750" b="1">
                <a:solidFill>
                  <a:srgbClr val="AAAAAA"/>
                </a:solidFill>
                <a:latin typeface="Aptos"/>
              </a:defRPr>
            </a:pPr>
            <a:r>
              <a:t>MY DISHONEST BENCHMARK</a:t>
            </a:r>
          </a:p>
        </p:txBody>
      </p:sp>
      <p:sp>
        <p:nvSpPr>
          <p:cNvPr id="7" name="TextBox 6"/>
          <p:cNvSpPr txBox="1"/>
          <p:nvPr/>
        </p:nvSpPr>
        <p:spPr>
          <a:xfrm>
            <a:off x="11155680" y="6473952"/>
            <a:ext cx="502920" cy="182880"/>
          </a:xfrm>
          <a:prstGeom prst="rect">
            <a:avLst/>
          </a:prstGeom>
          <a:noFill/>
        </p:spPr>
        <p:txBody>
          <a:bodyPr wrap="square" anchor="t">
            <a:spAutoFit/>
          </a:bodyPr>
          <a:lstStyle/>
          <a:p>
            <a:pPr algn="r">
              <a:defRPr sz="800" b="1">
                <a:solidFill>
                  <a:srgbClr val="AAAAAA"/>
                </a:solidFill>
                <a:latin typeface="Aptos"/>
              </a:defRPr>
            </a:pPr>
            <a:r>
              <a:t>19</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3" name="TextBox 2"/>
          <p:cNvSpPr txBox="1"/>
          <p:nvPr/>
        </p:nvSpPr>
        <p:spPr>
          <a:xfrm>
            <a:off x="706900" y="649224"/>
            <a:ext cx="3119159" cy="584775"/>
          </a:xfrm>
          <a:prstGeom prst="rect">
            <a:avLst/>
          </a:prstGeom>
          <a:noFill/>
        </p:spPr>
        <p:txBody>
          <a:bodyPr wrap="square" anchor="t">
            <a:spAutoFit/>
          </a:bodyPr>
          <a:lstStyle/>
          <a:p>
            <a:pPr algn="l">
              <a:defRPr sz="1000" b="1">
                <a:solidFill>
                  <a:srgbClr val="17181C"/>
                </a:solidFill>
                <a:latin typeface="Aptos"/>
              </a:defRPr>
            </a:pPr>
            <a:r>
              <a:rPr sz="3200" dirty="0">
                <a:solidFill>
                  <a:schemeClr val="accent6"/>
                </a:solidFill>
              </a:rPr>
              <a:t>THE PIVOT</a:t>
            </a:r>
          </a:p>
        </p:txBody>
      </p:sp>
      <p:sp>
        <p:nvSpPr>
          <p:cNvPr id="4" name="TextBox 3"/>
          <p:cNvSpPr txBox="1"/>
          <p:nvPr/>
        </p:nvSpPr>
        <p:spPr>
          <a:xfrm>
            <a:off x="749808" y="1600200"/>
            <a:ext cx="10607040" cy="2926080"/>
          </a:xfrm>
          <a:prstGeom prst="rect">
            <a:avLst/>
          </a:prstGeom>
          <a:noFill/>
        </p:spPr>
        <p:txBody>
          <a:bodyPr wrap="square" anchor="ctr">
            <a:spAutoFit/>
          </a:bodyPr>
          <a:lstStyle/>
          <a:p>
            <a:pPr algn="l">
              <a:defRPr sz="4200" b="1">
                <a:solidFill>
                  <a:srgbClr val="FFFFFF"/>
                </a:solidFill>
                <a:latin typeface="Aptos Display"/>
              </a:defRPr>
            </a:pPr>
            <a:r>
              <a:t>Up to here, the y-axis still means TPS.</a:t>
            </a:r>
          </a:p>
        </p:txBody>
      </p:sp>
      <p:sp>
        <p:nvSpPr>
          <p:cNvPr id="5" name="TextBox 4"/>
          <p:cNvSpPr txBox="1"/>
          <p:nvPr/>
        </p:nvSpPr>
        <p:spPr>
          <a:xfrm>
            <a:off x="777240" y="4892040"/>
            <a:ext cx="10058400" cy="731520"/>
          </a:xfrm>
          <a:prstGeom prst="rect">
            <a:avLst/>
          </a:prstGeom>
          <a:noFill/>
        </p:spPr>
        <p:txBody>
          <a:bodyPr wrap="square" anchor="t">
            <a:spAutoFit/>
          </a:bodyPr>
          <a:lstStyle/>
          <a:p>
            <a:pPr algn="l">
              <a:defRPr sz="1800" b="0">
                <a:solidFill>
                  <a:srgbClr val="BEBEBE"/>
                </a:solidFill>
                <a:latin typeface="Aptos"/>
              </a:defRPr>
            </a:pPr>
            <a:r>
              <a:rPr dirty="0"/>
              <a:t>Now the y-axis starts doing marketing work.</a:t>
            </a:r>
          </a:p>
        </p:txBody>
      </p:sp>
      <p:sp>
        <p:nvSpPr>
          <p:cNvPr id="6" name="TextBox 5"/>
          <p:cNvSpPr txBox="1"/>
          <p:nvPr/>
        </p:nvSpPr>
        <p:spPr>
          <a:xfrm>
            <a:off x="502920" y="6510528"/>
            <a:ext cx="2377440" cy="164592"/>
          </a:xfrm>
          <a:prstGeom prst="rect">
            <a:avLst/>
          </a:prstGeom>
          <a:noFill/>
        </p:spPr>
        <p:txBody>
          <a:bodyPr wrap="square" anchor="t">
            <a:spAutoFit/>
          </a:bodyPr>
          <a:lstStyle/>
          <a:p>
            <a:pPr algn="l">
              <a:defRPr sz="750" b="1">
                <a:solidFill>
                  <a:srgbClr val="AAAAAA"/>
                </a:solidFill>
                <a:latin typeface="Aptos"/>
              </a:defRPr>
            </a:pPr>
            <a:r>
              <a:t>MY DISHONEST BENCHMARK</a:t>
            </a:r>
          </a:p>
        </p:txBody>
      </p:sp>
      <p:sp>
        <p:nvSpPr>
          <p:cNvPr id="7" name="TextBox 6"/>
          <p:cNvSpPr txBox="1"/>
          <p:nvPr/>
        </p:nvSpPr>
        <p:spPr>
          <a:xfrm>
            <a:off x="11155680" y="6473952"/>
            <a:ext cx="502920" cy="182880"/>
          </a:xfrm>
          <a:prstGeom prst="rect">
            <a:avLst/>
          </a:prstGeom>
          <a:noFill/>
        </p:spPr>
        <p:txBody>
          <a:bodyPr wrap="square" anchor="t">
            <a:spAutoFit/>
          </a:bodyPr>
          <a:lstStyle/>
          <a:p>
            <a:pPr algn="r">
              <a:defRPr sz="800" b="1">
                <a:solidFill>
                  <a:srgbClr val="AAAAAA"/>
                </a:solidFill>
                <a:latin typeface="Aptos"/>
              </a:defRPr>
            </a:pPr>
            <a:r>
              <a:t>27</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 name="TextBox 1"/>
          <p:cNvSpPr txBox="1"/>
          <p:nvPr/>
        </p:nvSpPr>
        <p:spPr>
          <a:xfrm>
            <a:off x="594360" y="429768"/>
            <a:ext cx="4572000" cy="584775"/>
          </a:xfrm>
          <a:prstGeom prst="rect">
            <a:avLst/>
          </a:prstGeom>
          <a:noFill/>
        </p:spPr>
        <p:txBody>
          <a:bodyPr wrap="square" anchor="t">
            <a:spAutoFit/>
          </a:bodyPr>
          <a:lstStyle/>
          <a:p>
            <a:pPr algn="l">
              <a:defRPr sz="1000" b="1">
                <a:solidFill>
                  <a:srgbClr val="FF655C"/>
                </a:solidFill>
                <a:latin typeface="Aptos"/>
              </a:defRPr>
            </a:pPr>
            <a:r>
              <a:rPr sz="3200" dirty="0">
                <a:solidFill>
                  <a:srgbClr val="F2F2F2"/>
                </a:solidFill>
              </a:rPr>
              <a:t>CHANGE THE UNIT</a:t>
            </a:r>
          </a:p>
        </p:txBody>
      </p:sp>
      <p:sp>
        <p:nvSpPr>
          <p:cNvPr id="3" name="TextBox 2"/>
          <p:cNvSpPr txBox="1"/>
          <p:nvPr/>
        </p:nvSpPr>
        <p:spPr>
          <a:xfrm>
            <a:off x="594360" y="958716"/>
            <a:ext cx="10515600" cy="538609"/>
          </a:xfrm>
          <a:prstGeom prst="rect">
            <a:avLst/>
          </a:prstGeom>
          <a:noFill/>
        </p:spPr>
        <p:txBody>
          <a:bodyPr wrap="square" anchor="t">
            <a:spAutoFit/>
          </a:bodyPr>
          <a:lstStyle/>
          <a:p>
            <a:pPr algn="l">
              <a:defRPr sz="2900" b="1">
                <a:solidFill>
                  <a:srgbClr val="F2F2F2"/>
                </a:solidFill>
                <a:latin typeface="Aptos Display"/>
              </a:defRPr>
            </a:pPr>
            <a:r>
              <a:rPr dirty="0">
                <a:solidFill>
                  <a:srgbClr val="F2F2F2"/>
                </a:solidFill>
              </a:rPr>
              <a:t>batch ×8</a:t>
            </a:r>
          </a:p>
        </p:txBody>
      </p:sp>
      <p:sp>
        <p:nvSpPr>
          <p:cNvPr id="4" name="Rounded Rectangle 3"/>
          <p:cNvSpPr/>
          <p:nvPr/>
        </p:nvSpPr>
        <p:spPr>
          <a:xfrm>
            <a:off x="685800" y="1645920"/>
            <a:ext cx="6217920" cy="2423160"/>
          </a:xfrm>
          <a:prstGeom prst="roundRect">
            <a:avLst/>
          </a:prstGeom>
          <a:solidFill>
            <a:srgbClr val="222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5" name="TextBox 4"/>
          <p:cNvSpPr txBox="1"/>
          <p:nvPr/>
        </p:nvSpPr>
        <p:spPr>
          <a:xfrm>
            <a:off x="914400" y="1874519"/>
            <a:ext cx="2194560" cy="274320"/>
          </a:xfrm>
          <a:prstGeom prst="rect">
            <a:avLst/>
          </a:prstGeom>
          <a:noFill/>
        </p:spPr>
        <p:txBody>
          <a:bodyPr wrap="square" anchor="t">
            <a:spAutoFit/>
          </a:bodyPr>
          <a:lstStyle/>
          <a:p>
            <a:pPr algn="l">
              <a:defRPr sz="1300" b="1">
                <a:solidFill>
                  <a:srgbClr val="BEBEBE"/>
                </a:solidFill>
                <a:latin typeface="Aptos"/>
              </a:defRPr>
            </a:pPr>
            <a:r>
              <a:rPr dirty="0"/>
              <a:t>ONE TRANSACTION</a:t>
            </a:r>
          </a:p>
        </p:txBody>
      </p:sp>
      <p:sp>
        <p:nvSpPr>
          <p:cNvPr id="6" name="Rounded Rectangle 5"/>
          <p:cNvSpPr/>
          <p:nvPr/>
        </p:nvSpPr>
        <p:spPr>
          <a:xfrm>
            <a:off x="914400" y="2560320"/>
            <a:ext cx="512064" cy="512064"/>
          </a:xfrm>
          <a:prstGeom prst="roundRect">
            <a:avLst/>
          </a:prstGeom>
          <a:solidFill>
            <a:srgbClr val="00C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7" name="TextBox 6"/>
          <p:cNvSpPr txBox="1"/>
          <p:nvPr/>
        </p:nvSpPr>
        <p:spPr>
          <a:xfrm>
            <a:off x="914400" y="2706624"/>
            <a:ext cx="512064" cy="164592"/>
          </a:xfrm>
          <a:prstGeom prst="rect">
            <a:avLst/>
          </a:prstGeom>
          <a:noFill/>
        </p:spPr>
        <p:txBody>
          <a:bodyPr wrap="square" anchor="t">
            <a:spAutoFit/>
          </a:bodyPr>
          <a:lstStyle/>
          <a:p>
            <a:pPr algn="ctr">
              <a:defRPr sz="1100" b="1">
                <a:solidFill>
                  <a:srgbClr val="17181C"/>
                </a:solidFill>
                <a:latin typeface="Aptos"/>
              </a:defRPr>
            </a:pPr>
            <a:r>
              <a:t>1</a:t>
            </a:r>
          </a:p>
        </p:txBody>
      </p:sp>
      <p:sp>
        <p:nvSpPr>
          <p:cNvPr id="8" name="Rounded Rectangle 7"/>
          <p:cNvSpPr/>
          <p:nvPr/>
        </p:nvSpPr>
        <p:spPr>
          <a:xfrm>
            <a:off x="1591056" y="2560320"/>
            <a:ext cx="512064" cy="512064"/>
          </a:xfrm>
          <a:prstGeom prst="roundRect">
            <a:avLst/>
          </a:prstGeom>
          <a:solidFill>
            <a:srgbClr val="F7C5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9" name="TextBox 8"/>
          <p:cNvSpPr txBox="1"/>
          <p:nvPr/>
        </p:nvSpPr>
        <p:spPr>
          <a:xfrm>
            <a:off x="1591056" y="2706624"/>
            <a:ext cx="512064" cy="164592"/>
          </a:xfrm>
          <a:prstGeom prst="rect">
            <a:avLst/>
          </a:prstGeom>
          <a:noFill/>
        </p:spPr>
        <p:txBody>
          <a:bodyPr wrap="square" anchor="t">
            <a:spAutoFit/>
          </a:bodyPr>
          <a:lstStyle/>
          <a:p>
            <a:pPr algn="ctr">
              <a:defRPr sz="1100" b="1">
                <a:solidFill>
                  <a:srgbClr val="17181C"/>
                </a:solidFill>
                <a:latin typeface="Aptos"/>
              </a:defRPr>
            </a:pPr>
            <a:r>
              <a:t>2</a:t>
            </a:r>
          </a:p>
        </p:txBody>
      </p:sp>
      <p:sp>
        <p:nvSpPr>
          <p:cNvPr id="10" name="Rounded Rectangle 9"/>
          <p:cNvSpPr/>
          <p:nvPr/>
        </p:nvSpPr>
        <p:spPr>
          <a:xfrm>
            <a:off x="2267712" y="2560320"/>
            <a:ext cx="512064" cy="512064"/>
          </a:xfrm>
          <a:prstGeom prst="roundRect">
            <a:avLst/>
          </a:prstGeom>
          <a:solidFill>
            <a:srgbClr val="FF6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11" name="TextBox 10"/>
          <p:cNvSpPr txBox="1"/>
          <p:nvPr/>
        </p:nvSpPr>
        <p:spPr>
          <a:xfrm>
            <a:off x="2267712" y="2706624"/>
            <a:ext cx="512064" cy="164592"/>
          </a:xfrm>
          <a:prstGeom prst="rect">
            <a:avLst/>
          </a:prstGeom>
          <a:noFill/>
        </p:spPr>
        <p:txBody>
          <a:bodyPr wrap="square" anchor="t">
            <a:spAutoFit/>
          </a:bodyPr>
          <a:lstStyle/>
          <a:p>
            <a:pPr algn="ctr">
              <a:defRPr sz="1100" b="1">
                <a:solidFill>
                  <a:srgbClr val="17181C"/>
                </a:solidFill>
                <a:latin typeface="Aptos"/>
              </a:defRPr>
            </a:pPr>
            <a:r>
              <a:t>3</a:t>
            </a:r>
          </a:p>
        </p:txBody>
      </p:sp>
      <p:sp>
        <p:nvSpPr>
          <p:cNvPr id="12" name="Rounded Rectangle 11"/>
          <p:cNvSpPr/>
          <p:nvPr/>
        </p:nvSpPr>
        <p:spPr>
          <a:xfrm>
            <a:off x="2944368" y="2560320"/>
            <a:ext cx="512064" cy="512064"/>
          </a:xfrm>
          <a:prstGeom prst="roundRect">
            <a:avLst/>
          </a:prstGeom>
          <a:solidFill>
            <a:srgbClr val="AEE0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13" name="TextBox 12"/>
          <p:cNvSpPr txBox="1"/>
          <p:nvPr/>
        </p:nvSpPr>
        <p:spPr>
          <a:xfrm>
            <a:off x="2944368" y="2706624"/>
            <a:ext cx="512064" cy="164592"/>
          </a:xfrm>
          <a:prstGeom prst="rect">
            <a:avLst/>
          </a:prstGeom>
          <a:noFill/>
        </p:spPr>
        <p:txBody>
          <a:bodyPr wrap="square" anchor="t">
            <a:spAutoFit/>
          </a:bodyPr>
          <a:lstStyle/>
          <a:p>
            <a:pPr algn="ctr">
              <a:defRPr sz="1100" b="1">
                <a:solidFill>
                  <a:srgbClr val="17181C"/>
                </a:solidFill>
                <a:latin typeface="Aptos"/>
              </a:defRPr>
            </a:pPr>
            <a:r>
              <a:t>4</a:t>
            </a:r>
          </a:p>
        </p:txBody>
      </p:sp>
      <p:sp>
        <p:nvSpPr>
          <p:cNvPr id="14" name="Rounded Rectangle 13"/>
          <p:cNvSpPr/>
          <p:nvPr/>
        </p:nvSpPr>
        <p:spPr>
          <a:xfrm>
            <a:off x="3621024" y="2560320"/>
            <a:ext cx="512064" cy="512064"/>
          </a:xfrm>
          <a:prstGeom prst="roundRect">
            <a:avLst/>
          </a:prstGeom>
          <a:solidFill>
            <a:srgbClr val="00C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15" name="TextBox 14"/>
          <p:cNvSpPr txBox="1"/>
          <p:nvPr/>
        </p:nvSpPr>
        <p:spPr>
          <a:xfrm>
            <a:off x="3621024" y="2706624"/>
            <a:ext cx="512064" cy="164592"/>
          </a:xfrm>
          <a:prstGeom prst="rect">
            <a:avLst/>
          </a:prstGeom>
          <a:noFill/>
        </p:spPr>
        <p:txBody>
          <a:bodyPr wrap="square" anchor="t">
            <a:spAutoFit/>
          </a:bodyPr>
          <a:lstStyle/>
          <a:p>
            <a:pPr algn="ctr">
              <a:defRPr sz="1100" b="1">
                <a:solidFill>
                  <a:srgbClr val="17181C"/>
                </a:solidFill>
                <a:latin typeface="Aptos"/>
              </a:defRPr>
            </a:pPr>
            <a:r>
              <a:t>5</a:t>
            </a:r>
          </a:p>
        </p:txBody>
      </p:sp>
      <p:sp>
        <p:nvSpPr>
          <p:cNvPr id="16" name="Rounded Rectangle 15"/>
          <p:cNvSpPr/>
          <p:nvPr/>
        </p:nvSpPr>
        <p:spPr>
          <a:xfrm>
            <a:off x="4297680" y="2560320"/>
            <a:ext cx="512064" cy="512064"/>
          </a:xfrm>
          <a:prstGeom prst="roundRect">
            <a:avLst/>
          </a:prstGeom>
          <a:solidFill>
            <a:srgbClr val="F7C5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17" name="TextBox 16"/>
          <p:cNvSpPr txBox="1"/>
          <p:nvPr/>
        </p:nvSpPr>
        <p:spPr>
          <a:xfrm>
            <a:off x="4297680" y="2706624"/>
            <a:ext cx="512064" cy="164592"/>
          </a:xfrm>
          <a:prstGeom prst="rect">
            <a:avLst/>
          </a:prstGeom>
          <a:noFill/>
        </p:spPr>
        <p:txBody>
          <a:bodyPr wrap="square" anchor="t">
            <a:spAutoFit/>
          </a:bodyPr>
          <a:lstStyle/>
          <a:p>
            <a:pPr algn="ctr">
              <a:defRPr sz="1100" b="1">
                <a:solidFill>
                  <a:srgbClr val="17181C"/>
                </a:solidFill>
                <a:latin typeface="Aptos"/>
              </a:defRPr>
            </a:pPr>
            <a:r>
              <a:t>6</a:t>
            </a:r>
          </a:p>
        </p:txBody>
      </p:sp>
      <p:sp>
        <p:nvSpPr>
          <p:cNvPr id="18" name="Rounded Rectangle 17"/>
          <p:cNvSpPr/>
          <p:nvPr/>
        </p:nvSpPr>
        <p:spPr>
          <a:xfrm>
            <a:off x="4974336" y="2560320"/>
            <a:ext cx="512064" cy="512064"/>
          </a:xfrm>
          <a:prstGeom prst="roundRect">
            <a:avLst/>
          </a:prstGeom>
          <a:solidFill>
            <a:srgbClr val="FF6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19" name="TextBox 18"/>
          <p:cNvSpPr txBox="1"/>
          <p:nvPr/>
        </p:nvSpPr>
        <p:spPr>
          <a:xfrm>
            <a:off x="4974336" y="2706624"/>
            <a:ext cx="512064" cy="164592"/>
          </a:xfrm>
          <a:prstGeom prst="rect">
            <a:avLst/>
          </a:prstGeom>
          <a:noFill/>
        </p:spPr>
        <p:txBody>
          <a:bodyPr wrap="square" anchor="t">
            <a:spAutoFit/>
          </a:bodyPr>
          <a:lstStyle/>
          <a:p>
            <a:pPr algn="ctr">
              <a:defRPr sz="1100" b="1">
                <a:solidFill>
                  <a:srgbClr val="17181C"/>
                </a:solidFill>
                <a:latin typeface="Aptos"/>
              </a:defRPr>
            </a:pPr>
            <a:r>
              <a:t>7</a:t>
            </a:r>
          </a:p>
        </p:txBody>
      </p:sp>
      <p:sp>
        <p:nvSpPr>
          <p:cNvPr id="20" name="Rounded Rectangle 19"/>
          <p:cNvSpPr/>
          <p:nvPr/>
        </p:nvSpPr>
        <p:spPr>
          <a:xfrm>
            <a:off x="5650992" y="2560320"/>
            <a:ext cx="512064" cy="512064"/>
          </a:xfrm>
          <a:prstGeom prst="roundRect">
            <a:avLst/>
          </a:prstGeom>
          <a:solidFill>
            <a:srgbClr val="AEE0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21" name="TextBox 20"/>
          <p:cNvSpPr txBox="1"/>
          <p:nvPr/>
        </p:nvSpPr>
        <p:spPr>
          <a:xfrm>
            <a:off x="5650992" y="2706624"/>
            <a:ext cx="512064" cy="164592"/>
          </a:xfrm>
          <a:prstGeom prst="rect">
            <a:avLst/>
          </a:prstGeom>
          <a:noFill/>
        </p:spPr>
        <p:txBody>
          <a:bodyPr wrap="square" anchor="t">
            <a:spAutoFit/>
          </a:bodyPr>
          <a:lstStyle/>
          <a:p>
            <a:pPr algn="ctr">
              <a:defRPr sz="1100" b="1">
                <a:solidFill>
                  <a:srgbClr val="17181C"/>
                </a:solidFill>
                <a:latin typeface="Aptos"/>
              </a:defRPr>
            </a:pPr>
            <a:r>
              <a:t>8</a:t>
            </a:r>
          </a:p>
        </p:txBody>
      </p:sp>
      <p:sp>
        <p:nvSpPr>
          <p:cNvPr id="22" name="TextBox 21"/>
          <p:cNvSpPr txBox="1"/>
          <p:nvPr/>
        </p:nvSpPr>
        <p:spPr>
          <a:xfrm>
            <a:off x="914400" y="3429000"/>
            <a:ext cx="4389120" cy="320040"/>
          </a:xfrm>
          <a:prstGeom prst="rect">
            <a:avLst/>
          </a:prstGeom>
          <a:noFill/>
        </p:spPr>
        <p:txBody>
          <a:bodyPr wrap="square" anchor="t">
            <a:spAutoFit/>
          </a:bodyPr>
          <a:lstStyle/>
          <a:p>
            <a:pPr algn="l">
              <a:defRPr sz="1500" b="1">
                <a:solidFill>
                  <a:srgbClr val="F2F2F2"/>
                </a:solidFill>
                <a:latin typeface="Aptos"/>
              </a:defRPr>
            </a:pPr>
            <a:r>
              <a:rPr dirty="0"/>
              <a:t>8 account operations inside it</a:t>
            </a:r>
          </a:p>
        </p:txBody>
      </p:sp>
      <p:sp>
        <p:nvSpPr>
          <p:cNvPr id="23" name="TextBox 22"/>
          <p:cNvSpPr txBox="1"/>
          <p:nvPr/>
        </p:nvSpPr>
        <p:spPr>
          <a:xfrm>
            <a:off x="7543800" y="1691640"/>
            <a:ext cx="3291840" cy="777240"/>
          </a:xfrm>
          <a:prstGeom prst="rect">
            <a:avLst/>
          </a:prstGeom>
          <a:noFill/>
        </p:spPr>
        <p:txBody>
          <a:bodyPr wrap="square" anchor="t">
            <a:spAutoFit/>
          </a:bodyPr>
          <a:lstStyle/>
          <a:p>
            <a:pPr algn="ctr">
              <a:defRPr sz="4400" b="1">
                <a:solidFill>
                  <a:srgbClr val="F2F2F2"/>
                </a:solidFill>
                <a:latin typeface="Aptos Display"/>
              </a:defRPr>
            </a:pPr>
            <a:r>
              <a:rPr lang="en-US" dirty="0"/>
              <a:t>24,099</a:t>
            </a:r>
            <a:endParaRPr dirty="0"/>
          </a:p>
        </p:txBody>
      </p:sp>
      <p:sp>
        <p:nvSpPr>
          <p:cNvPr id="24" name="TextBox 23"/>
          <p:cNvSpPr txBox="1"/>
          <p:nvPr/>
        </p:nvSpPr>
        <p:spPr>
          <a:xfrm>
            <a:off x="7543800" y="2404872"/>
            <a:ext cx="3291840" cy="347472"/>
          </a:xfrm>
          <a:prstGeom prst="rect">
            <a:avLst/>
          </a:prstGeom>
          <a:noFill/>
        </p:spPr>
        <p:txBody>
          <a:bodyPr wrap="square" anchor="t">
            <a:spAutoFit/>
          </a:bodyPr>
          <a:lstStyle/>
          <a:p>
            <a:pPr algn="ctr">
              <a:defRPr sz="1200" b="1">
                <a:solidFill>
                  <a:srgbClr val="FF655C"/>
                </a:solidFill>
                <a:latin typeface="Aptos"/>
              </a:defRPr>
            </a:pPr>
            <a:r>
              <a:t>TPS</a:t>
            </a:r>
          </a:p>
        </p:txBody>
      </p:sp>
      <p:sp>
        <p:nvSpPr>
          <p:cNvPr id="25" name="TextBox 24"/>
          <p:cNvSpPr txBox="1"/>
          <p:nvPr/>
        </p:nvSpPr>
        <p:spPr>
          <a:xfrm>
            <a:off x="8759952" y="2788920"/>
            <a:ext cx="822960" cy="457200"/>
          </a:xfrm>
          <a:prstGeom prst="rect">
            <a:avLst/>
          </a:prstGeom>
          <a:noFill/>
        </p:spPr>
        <p:txBody>
          <a:bodyPr wrap="square" anchor="t">
            <a:spAutoFit/>
          </a:bodyPr>
          <a:lstStyle/>
          <a:p>
            <a:pPr algn="ctr">
              <a:defRPr sz="3000" b="1">
                <a:solidFill>
                  <a:srgbClr val="BEBEBE"/>
                </a:solidFill>
                <a:latin typeface="Aptos"/>
              </a:defRPr>
            </a:pPr>
            <a:r>
              <a:t>→</a:t>
            </a:r>
          </a:p>
        </p:txBody>
      </p:sp>
      <p:sp>
        <p:nvSpPr>
          <p:cNvPr id="26" name="TextBox 25"/>
          <p:cNvSpPr txBox="1"/>
          <p:nvPr/>
        </p:nvSpPr>
        <p:spPr>
          <a:xfrm>
            <a:off x="7543800" y="3337560"/>
            <a:ext cx="3291840" cy="777240"/>
          </a:xfrm>
          <a:prstGeom prst="rect">
            <a:avLst/>
          </a:prstGeom>
          <a:noFill/>
        </p:spPr>
        <p:txBody>
          <a:bodyPr wrap="square" anchor="t">
            <a:spAutoFit/>
          </a:bodyPr>
          <a:lstStyle/>
          <a:p>
            <a:pPr algn="ctr">
              <a:defRPr sz="4400" b="1">
                <a:solidFill>
                  <a:srgbClr val="F2F2F2"/>
                </a:solidFill>
                <a:latin typeface="Aptos Display"/>
              </a:defRPr>
            </a:pPr>
            <a:r>
              <a:rPr lang="en-US" dirty="0"/>
              <a:t>192,790</a:t>
            </a:r>
            <a:endParaRPr dirty="0"/>
          </a:p>
        </p:txBody>
      </p:sp>
      <p:sp>
        <p:nvSpPr>
          <p:cNvPr id="27" name="TextBox 26"/>
          <p:cNvSpPr txBox="1"/>
          <p:nvPr/>
        </p:nvSpPr>
        <p:spPr>
          <a:xfrm>
            <a:off x="7543800" y="4050791"/>
            <a:ext cx="3291840" cy="347472"/>
          </a:xfrm>
          <a:prstGeom prst="rect">
            <a:avLst/>
          </a:prstGeom>
          <a:noFill/>
        </p:spPr>
        <p:txBody>
          <a:bodyPr wrap="square" anchor="t">
            <a:spAutoFit/>
          </a:bodyPr>
          <a:lstStyle/>
          <a:p>
            <a:pPr algn="ctr">
              <a:defRPr sz="1200" b="1">
                <a:solidFill>
                  <a:srgbClr val="00C2D6"/>
                </a:solidFill>
                <a:latin typeface="Aptos"/>
              </a:defRPr>
            </a:pPr>
            <a:r>
              <a:t>REPORTED OPS</a:t>
            </a:r>
          </a:p>
        </p:txBody>
      </p:sp>
      <p:sp>
        <p:nvSpPr>
          <p:cNvPr id="28" name="Rounded Rectangle 27"/>
          <p:cNvSpPr/>
          <p:nvPr/>
        </p:nvSpPr>
        <p:spPr>
          <a:xfrm>
            <a:off x="7973568" y="4754880"/>
            <a:ext cx="2331720" cy="329184"/>
          </a:xfrm>
          <a:prstGeom prst="roundRect">
            <a:avLst/>
          </a:prstGeom>
          <a:solidFill>
            <a:srgbClr val="00C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29" name="TextBox 28"/>
          <p:cNvSpPr txBox="1"/>
          <p:nvPr/>
        </p:nvSpPr>
        <p:spPr>
          <a:xfrm>
            <a:off x="8083296" y="4809744"/>
            <a:ext cx="2112263" cy="246221"/>
          </a:xfrm>
          <a:prstGeom prst="rect">
            <a:avLst/>
          </a:prstGeom>
          <a:noFill/>
        </p:spPr>
        <p:txBody>
          <a:bodyPr wrap="square" anchor="t">
            <a:spAutoFit/>
          </a:bodyPr>
          <a:lstStyle/>
          <a:p>
            <a:pPr algn="l">
              <a:defRPr sz="1000" b="1">
                <a:solidFill>
                  <a:srgbClr val="17181C"/>
                </a:solidFill>
                <a:latin typeface="Aptos"/>
              </a:defRPr>
            </a:pPr>
            <a:r>
              <a:rPr lang="en-US" dirty="0"/>
              <a:t>8</a:t>
            </a:r>
            <a:r>
              <a:rPr dirty="0"/>
              <a:t>.</a:t>
            </a:r>
            <a:r>
              <a:rPr lang="en-US" dirty="0"/>
              <a:t>49</a:t>
            </a:r>
            <a:r>
              <a:rPr dirty="0"/>
              <a:t>× HEADLINE</a:t>
            </a:r>
          </a:p>
        </p:txBody>
      </p:sp>
      <p:sp>
        <p:nvSpPr>
          <p:cNvPr id="30" name="TextBox 29"/>
          <p:cNvSpPr txBox="1"/>
          <p:nvPr/>
        </p:nvSpPr>
        <p:spPr>
          <a:xfrm>
            <a:off x="502920" y="6510528"/>
            <a:ext cx="2377440" cy="164592"/>
          </a:xfrm>
          <a:prstGeom prst="rect">
            <a:avLst/>
          </a:prstGeom>
          <a:noFill/>
        </p:spPr>
        <p:txBody>
          <a:bodyPr wrap="square" anchor="t">
            <a:spAutoFit/>
          </a:bodyPr>
          <a:lstStyle/>
          <a:p>
            <a:pPr algn="l">
              <a:defRPr sz="750" b="1">
                <a:solidFill>
                  <a:srgbClr val="BEBEBE"/>
                </a:solidFill>
                <a:latin typeface="Aptos"/>
              </a:defRPr>
            </a:pPr>
            <a:r>
              <a:t>MY DISHONEST BENCHMARK</a:t>
            </a:r>
          </a:p>
        </p:txBody>
      </p:sp>
      <p:sp>
        <p:nvSpPr>
          <p:cNvPr id="31" name="TextBox 30"/>
          <p:cNvSpPr txBox="1"/>
          <p:nvPr/>
        </p:nvSpPr>
        <p:spPr>
          <a:xfrm>
            <a:off x="11155680" y="6473952"/>
            <a:ext cx="502920" cy="182880"/>
          </a:xfrm>
          <a:prstGeom prst="rect">
            <a:avLst/>
          </a:prstGeom>
          <a:noFill/>
        </p:spPr>
        <p:txBody>
          <a:bodyPr wrap="square" anchor="t">
            <a:spAutoFit/>
          </a:bodyPr>
          <a:lstStyle/>
          <a:p>
            <a:pPr algn="r">
              <a:defRPr sz="800" b="1">
                <a:solidFill>
                  <a:srgbClr val="BEBEBE"/>
                </a:solidFill>
                <a:latin typeface="Aptos"/>
              </a:defRPr>
            </a:pPr>
            <a:r>
              <a:t>28</a:t>
            </a:r>
          </a:p>
        </p:txBody>
      </p:sp>
    </p:spTree>
    <p:extLst>
      <p:ext uri="{BB962C8B-B14F-4D97-AF65-F5344CB8AC3E}">
        <p14:creationId xmlns:p14="http://schemas.microsoft.com/office/powerpoint/2010/main" val="3140923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 name="TextBox 1"/>
          <p:cNvSpPr txBox="1"/>
          <p:nvPr/>
        </p:nvSpPr>
        <p:spPr>
          <a:xfrm>
            <a:off x="594360" y="429768"/>
            <a:ext cx="4572000" cy="584775"/>
          </a:xfrm>
          <a:prstGeom prst="rect">
            <a:avLst/>
          </a:prstGeom>
          <a:noFill/>
        </p:spPr>
        <p:txBody>
          <a:bodyPr wrap="square" anchor="t">
            <a:spAutoFit/>
          </a:bodyPr>
          <a:lstStyle/>
          <a:p>
            <a:pPr algn="l">
              <a:defRPr sz="1000" b="1">
                <a:solidFill>
                  <a:srgbClr val="FF655C"/>
                </a:solidFill>
                <a:latin typeface="Aptos"/>
              </a:defRPr>
            </a:pPr>
            <a:r>
              <a:rPr sz="3200" dirty="0">
                <a:solidFill>
                  <a:srgbClr val="F2F2F2"/>
                </a:solidFill>
              </a:rPr>
              <a:t>BATCH ×32</a:t>
            </a:r>
          </a:p>
        </p:txBody>
      </p:sp>
      <p:sp>
        <p:nvSpPr>
          <p:cNvPr id="3" name="TextBox 2"/>
          <p:cNvSpPr txBox="1"/>
          <p:nvPr/>
        </p:nvSpPr>
        <p:spPr>
          <a:xfrm>
            <a:off x="594360" y="976299"/>
            <a:ext cx="10515600" cy="538609"/>
          </a:xfrm>
          <a:prstGeom prst="rect">
            <a:avLst/>
          </a:prstGeom>
          <a:noFill/>
        </p:spPr>
        <p:txBody>
          <a:bodyPr wrap="square" anchor="t">
            <a:spAutoFit/>
          </a:bodyPr>
          <a:lstStyle/>
          <a:p>
            <a:pPr algn="l">
              <a:defRPr sz="2900" b="1">
                <a:solidFill>
                  <a:srgbClr val="F2F2F2"/>
                </a:solidFill>
                <a:latin typeface="Aptos Display"/>
              </a:defRPr>
            </a:pPr>
            <a:r>
              <a:rPr dirty="0">
                <a:solidFill>
                  <a:srgbClr val="F2F2F2"/>
                </a:solidFill>
              </a:rPr>
              <a:t>bigger </a:t>
            </a:r>
            <a:r>
              <a:rPr lang="en-US" dirty="0">
                <a:solidFill>
                  <a:srgbClr val="F2F2F2"/>
                </a:solidFill>
              </a:rPr>
              <a:t>batch, bigger </a:t>
            </a:r>
            <a:r>
              <a:rPr dirty="0">
                <a:solidFill>
                  <a:srgbClr val="F2F2F2"/>
                </a:solidFill>
              </a:rPr>
              <a:t>headlin</a:t>
            </a:r>
            <a:r>
              <a:rPr lang="en-US" dirty="0">
                <a:solidFill>
                  <a:srgbClr val="F2F2F2"/>
                </a:solidFill>
              </a:rPr>
              <a:t>e</a:t>
            </a:r>
            <a:endParaRPr dirty="0">
              <a:solidFill>
                <a:srgbClr val="F2F2F2"/>
              </a:solidFill>
            </a:endParaRPr>
          </a:p>
        </p:txBody>
      </p:sp>
      <p:sp>
        <p:nvSpPr>
          <p:cNvPr id="4" name="TextBox 3"/>
          <p:cNvSpPr txBox="1"/>
          <p:nvPr/>
        </p:nvSpPr>
        <p:spPr>
          <a:xfrm>
            <a:off x="1097280" y="2057400"/>
            <a:ext cx="3383280" cy="777240"/>
          </a:xfrm>
          <a:prstGeom prst="rect">
            <a:avLst/>
          </a:prstGeom>
          <a:noFill/>
        </p:spPr>
        <p:txBody>
          <a:bodyPr wrap="square" anchor="t">
            <a:spAutoFit/>
          </a:bodyPr>
          <a:lstStyle/>
          <a:p>
            <a:pPr algn="ctr">
              <a:defRPr sz="4400" b="1">
                <a:solidFill>
                  <a:srgbClr val="FF655C"/>
                </a:solidFill>
                <a:latin typeface="Aptos Display"/>
              </a:defRPr>
            </a:pPr>
            <a:r>
              <a:rPr lang="en-US" dirty="0"/>
              <a:t>8,426</a:t>
            </a:r>
            <a:endParaRPr dirty="0"/>
          </a:p>
        </p:txBody>
      </p:sp>
      <p:sp>
        <p:nvSpPr>
          <p:cNvPr id="5" name="TextBox 4"/>
          <p:cNvSpPr txBox="1"/>
          <p:nvPr/>
        </p:nvSpPr>
        <p:spPr>
          <a:xfrm>
            <a:off x="1097280" y="2770632"/>
            <a:ext cx="3383280" cy="347472"/>
          </a:xfrm>
          <a:prstGeom prst="rect">
            <a:avLst/>
          </a:prstGeom>
          <a:noFill/>
        </p:spPr>
        <p:txBody>
          <a:bodyPr wrap="square" anchor="t">
            <a:spAutoFit/>
          </a:bodyPr>
          <a:lstStyle/>
          <a:p>
            <a:pPr algn="ctr">
              <a:defRPr sz="1200" b="1">
                <a:solidFill>
                  <a:srgbClr val="FF655C"/>
                </a:solidFill>
                <a:latin typeface="Aptos"/>
              </a:defRPr>
            </a:pPr>
            <a:r>
              <a:t>TPS</a:t>
            </a:r>
          </a:p>
        </p:txBody>
      </p:sp>
      <p:sp>
        <p:nvSpPr>
          <p:cNvPr id="6" name="TextBox 5"/>
          <p:cNvSpPr txBox="1"/>
          <p:nvPr/>
        </p:nvSpPr>
        <p:spPr>
          <a:xfrm>
            <a:off x="4133087" y="2395728"/>
            <a:ext cx="594360" cy="502920"/>
          </a:xfrm>
          <a:prstGeom prst="rect">
            <a:avLst/>
          </a:prstGeom>
          <a:noFill/>
        </p:spPr>
        <p:txBody>
          <a:bodyPr wrap="square" anchor="t">
            <a:spAutoFit/>
          </a:bodyPr>
          <a:lstStyle/>
          <a:p>
            <a:pPr algn="ctr">
              <a:defRPr sz="3400" b="1">
                <a:solidFill>
                  <a:srgbClr val="FF655C"/>
                </a:solidFill>
                <a:latin typeface="Aptos"/>
              </a:defRPr>
            </a:pPr>
            <a:r>
              <a:t>↓</a:t>
            </a:r>
          </a:p>
        </p:txBody>
      </p:sp>
      <p:sp>
        <p:nvSpPr>
          <p:cNvPr id="7" name="TextBox 6"/>
          <p:cNvSpPr txBox="1"/>
          <p:nvPr/>
        </p:nvSpPr>
        <p:spPr>
          <a:xfrm>
            <a:off x="5486400" y="2057400"/>
            <a:ext cx="3931920" cy="777240"/>
          </a:xfrm>
          <a:prstGeom prst="rect">
            <a:avLst/>
          </a:prstGeom>
          <a:noFill/>
        </p:spPr>
        <p:txBody>
          <a:bodyPr wrap="square" anchor="t">
            <a:spAutoFit/>
          </a:bodyPr>
          <a:lstStyle/>
          <a:p>
            <a:pPr algn="ctr">
              <a:defRPr sz="4400" b="1">
                <a:solidFill>
                  <a:srgbClr val="F2F2F2"/>
                </a:solidFill>
                <a:latin typeface="Aptos Display"/>
              </a:defRPr>
            </a:pPr>
            <a:r>
              <a:rPr lang="en-US" dirty="0"/>
              <a:t>269,617</a:t>
            </a:r>
            <a:endParaRPr dirty="0"/>
          </a:p>
        </p:txBody>
      </p:sp>
      <p:sp>
        <p:nvSpPr>
          <p:cNvPr id="8" name="TextBox 7"/>
          <p:cNvSpPr txBox="1"/>
          <p:nvPr/>
        </p:nvSpPr>
        <p:spPr>
          <a:xfrm>
            <a:off x="5486400" y="2770632"/>
            <a:ext cx="3931920" cy="347472"/>
          </a:xfrm>
          <a:prstGeom prst="rect">
            <a:avLst/>
          </a:prstGeom>
          <a:noFill/>
        </p:spPr>
        <p:txBody>
          <a:bodyPr wrap="square" anchor="t">
            <a:spAutoFit/>
          </a:bodyPr>
          <a:lstStyle/>
          <a:p>
            <a:pPr algn="ctr">
              <a:defRPr sz="1200" b="1">
                <a:solidFill>
                  <a:srgbClr val="00C2D6"/>
                </a:solidFill>
                <a:latin typeface="Aptos"/>
              </a:defRPr>
            </a:pPr>
            <a:r>
              <a:t>REPORTED OPS</a:t>
            </a:r>
          </a:p>
        </p:txBody>
      </p:sp>
      <p:sp>
        <p:nvSpPr>
          <p:cNvPr id="9" name="TextBox 8"/>
          <p:cNvSpPr txBox="1"/>
          <p:nvPr/>
        </p:nvSpPr>
        <p:spPr>
          <a:xfrm>
            <a:off x="9326880" y="2395728"/>
            <a:ext cx="594360" cy="502920"/>
          </a:xfrm>
          <a:prstGeom prst="rect">
            <a:avLst/>
          </a:prstGeom>
          <a:noFill/>
        </p:spPr>
        <p:txBody>
          <a:bodyPr wrap="square" anchor="t">
            <a:spAutoFit/>
          </a:bodyPr>
          <a:lstStyle/>
          <a:p>
            <a:pPr algn="ctr">
              <a:defRPr sz="3400" b="1">
                <a:solidFill>
                  <a:srgbClr val="00C2D6"/>
                </a:solidFill>
                <a:latin typeface="Aptos"/>
              </a:defRPr>
            </a:pPr>
            <a:r>
              <a:t>↑</a:t>
            </a:r>
          </a:p>
        </p:txBody>
      </p:sp>
      <p:sp>
        <p:nvSpPr>
          <p:cNvPr id="10" name="TextBox 9"/>
          <p:cNvSpPr txBox="1"/>
          <p:nvPr/>
        </p:nvSpPr>
        <p:spPr>
          <a:xfrm>
            <a:off x="3474720" y="4114800"/>
            <a:ext cx="5120640" cy="861774"/>
          </a:xfrm>
          <a:prstGeom prst="rect">
            <a:avLst/>
          </a:prstGeom>
          <a:noFill/>
        </p:spPr>
        <p:txBody>
          <a:bodyPr wrap="square" anchor="t">
            <a:spAutoFit/>
          </a:bodyPr>
          <a:lstStyle/>
          <a:p>
            <a:pPr algn="ctr">
              <a:defRPr sz="2500" b="1">
                <a:solidFill>
                  <a:srgbClr val="F2F2F2"/>
                </a:solidFill>
                <a:latin typeface="Aptos"/>
              </a:defRPr>
            </a:pPr>
            <a:br>
              <a:rPr dirty="0">
                <a:solidFill>
                  <a:srgbClr val="F2F2F2"/>
                </a:solidFill>
              </a:rPr>
            </a:br>
            <a:r>
              <a:rPr dirty="0">
                <a:solidFill>
                  <a:srgbClr val="F2F2F2"/>
                </a:solidFill>
              </a:rPr>
              <a:t>Marketing metric rises.</a:t>
            </a:r>
          </a:p>
        </p:txBody>
      </p:sp>
      <p:sp>
        <p:nvSpPr>
          <p:cNvPr id="11" name="Rounded Rectangle 10"/>
          <p:cNvSpPr/>
          <p:nvPr/>
        </p:nvSpPr>
        <p:spPr>
          <a:xfrm>
            <a:off x="4800600" y="5303520"/>
            <a:ext cx="2514600" cy="329184"/>
          </a:xfrm>
          <a:prstGeom prst="roundRect">
            <a:avLst/>
          </a:prstGeom>
          <a:solidFill>
            <a:srgbClr val="FF6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12" name="TextBox 11"/>
          <p:cNvSpPr txBox="1"/>
          <p:nvPr/>
        </p:nvSpPr>
        <p:spPr>
          <a:xfrm>
            <a:off x="4910328" y="5358383"/>
            <a:ext cx="2295144" cy="246221"/>
          </a:xfrm>
          <a:prstGeom prst="rect">
            <a:avLst/>
          </a:prstGeom>
          <a:noFill/>
        </p:spPr>
        <p:txBody>
          <a:bodyPr wrap="square" anchor="t">
            <a:spAutoFit/>
          </a:bodyPr>
          <a:lstStyle/>
          <a:p>
            <a:pPr algn="l">
              <a:defRPr sz="1000" b="1">
                <a:solidFill>
                  <a:srgbClr val="17181C"/>
                </a:solidFill>
                <a:latin typeface="Aptos"/>
              </a:defRPr>
            </a:pPr>
            <a:r>
              <a:rPr lang="en-US" dirty="0"/>
              <a:t>11.87</a:t>
            </a:r>
            <a:r>
              <a:rPr dirty="0"/>
              <a:t>× HEADLINE</a:t>
            </a:r>
          </a:p>
        </p:txBody>
      </p:sp>
      <p:sp>
        <p:nvSpPr>
          <p:cNvPr id="13" name="TextBox 12"/>
          <p:cNvSpPr txBox="1"/>
          <p:nvPr/>
        </p:nvSpPr>
        <p:spPr>
          <a:xfrm>
            <a:off x="502920" y="6510528"/>
            <a:ext cx="2377440" cy="164592"/>
          </a:xfrm>
          <a:prstGeom prst="rect">
            <a:avLst/>
          </a:prstGeom>
          <a:noFill/>
        </p:spPr>
        <p:txBody>
          <a:bodyPr wrap="square" anchor="t">
            <a:spAutoFit/>
          </a:bodyPr>
          <a:lstStyle/>
          <a:p>
            <a:pPr algn="l">
              <a:defRPr sz="750" b="1">
                <a:solidFill>
                  <a:srgbClr val="BEBEBE"/>
                </a:solidFill>
                <a:latin typeface="Aptos"/>
              </a:defRPr>
            </a:pPr>
            <a:r>
              <a:t>MY DISHONEST BENCHMARK</a:t>
            </a:r>
          </a:p>
        </p:txBody>
      </p:sp>
      <p:sp>
        <p:nvSpPr>
          <p:cNvPr id="14" name="TextBox 13"/>
          <p:cNvSpPr txBox="1"/>
          <p:nvPr/>
        </p:nvSpPr>
        <p:spPr>
          <a:xfrm>
            <a:off x="11155680" y="6473952"/>
            <a:ext cx="502920" cy="182880"/>
          </a:xfrm>
          <a:prstGeom prst="rect">
            <a:avLst/>
          </a:prstGeom>
          <a:noFill/>
        </p:spPr>
        <p:txBody>
          <a:bodyPr wrap="square" anchor="t">
            <a:spAutoFit/>
          </a:bodyPr>
          <a:lstStyle/>
          <a:p>
            <a:pPr algn="r">
              <a:defRPr sz="800" b="1">
                <a:solidFill>
                  <a:srgbClr val="BEBEBE"/>
                </a:solidFill>
                <a:latin typeface="Aptos"/>
              </a:defRPr>
            </a:pPr>
            <a:r>
              <a:t>29</a:t>
            </a:r>
          </a:p>
        </p:txBody>
      </p:sp>
    </p:spTree>
    <p:extLst>
      <p:ext uri="{BB962C8B-B14F-4D97-AF65-F5344CB8AC3E}">
        <p14:creationId xmlns:p14="http://schemas.microsoft.com/office/powerpoint/2010/main" val="25948179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 name="Rounded Rectangle 1"/>
          <p:cNvSpPr/>
          <p:nvPr/>
        </p:nvSpPr>
        <p:spPr>
          <a:xfrm>
            <a:off x="685799" y="594359"/>
            <a:ext cx="5732586" cy="639639"/>
          </a:xfrm>
          <a:prstGeom prst="roundRect">
            <a:avLst/>
          </a:prstGeom>
          <a:solidFill>
            <a:srgbClr val="FF6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95528" y="649224"/>
            <a:ext cx="6572426" cy="584775"/>
          </a:xfrm>
          <a:prstGeom prst="rect">
            <a:avLst/>
          </a:prstGeom>
          <a:noFill/>
        </p:spPr>
        <p:txBody>
          <a:bodyPr wrap="square" anchor="t">
            <a:spAutoFit/>
          </a:bodyPr>
          <a:lstStyle/>
          <a:p>
            <a:pPr algn="l">
              <a:defRPr sz="1000" b="1">
                <a:solidFill>
                  <a:srgbClr val="17181C"/>
                </a:solidFill>
                <a:latin typeface="Aptos"/>
              </a:defRPr>
            </a:pPr>
            <a:r>
              <a:rPr sz="3200" dirty="0"/>
              <a:t>BENCHMARKETING TRICK #2</a:t>
            </a:r>
          </a:p>
        </p:txBody>
      </p:sp>
      <p:sp>
        <p:nvSpPr>
          <p:cNvPr id="4" name="TextBox 3"/>
          <p:cNvSpPr txBox="1"/>
          <p:nvPr/>
        </p:nvSpPr>
        <p:spPr>
          <a:xfrm>
            <a:off x="749808" y="1600200"/>
            <a:ext cx="10607040" cy="2926080"/>
          </a:xfrm>
          <a:prstGeom prst="rect">
            <a:avLst/>
          </a:prstGeom>
          <a:noFill/>
        </p:spPr>
        <p:txBody>
          <a:bodyPr wrap="square" anchor="ctr">
            <a:spAutoFit/>
          </a:bodyPr>
          <a:lstStyle/>
          <a:p>
            <a:pPr algn="l">
              <a:defRPr sz="4200" b="1">
                <a:solidFill>
                  <a:srgbClr val="FFFFFF"/>
                </a:solidFill>
                <a:latin typeface="Aptos Display"/>
              </a:defRPr>
            </a:pPr>
            <a:r>
              <a:t>TPS ↓    OPS ↑    Headline ↑↑↑</a:t>
            </a:r>
          </a:p>
        </p:txBody>
      </p:sp>
      <p:sp>
        <p:nvSpPr>
          <p:cNvPr id="5" name="TextBox 4"/>
          <p:cNvSpPr txBox="1"/>
          <p:nvPr/>
        </p:nvSpPr>
        <p:spPr>
          <a:xfrm>
            <a:off x="777240" y="4892040"/>
            <a:ext cx="10058400" cy="731520"/>
          </a:xfrm>
          <a:prstGeom prst="rect">
            <a:avLst/>
          </a:prstGeom>
          <a:noFill/>
        </p:spPr>
        <p:txBody>
          <a:bodyPr wrap="square" anchor="t">
            <a:spAutoFit/>
          </a:bodyPr>
          <a:lstStyle/>
          <a:p>
            <a:pPr algn="l">
              <a:defRPr sz="1800" b="0">
                <a:solidFill>
                  <a:srgbClr val="BEBEBE"/>
                </a:solidFill>
                <a:latin typeface="Aptos"/>
              </a:defRPr>
            </a:pPr>
            <a:r>
              <a:rPr dirty="0"/>
              <a:t>The number is real. The comparison changed.</a:t>
            </a:r>
          </a:p>
        </p:txBody>
      </p:sp>
      <p:sp>
        <p:nvSpPr>
          <p:cNvPr id="6" name="TextBox 5"/>
          <p:cNvSpPr txBox="1"/>
          <p:nvPr/>
        </p:nvSpPr>
        <p:spPr>
          <a:xfrm>
            <a:off x="502920" y="6510528"/>
            <a:ext cx="2377440" cy="164592"/>
          </a:xfrm>
          <a:prstGeom prst="rect">
            <a:avLst/>
          </a:prstGeom>
          <a:noFill/>
        </p:spPr>
        <p:txBody>
          <a:bodyPr wrap="square" anchor="t">
            <a:spAutoFit/>
          </a:bodyPr>
          <a:lstStyle/>
          <a:p>
            <a:pPr algn="l">
              <a:defRPr sz="750" b="1">
                <a:solidFill>
                  <a:srgbClr val="AAAAAA"/>
                </a:solidFill>
                <a:latin typeface="Aptos"/>
              </a:defRPr>
            </a:pPr>
            <a:r>
              <a:t>MY DISHONEST BENCHMARK</a:t>
            </a:r>
          </a:p>
        </p:txBody>
      </p:sp>
      <p:sp>
        <p:nvSpPr>
          <p:cNvPr id="7" name="TextBox 6"/>
          <p:cNvSpPr txBox="1"/>
          <p:nvPr/>
        </p:nvSpPr>
        <p:spPr>
          <a:xfrm>
            <a:off x="11155680" y="6473952"/>
            <a:ext cx="502920" cy="182880"/>
          </a:xfrm>
          <a:prstGeom prst="rect">
            <a:avLst/>
          </a:prstGeom>
          <a:noFill/>
        </p:spPr>
        <p:txBody>
          <a:bodyPr wrap="square" anchor="t">
            <a:spAutoFit/>
          </a:bodyPr>
          <a:lstStyle/>
          <a:p>
            <a:pPr algn="r">
              <a:defRPr sz="800" b="1">
                <a:solidFill>
                  <a:srgbClr val="AAAAAA"/>
                </a:solidFill>
                <a:latin typeface="Aptos"/>
              </a:defRPr>
            </a:pPr>
            <a:r>
              <a:t>30</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 name="TextBox 1"/>
          <p:cNvSpPr txBox="1"/>
          <p:nvPr/>
        </p:nvSpPr>
        <p:spPr>
          <a:xfrm>
            <a:off x="594360" y="148412"/>
            <a:ext cx="5501640" cy="584775"/>
          </a:xfrm>
          <a:prstGeom prst="rect">
            <a:avLst/>
          </a:prstGeom>
          <a:noFill/>
        </p:spPr>
        <p:txBody>
          <a:bodyPr wrap="square" anchor="t">
            <a:spAutoFit/>
          </a:bodyPr>
          <a:lstStyle/>
          <a:p>
            <a:pPr algn="l">
              <a:defRPr sz="1000" b="1">
                <a:solidFill>
                  <a:srgbClr val="FF655C"/>
                </a:solidFill>
                <a:latin typeface="Aptos"/>
              </a:defRPr>
            </a:pPr>
            <a:r>
              <a:rPr sz="3200" dirty="0">
                <a:solidFill>
                  <a:srgbClr val="F2F2F2"/>
                </a:solidFill>
              </a:rPr>
              <a:t>ALL CHEATS + BATCH ×32</a:t>
            </a:r>
          </a:p>
        </p:txBody>
      </p:sp>
      <p:sp>
        <p:nvSpPr>
          <p:cNvPr id="3" name="TextBox 2"/>
          <p:cNvSpPr txBox="1"/>
          <p:nvPr/>
        </p:nvSpPr>
        <p:spPr>
          <a:xfrm>
            <a:off x="594360" y="694944"/>
            <a:ext cx="10515600" cy="621792"/>
          </a:xfrm>
          <a:prstGeom prst="rect">
            <a:avLst/>
          </a:prstGeom>
          <a:noFill/>
        </p:spPr>
        <p:txBody>
          <a:bodyPr wrap="square" anchor="t">
            <a:spAutoFit/>
          </a:bodyPr>
          <a:lstStyle/>
          <a:p>
            <a:pPr algn="l">
              <a:defRPr sz="2900" b="1">
                <a:solidFill>
                  <a:srgbClr val="F2F2F2"/>
                </a:solidFill>
                <a:latin typeface="Aptos Display"/>
              </a:defRPr>
            </a:pPr>
            <a:r>
              <a:t>Grand finale: stack the deck</a:t>
            </a:r>
          </a:p>
        </p:txBody>
      </p:sp>
      <p:sp>
        <p:nvSpPr>
          <p:cNvPr id="4" name="Rounded Rectangle 3"/>
          <p:cNvSpPr/>
          <p:nvPr/>
        </p:nvSpPr>
        <p:spPr>
          <a:xfrm>
            <a:off x="685800" y="1508760"/>
            <a:ext cx="3063240" cy="329184"/>
          </a:xfrm>
          <a:prstGeom prst="roundRect">
            <a:avLst/>
          </a:prstGeom>
          <a:solidFill>
            <a:srgbClr val="00C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5" name="TextBox 4"/>
          <p:cNvSpPr txBox="1"/>
          <p:nvPr/>
        </p:nvSpPr>
        <p:spPr>
          <a:xfrm>
            <a:off x="795528" y="1563624"/>
            <a:ext cx="2843784" cy="201168"/>
          </a:xfrm>
          <a:prstGeom prst="rect">
            <a:avLst/>
          </a:prstGeom>
          <a:noFill/>
        </p:spPr>
        <p:txBody>
          <a:bodyPr wrap="square" anchor="t">
            <a:spAutoFit/>
          </a:bodyPr>
          <a:lstStyle/>
          <a:p>
            <a:pPr algn="l">
              <a:defRPr sz="1000" b="1">
                <a:solidFill>
                  <a:srgbClr val="17181C"/>
                </a:solidFill>
                <a:latin typeface="Aptos"/>
              </a:defRPr>
            </a:pPr>
            <a:r>
              <a:t>SQL FUNCTION</a:t>
            </a:r>
          </a:p>
        </p:txBody>
      </p:sp>
      <p:sp>
        <p:nvSpPr>
          <p:cNvPr id="6" name="Rounded Rectangle 5"/>
          <p:cNvSpPr/>
          <p:nvPr/>
        </p:nvSpPr>
        <p:spPr>
          <a:xfrm>
            <a:off x="4389120" y="1508760"/>
            <a:ext cx="3063240" cy="329184"/>
          </a:xfrm>
          <a:prstGeom prst="roundRect">
            <a:avLst/>
          </a:prstGeom>
          <a:solidFill>
            <a:srgbClr val="F7C5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7" name="TextBox 6"/>
          <p:cNvSpPr txBox="1"/>
          <p:nvPr/>
        </p:nvSpPr>
        <p:spPr>
          <a:xfrm>
            <a:off x="4498848" y="1563624"/>
            <a:ext cx="2843784" cy="201168"/>
          </a:xfrm>
          <a:prstGeom prst="rect">
            <a:avLst/>
          </a:prstGeom>
          <a:noFill/>
        </p:spPr>
        <p:txBody>
          <a:bodyPr wrap="square" anchor="t">
            <a:spAutoFit/>
          </a:bodyPr>
          <a:lstStyle/>
          <a:p>
            <a:pPr algn="l">
              <a:defRPr sz="1000" b="1">
                <a:solidFill>
                  <a:srgbClr val="17181C"/>
                </a:solidFill>
                <a:latin typeface="Aptos"/>
              </a:defRPr>
            </a:pPr>
            <a:r>
              <a:t>PREPARED PROTOCOL</a:t>
            </a:r>
          </a:p>
        </p:txBody>
      </p:sp>
      <p:sp>
        <p:nvSpPr>
          <p:cNvPr id="8" name="Rounded Rectangle 7"/>
          <p:cNvSpPr/>
          <p:nvPr/>
        </p:nvSpPr>
        <p:spPr>
          <a:xfrm>
            <a:off x="8092440" y="1508760"/>
            <a:ext cx="3063240" cy="329184"/>
          </a:xfrm>
          <a:prstGeom prst="roundRect">
            <a:avLst/>
          </a:prstGeom>
          <a:solidFill>
            <a:srgbClr val="FF6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9" name="TextBox 8"/>
          <p:cNvSpPr txBox="1"/>
          <p:nvPr/>
        </p:nvSpPr>
        <p:spPr>
          <a:xfrm>
            <a:off x="8202167" y="1563624"/>
            <a:ext cx="2843784" cy="201168"/>
          </a:xfrm>
          <a:prstGeom prst="rect">
            <a:avLst/>
          </a:prstGeom>
          <a:noFill/>
        </p:spPr>
        <p:txBody>
          <a:bodyPr wrap="square" anchor="t">
            <a:spAutoFit/>
          </a:bodyPr>
          <a:lstStyle/>
          <a:p>
            <a:pPr algn="l">
              <a:defRPr sz="1000" b="1">
                <a:solidFill>
                  <a:srgbClr val="17181C"/>
                </a:solidFill>
                <a:latin typeface="Aptos"/>
              </a:defRPr>
            </a:pPr>
            <a:r>
              <a:t>32 OPS / TRANSACTION</a:t>
            </a:r>
          </a:p>
        </p:txBody>
      </p:sp>
      <p:sp>
        <p:nvSpPr>
          <p:cNvPr id="10" name="Rounded Rectangle 9"/>
          <p:cNvSpPr/>
          <p:nvPr/>
        </p:nvSpPr>
        <p:spPr>
          <a:xfrm>
            <a:off x="685800" y="2715768"/>
            <a:ext cx="3063240" cy="329184"/>
          </a:xfrm>
          <a:prstGeom prst="roundRect">
            <a:avLst/>
          </a:prstGeom>
          <a:solidFill>
            <a:srgbClr val="AEE0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11" name="TextBox 10"/>
          <p:cNvSpPr txBox="1"/>
          <p:nvPr/>
        </p:nvSpPr>
        <p:spPr>
          <a:xfrm>
            <a:off x="795528" y="2770632"/>
            <a:ext cx="2843784" cy="201168"/>
          </a:xfrm>
          <a:prstGeom prst="rect">
            <a:avLst/>
          </a:prstGeom>
          <a:noFill/>
        </p:spPr>
        <p:txBody>
          <a:bodyPr wrap="square" anchor="t">
            <a:spAutoFit/>
          </a:bodyPr>
          <a:lstStyle/>
          <a:p>
            <a:pPr algn="l">
              <a:defRPr sz="1000" b="1">
                <a:solidFill>
                  <a:srgbClr val="17181C"/>
                </a:solidFill>
                <a:latin typeface="Aptos"/>
              </a:defRPr>
            </a:pPr>
            <a:r>
              <a:t>RELAXED DURABILITY</a:t>
            </a:r>
          </a:p>
        </p:txBody>
      </p:sp>
      <p:sp>
        <p:nvSpPr>
          <p:cNvPr id="12" name="Rounded Rectangle 11"/>
          <p:cNvSpPr/>
          <p:nvPr/>
        </p:nvSpPr>
        <p:spPr>
          <a:xfrm>
            <a:off x="4389120" y="2715768"/>
            <a:ext cx="3063240" cy="329184"/>
          </a:xfrm>
          <a:prstGeom prst="roundRect">
            <a:avLst/>
          </a:prstGeom>
          <a:solidFill>
            <a:srgbClr val="00C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13" name="TextBox 12"/>
          <p:cNvSpPr txBox="1"/>
          <p:nvPr/>
        </p:nvSpPr>
        <p:spPr>
          <a:xfrm>
            <a:off x="4498848" y="2770632"/>
            <a:ext cx="2843784" cy="201168"/>
          </a:xfrm>
          <a:prstGeom prst="rect">
            <a:avLst/>
          </a:prstGeom>
          <a:noFill/>
        </p:spPr>
        <p:txBody>
          <a:bodyPr wrap="square" anchor="t">
            <a:spAutoFit/>
          </a:bodyPr>
          <a:lstStyle/>
          <a:p>
            <a:pPr algn="l">
              <a:defRPr sz="1000" b="1">
                <a:solidFill>
                  <a:srgbClr val="17181C"/>
                </a:solidFill>
                <a:latin typeface="Aptos"/>
              </a:defRPr>
            </a:pPr>
            <a:r>
              <a:t>LESS INTEGRITY WORK</a:t>
            </a:r>
          </a:p>
        </p:txBody>
      </p:sp>
      <p:sp>
        <p:nvSpPr>
          <p:cNvPr id="14" name="TextBox 13"/>
          <p:cNvSpPr txBox="1"/>
          <p:nvPr/>
        </p:nvSpPr>
        <p:spPr>
          <a:xfrm>
            <a:off x="3657600" y="3886200"/>
            <a:ext cx="4937760" cy="777240"/>
          </a:xfrm>
          <a:prstGeom prst="rect">
            <a:avLst/>
          </a:prstGeom>
          <a:noFill/>
        </p:spPr>
        <p:txBody>
          <a:bodyPr wrap="square" anchor="t">
            <a:spAutoFit/>
          </a:bodyPr>
          <a:lstStyle/>
          <a:p>
            <a:pPr algn="ctr">
              <a:defRPr sz="4400" b="1">
                <a:solidFill>
                  <a:srgbClr val="F2F2F2"/>
                </a:solidFill>
                <a:latin typeface="Aptos Display"/>
              </a:defRPr>
            </a:pPr>
            <a:r>
              <a:rPr dirty="0"/>
              <a:t>36</a:t>
            </a:r>
            <a:r>
              <a:rPr lang="en-US" dirty="0"/>
              <a:t>2</a:t>
            </a:r>
            <a:r>
              <a:rPr dirty="0"/>
              <a:t>,</a:t>
            </a:r>
            <a:r>
              <a:rPr lang="en-US" dirty="0"/>
              <a:t>789</a:t>
            </a:r>
            <a:endParaRPr dirty="0"/>
          </a:p>
        </p:txBody>
      </p:sp>
      <p:sp>
        <p:nvSpPr>
          <p:cNvPr id="15" name="TextBox 14"/>
          <p:cNvSpPr txBox="1"/>
          <p:nvPr/>
        </p:nvSpPr>
        <p:spPr>
          <a:xfrm>
            <a:off x="3657600" y="4599432"/>
            <a:ext cx="4937760" cy="347472"/>
          </a:xfrm>
          <a:prstGeom prst="rect">
            <a:avLst/>
          </a:prstGeom>
          <a:noFill/>
        </p:spPr>
        <p:txBody>
          <a:bodyPr wrap="square" anchor="t">
            <a:spAutoFit/>
          </a:bodyPr>
          <a:lstStyle/>
          <a:p>
            <a:pPr algn="ctr">
              <a:defRPr sz="1200" b="1">
                <a:solidFill>
                  <a:srgbClr val="FF655C"/>
                </a:solidFill>
                <a:latin typeface="Aptos"/>
              </a:defRPr>
            </a:pPr>
            <a:r>
              <a:t>REPORTED OPERATIONS / SECOND</a:t>
            </a:r>
          </a:p>
        </p:txBody>
      </p:sp>
      <p:sp>
        <p:nvSpPr>
          <p:cNvPr id="16" name="TextBox 15"/>
          <p:cNvSpPr txBox="1"/>
          <p:nvPr/>
        </p:nvSpPr>
        <p:spPr>
          <a:xfrm>
            <a:off x="502920" y="6510528"/>
            <a:ext cx="2377440" cy="164592"/>
          </a:xfrm>
          <a:prstGeom prst="rect">
            <a:avLst/>
          </a:prstGeom>
          <a:noFill/>
        </p:spPr>
        <p:txBody>
          <a:bodyPr wrap="square" anchor="t">
            <a:spAutoFit/>
          </a:bodyPr>
          <a:lstStyle/>
          <a:p>
            <a:pPr algn="l">
              <a:defRPr sz="750" b="1">
                <a:solidFill>
                  <a:srgbClr val="BEBEBE"/>
                </a:solidFill>
                <a:latin typeface="Aptos"/>
              </a:defRPr>
            </a:pPr>
            <a:r>
              <a:t>MY DISHONEST BENCHMARK</a:t>
            </a:r>
          </a:p>
        </p:txBody>
      </p:sp>
      <p:sp>
        <p:nvSpPr>
          <p:cNvPr id="17" name="TextBox 16"/>
          <p:cNvSpPr txBox="1"/>
          <p:nvPr/>
        </p:nvSpPr>
        <p:spPr>
          <a:xfrm>
            <a:off x="11155680" y="6473952"/>
            <a:ext cx="502920" cy="182880"/>
          </a:xfrm>
          <a:prstGeom prst="rect">
            <a:avLst/>
          </a:prstGeom>
          <a:noFill/>
        </p:spPr>
        <p:txBody>
          <a:bodyPr wrap="square" anchor="t">
            <a:spAutoFit/>
          </a:bodyPr>
          <a:lstStyle/>
          <a:p>
            <a:pPr algn="r">
              <a:defRPr sz="800" b="1">
                <a:solidFill>
                  <a:srgbClr val="BEBEBE"/>
                </a:solidFill>
                <a:latin typeface="Aptos"/>
              </a:defRPr>
            </a:pPr>
            <a:r>
              <a:t>31</a:t>
            </a:r>
          </a:p>
        </p:txBody>
      </p:sp>
    </p:spTree>
    <p:extLst>
      <p:ext uri="{BB962C8B-B14F-4D97-AF65-F5344CB8AC3E}">
        <p14:creationId xmlns:p14="http://schemas.microsoft.com/office/powerpoint/2010/main" val="30082508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 name="Title"/>
          <p:cNvSpPr txBox="1"/>
          <p:nvPr/>
        </p:nvSpPr>
        <p:spPr>
          <a:xfrm>
            <a:off x="594360" y="148590"/>
            <a:ext cx="8890000" cy="584200"/>
          </a:xfrm>
          <a:prstGeom prst="rect">
            <a:avLst/>
          </a:prstGeom>
          <a:noFill/>
        </p:spPr>
        <p:txBody>
          <a:bodyPr wrap="square" anchor="t">
            <a:spAutoFit/>
          </a:bodyPr>
          <a:lstStyle/>
          <a:p>
            <a:pPr algn="l"/>
            <a:r>
              <a:rPr lang="en-US" sz="3200" b="1" dirty="0">
                <a:solidFill>
                  <a:srgbClr val="F2F2F2"/>
                </a:solidFill>
                <a:latin typeface="Aptos Display"/>
              </a:rPr>
              <a:t>THE FULL SCOREBOARD</a:t>
            </a:r>
          </a:p>
        </p:txBody>
      </p:sp>
      <p:sp>
        <p:nvSpPr>
          <p:cNvPr id="3" name="Setup"/>
          <p:cNvSpPr txBox="1"/>
          <p:nvPr/>
        </p:nvSpPr>
        <p:spPr>
          <a:xfrm>
            <a:off x="594360" y="711200"/>
            <a:ext cx="10795000" cy="279400"/>
          </a:xfrm>
          <a:prstGeom prst="rect">
            <a:avLst/>
          </a:prstGeom>
          <a:noFill/>
        </p:spPr>
        <p:txBody>
          <a:bodyPr wrap="square" anchor="t">
            <a:spAutoFit/>
          </a:bodyPr>
          <a:lstStyle/>
          <a:p>
            <a:pPr algn="l"/>
            <a:r>
              <a:rPr lang="en-US" sz="1200" b="0" dirty="0">
                <a:solidFill>
                  <a:srgbClr val="BEBEBE"/>
                </a:solidFill>
                <a:latin typeface="Aptos"/>
              </a:rPr>
              <a:t>PostgreSQL 18.6 on Windows 11, trusted Dev Drive V: (ReFS), pgbench -c 32 -j 8 -T 120, 1 round</a:t>
            </a:r>
          </a:p>
        </p:txBody>
      </p:sp>
      <p:graphicFrame>
        <p:nvGraphicFramePr>
          <p:cNvPr id="4" name="Results Table"/>
          <p:cNvGraphicFramePr>
            <a:graphicFrameLocks noGrp="1"/>
          </p:cNvGraphicFramePr>
          <p:nvPr>
            <p:extLst>
              <p:ext uri="{D42A27DB-BD31-4B8C-83A1-F6EECF244321}">
                <p14:modId xmlns:p14="http://schemas.microsoft.com/office/powerpoint/2010/main" val="4091194128"/>
              </p:ext>
            </p:extLst>
          </p:nvPr>
        </p:nvGraphicFramePr>
        <p:xfrm>
          <a:off x="508000" y="1143000"/>
          <a:ext cx="11176000" cy="4699000"/>
        </p:xfrm>
        <a:graphic>
          <a:graphicData uri="http://schemas.openxmlformats.org/drawingml/2006/table">
            <a:tbl>
              <a:tblPr firstRow="1"/>
              <a:tblGrid>
                <a:gridCol w="3327400">
                  <a:extLst>
                    <a:ext uri="{9D8B030D-6E8A-4147-A177-3AD203B41FA5}">
                      <a16:colId xmlns:a16="http://schemas.microsoft.com/office/drawing/2014/main" val="20000"/>
                    </a:ext>
                  </a:extLst>
                </a:gridCol>
                <a:gridCol w="1168400">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gridCol w="13970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20800">
                  <a:extLst>
                    <a:ext uri="{9D8B030D-6E8A-4147-A177-3AD203B41FA5}">
                      <a16:colId xmlns:a16="http://schemas.microsoft.com/office/drawing/2014/main" val="20005"/>
                    </a:ext>
                  </a:extLst>
                </a:gridCol>
                <a:gridCol w="1320800">
                  <a:extLst>
                    <a:ext uri="{9D8B030D-6E8A-4147-A177-3AD203B41FA5}">
                      <a16:colId xmlns:a16="http://schemas.microsoft.com/office/drawing/2014/main" val="20006"/>
                    </a:ext>
                  </a:extLst>
                </a:gridCol>
              </a:tblGrid>
              <a:tr h="330200">
                <a:tc>
                  <a:txBody>
                    <a:bodyPr/>
                    <a:lstStyle/>
                    <a:p>
                      <a:pPr algn="l"/>
                      <a:r>
                        <a:rPr lang="en-US" sz="1200" b="1" dirty="0">
                          <a:solidFill>
                            <a:srgbClr val="BEBEBE"/>
                          </a:solidFill>
                          <a:latin typeface="Aptos"/>
                        </a:rPr>
                        <a:t>Method</a:t>
                      </a:r>
                    </a:p>
                  </a:txBody>
                  <a:tcPr marL="76200" marR="101600" marT="25400" marB="25400" anchor="ctr">
                    <a:lnL w="0">
                      <a:noFill/>
                    </a:lnL>
                    <a:lnR w="0">
                      <a:noFill/>
                    </a:lnR>
                    <a:lnT w="0">
                      <a:noFill/>
                    </a:lnT>
                    <a:lnB w="12700">
                      <a:solidFill>
                        <a:srgbClr val="6B6E76"/>
                      </a:solidFill>
                    </a:lnB>
                    <a:noFill/>
                  </a:tcPr>
                </a:tc>
                <a:tc>
                  <a:txBody>
                    <a:bodyPr/>
                    <a:lstStyle/>
                    <a:p>
                      <a:pPr algn="l"/>
                      <a:r>
                        <a:rPr lang="en-US" sz="1200" b="1" dirty="0">
                          <a:solidFill>
                            <a:srgbClr val="BEBEBE"/>
                          </a:solidFill>
                          <a:latin typeface="Aptos"/>
                        </a:rPr>
                        <a:t>Protocol</a:t>
                      </a:r>
                    </a:p>
                  </a:txBody>
                  <a:tcPr marL="76200" marR="101600" marT="25400" marB="25400" anchor="ctr">
                    <a:lnL w="0">
                      <a:noFill/>
                    </a:lnL>
                    <a:lnR w="0">
                      <a:noFill/>
                    </a:lnR>
                    <a:lnT w="0">
                      <a:noFill/>
                    </a:lnT>
                    <a:lnB w="12700">
                      <a:solidFill>
                        <a:srgbClr val="6B6E76"/>
                      </a:solidFill>
                    </a:lnB>
                    <a:noFill/>
                  </a:tcPr>
                </a:tc>
                <a:tc>
                  <a:txBody>
                    <a:bodyPr/>
                    <a:lstStyle/>
                    <a:p>
                      <a:pPr algn="r"/>
                      <a:r>
                        <a:rPr lang="en-US" sz="1200" b="1" dirty="0">
                          <a:solidFill>
                            <a:srgbClr val="BEBEBE"/>
                          </a:solidFill>
                          <a:latin typeface="Aptos"/>
                        </a:rPr>
                        <a:t>TPS</a:t>
                      </a:r>
                    </a:p>
                  </a:txBody>
                  <a:tcPr marL="76200" marR="101600" marT="25400" marB="25400" anchor="ctr">
                    <a:lnL w="0">
                      <a:noFill/>
                    </a:lnL>
                    <a:lnR w="0">
                      <a:noFill/>
                    </a:lnR>
                    <a:lnT w="0">
                      <a:noFill/>
                    </a:lnT>
                    <a:lnB w="12700">
                      <a:solidFill>
                        <a:srgbClr val="6B6E76"/>
                      </a:solidFill>
                    </a:lnB>
                    <a:noFill/>
                  </a:tcPr>
                </a:tc>
                <a:tc>
                  <a:txBody>
                    <a:bodyPr/>
                    <a:lstStyle/>
                    <a:p>
                      <a:pPr algn="r"/>
                      <a:r>
                        <a:rPr lang="en-US" sz="1200" b="1" dirty="0">
                          <a:solidFill>
                            <a:srgbClr val="BEBEBE"/>
                          </a:solidFill>
                          <a:latin typeface="Aptos"/>
                        </a:rPr>
                        <a:t>OPS*</a:t>
                      </a:r>
                    </a:p>
                  </a:txBody>
                  <a:tcPr marL="76200" marR="101600" marT="25400" marB="25400" anchor="ctr">
                    <a:lnL w="0">
                      <a:noFill/>
                    </a:lnL>
                    <a:lnR w="0">
                      <a:noFill/>
                    </a:lnR>
                    <a:lnT w="0">
                      <a:noFill/>
                    </a:lnT>
                    <a:lnB w="12700">
                      <a:solidFill>
                        <a:srgbClr val="6B6E76"/>
                      </a:solidFill>
                    </a:lnB>
                    <a:noFill/>
                  </a:tcPr>
                </a:tc>
                <a:tc>
                  <a:txBody>
                    <a:bodyPr/>
                    <a:lstStyle/>
                    <a:p>
                      <a:pPr algn="r"/>
                      <a:r>
                        <a:rPr lang="en-US" sz="1200" b="1" dirty="0">
                          <a:solidFill>
                            <a:srgbClr val="BEBEBE"/>
                          </a:solidFill>
                          <a:latin typeface="Aptos"/>
                        </a:rPr>
                        <a:t>Latency (ms)</a:t>
                      </a:r>
                    </a:p>
                  </a:txBody>
                  <a:tcPr marL="76200" marR="101600" marT="25400" marB="25400" anchor="ctr">
                    <a:lnL w="0">
                      <a:noFill/>
                    </a:lnL>
                    <a:lnR w="0">
                      <a:noFill/>
                    </a:lnR>
                    <a:lnT w="0">
                      <a:noFill/>
                    </a:lnT>
                    <a:lnB w="12700">
                      <a:solidFill>
                        <a:srgbClr val="6B6E76"/>
                      </a:solidFill>
                    </a:lnB>
                    <a:noFill/>
                  </a:tcPr>
                </a:tc>
                <a:tc>
                  <a:txBody>
                    <a:bodyPr/>
                    <a:lstStyle/>
                    <a:p>
                      <a:pPr algn="r"/>
                      <a:r>
                        <a:rPr lang="en-US" sz="1200" b="1" dirty="0">
                          <a:solidFill>
                            <a:srgbClr val="BEBEBE"/>
                          </a:solidFill>
                          <a:latin typeface="Aptos"/>
                        </a:rPr>
                        <a:t>× baseline</a:t>
                      </a:r>
                    </a:p>
                  </a:txBody>
                  <a:tcPr marL="76200" marR="101600" marT="25400" marB="25400" anchor="ctr">
                    <a:lnL w="0">
                      <a:noFill/>
                    </a:lnL>
                    <a:lnR w="0">
                      <a:noFill/>
                    </a:lnR>
                    <a:lnT w="0">
                      <a:noFill/>
                    </a:lnT>
                    <a:lnB w="12700">
                      <a:solidFill>
                        <a:srgbClr val="6B6E76"/>
                      </a:solidFill>
                    </a:lnB>
                    <a:noFill/>
                  </a:tcPr>
                </a:tc>
                <a:tc>
                  <a:txBody>
                    <a:bodyPr/>
                    <a:lstStyle/>
                    <a:p>
                      <a:pPr algn="r"/>
                      <a:r>
                        <a:rPr lang="en-US" sz="1200" b="1" dirty="0">
                          <a:solidFill>
                            <a:srgbClr val="BEBEBE"/>
                          </a:solidFill>
                          <a:latin typeface="Aptos"/>
                        </a:rPr>
                        <a:t>× Case 0</a:t>
                      </a:r>
                    </a:p>
                  </a:txBody>
                  <a:tcPr marL="76200" marR="101600" marT="25400" marB="25400" anchor="ctr">
                    <a:lnL w="0">
                      <a:noFill/>
                    </a:lnL>
                    <a:lnR w="0">
                      <a:noFill/>
                    </a:lnR>
                    <a:lnT w="0">
                      <a:noFill/>
                    </a:lnT>
                    <a:lnB w="12700">
                      <a:solidFill>
                        <a:srgbClr val="6B6E76"/>
                      </a:solidFill>
                    </a:lnB>
                    <a:noFill/>
                  </a:tcPr>
                </a:tc>
                <a:extLst>
                  <a:ext uri="{0D108BD9-81ED-4DB2-BD59-A6C34878D82A}">
                    <a16:rowId xmlns:a16="http://schemas.microsoft.com/office/drawing/2014/main" val="10000"/>
                  </a:ext>
                </a:extLst>
              </a:tr>
              <a:tr h="273050">
                <a:tc>
                  <a:txBody>
                    <a:bodyPr/>
                    <a:lstStyle/>
                    <a:p>
                      <a:pPr algn="l"/>
                      <a:r>
                        <a:rPr lang="en-US" sz="1300" b="1" dirty="0">
                          <a:solidFill>
                            <a:srgbClr val="F2F2F2"/>
                          </a:solidFill>
                          <a:latin typeface="Aptos"/>
                        </a:rPr>
                        <a:t>Case 0: bad code / missing index</a:t>
                      </a:r>
                    </a:p>
                  </a:txBody>
                  <a:tcPr marL="76200" marR="101600" marT="25400" marB="25400" anchor="ctr">
                    <a:lnL w="0">
                      <a:noFill/>
                    </a:lnL>
                    <a:lnR w="0">
                      <a:noFill/>
                    </a:lnR>
                    <a:lnT w="12700" cap="flat" cmpd="sng" algn="ctr">
                      <a:solidFill>
                        <a:srgbClr val="6B6E76"/>
                      </a:solidFill>
                      <a:prstDash val="solid"/>
                      <a:round/>
                      <a:headEnd type="none" w="med" len="med"/>
                      <a:tailEnd type="none" w="med" len="med"/>
                    </a:lnT>
                    <a:lnB w="6350">
                      <a:solidFill>
                        <a:srgbClr val="34363C"/>
                      </a:solidFill>
                    </a:lnB>
                    <a:noFill/>
                  </a:tcPr>
                </a:tc>
                <a:tc>
                  <a:txBody>
                    <a:bodyPr/>
                    <a:lstStyle/>
                    <a:p>
                      <a:pPr algn="l"/>
                      <a:r>
                        <a:rPr lang="en-US" sz="1300" b="0" dirty="0">
                          <a:solidFill>
                            <a:srgbClr val="F2F2F2"/>
                          </a:solidFill>
                          <a:latin typeface="Aptos"/>
                        </a:rPr>
                        <a:t>simple</a:t>
                      </a:r>
                    </a:p>
                  </a:txBody>
                  <a:tcPr marL="76200" marR="101600" marT="25400" marB="25400" anchor="ctr">
                    <a:lnL w="0">
                      <a:noFill/>
                    </a:lnL>
                    <a:lnR w="0">
                      <a:noFill/>
                    </a:lnR>
                    <a:lnT w="12700" cap="flat" cmpd="sng" algn="ctr">
                      <a:solidFill>
                        <a:srgbClr val="6B6E76"/>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584</a:t>
                      </a:r>
                    </a:p>
                  </a:txBody>
                  <a:tcPr marL="76200" marR="101600" marT="25400" marB="25400" anchor="ctr">
                    <a:lnL w="0">
                      <a:noFill/>
                    </a:lnL>
                    <a:lnR w="0">
                      <a:noFill/>
                    </a:lnR>
                    <a:lnT w="12700" cap="flat" cmpd="sng" algn="ctr">
                      <a:solidFill>
                        <a:srgbClr val="6B6E76"/>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584</a:t>
                      </a:r>
                    </a:p>
                  </a:txBody>
                  <a:tcPr marL="76200" marR="101600" marT="25400" marB="25400" anchor="ctr">
                    <a:lnL w="0">
                      <a:noFill/>
                    </a:lnL>
                    <a:lnR w="0">
                      <a:noFill/>
                    </a:lnR>
                    <a:lnT w="12700" cap="flat" cmpd="sng" algn="ctr">
                      <a:solidFill>
                        <a:srgbClr val="6B6E76"/>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54.80</a:t>
                      </a:r>
                    </a:p>
                  </a:txBody>
                  <a:tcPr marL="76200" marR="101600" marT="25400" marB="25400" anchor="ctr">
                    <a:lnL w="0">
                      <a:noFill/>
                    </a:lnL>
                    <a:lnR w="0">
                      <a:noFill/>
                    </a:lnR>
                    <a:lnT w="12700" cap="flat" cmpd="sng" algn="ctr">
                      <a:solidFill>
                        <a:srgbClr val="6B6E76"/>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0.03×</a:t>
                      </a:r>
                    </a:p>
                  </a:txBody>
                  <a:tcPr marL="76200" marR="101600" marT="25400" marB="25400" anchor="ctr">
                    <a:lnL w="0">
                      <a:noFill/>
                    </a:lnL>
                    <a:lnR w="0">
                      <a:noFill/>
                    </a:lnR>
                    <a:lnT w="12700" cap="flat" cmpd="sng" algn="ctr">
                      <a:solidFill>
                        <a:srgbClr val="6B6E76"/>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1.0×</a:t>
                      </a:r>
                    </a:p>
                  </a:txBody>
                  <a:tcPr marL="76200" marR="101600" marT="25400" marB="25400" anchor="ctr">
                    <a:lnL w="0">
                      <a:noFill/>
                    </a:lnL>
                    <a:lnR w="0">
                      <a:noFill/>
                    </a:lnR>
                    <a:lnT w="12700" cap="flat" cmpd="sng" algn="ctr">
                      <a:solidFill>
                        <a:srgbClr val="6B6E76"/>
                      </a:solidFill>
                      <a:prstDash val="solid"/>
                      <a:round/>
                      <a:headEnd type="none" w="med" len="med"/>
                      <a:tailEnd type="none" w="med" len="med"/>
                    </a:lnT>
                    <a:lnB w="6350">
                      <a:solidFill>
                        <a:srgbClr val="34363C"/>
                      </a:solidFill>
                    </a:lnB>
                    <a:noFill/>
                  </a:tcPr>
                </a:tc>
                <a:extLst>
                  <a:ext uri="{0D108BD9-81ED-4DB2-BD59-A6C34878D82A}">
                    <a16:rowId xmlns:a16="http://schemas.microsoft.com/office/drawing/2014/main" val="10001"/>
                  </a:ext>
                </a:extLst>
              </a:tr>
              <a:tr h="273050">
                <a:tc>
                  <a:txBody>
                    <a:bodyPr/>
                    <a:lstStyle/>
                    <a:p>
                      <a:pPr algn="l"/>
                      <a:r>
                        <a:rPr lang="en-US" sz="1300" b="1" dirty="0">
                          <a:solidFill>
                            <a:srgbClr val="F2F2F2"/>
                          </a:solidFill>
                          <a:latin typeface="Aptos"/>
                        </a:rPr>
                        <a:t>Indexed baseline</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l"/>
                      <a:r>
                        <a:rPr lang="en-US" sz="1300" b="0" dirty="0">
                          <a:solidFill>
                            <a:srgbClr val="F2F2F2"/>
                          </a:solidFill>
                          <a:latin typeface="Aptos"/>
                        </a:rPr>
                        <a:t>simple</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22,705</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22,705</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1.41</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1.00×</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38.9×</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extLst>
                  <a:ext uri="{0D108BD9-81ED-4DB2-BD59-A6C34878D82A}">
                    <a16:rowId xmlns:a16="http://schemas.microsoft.com/office/drawing/2014/main" val="10002"/>
                  </a:ext>
                </a:extLst>
              </a:tr>
              <a:tr h="273050">
                <a:tc>
                  <a:txBody>
                    <a:bodyPr/>
                    <a:lstStyle/>
                    <a:p>
                      <a:pPr algn="l"/>
                      <a:r>
                        <a:rPr lang="en-US" sz="1300" b="1" dirty="0">
                          <a:solidFill>
                            <a:srgbClr val="F2F2F2"/>
                          </a:solidFill>
                          <a:latin typeface="Aptos"/>
                        </a:rPr>
                        <a:t>synchronous_commit=off</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l"/>
                      <a:r>
                        <a:rPr lang="en-US" sz="1300" b="0" dirty="0">
                          <a:solidFill>
                            <a:srgbClr val="F2F2F2"/>
                          </a:solidFill>
                          <a:latin typeface="Aptos"/>
                        </a:rPr>
                        <a:t>simple</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24,355</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24,355</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1.31</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1.07×</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41.7×</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extLst>
                  <a:ext uri="{0D108BD9-81ED-4DB2-BD59-A6C34878D82A}">
                    <a16:rowId xmlns:a16="http://schemas.microsoft.com/office/drawing/2014/main" val="10003"/>
                  </a:ext>
                </a:extLst>
              </a:tr>
              <a:tr h="273050">
                <a:tc>
                  <a:txBody>
                    <a:bodyPr/>
                    <a:lstStyle/>
                    <a:p>
                      <a:pPr algn="l"/>
                      <a:r>
                        <a:rPr lang="en-US" sz="1300" b="1" dirty="0">
                          <a:solidFill>
                            <a:srgbClr val="F2F2F2"/>
                          </a:solidFill>
                          <a:latin typeface="Aptos"/>
                        </a:rPr>
                        <a:t>full_page_writes=off</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l"/>
                      <a:r>
                        <a:rPr lang="en-US" sz="1300" b="0" dirty="0">
                          <a:solidFill>
                            <a:srgbClr val="F2F2F2"/>
                          </a:solidFill>
                          <a:latin typeface="Aptos"/>
                        </a:rPr>
                        <a:t>simple</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23,390</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23,390</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1.37</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1.03×</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40.1×</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extLst>
                  <a:ext uri="{0D108BD9-81ED-4DB2-BD59-A6C34878D82A}">
                    <a16:rowId xmlns:a16="http://schemas.microsoft.com/office/drawing/2014/main" val="10004"/>
                  </a:ext>
                </a:extLst>
              </a:tr>
              <a:tr h="273050">
                <a:tc>
                  <a:txBody>
                    <a:bodyPr/>
                    <a:lstStyle/>
                    <a:p>
                      <a:pPr algn="l"/>
                      <a:r>
                        <a:rPr lang="en-US" sz="1300" b="1" dirty="0">
                          <a:solidFill>
                            <a:srgbClr val="F2F2F2"/>
                          </a:solidFill>
                          <a:latin typeface="Aptos"/>
                        </a:rPr>
                        <a:t>fsync=off</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l"/>
                      <a:r>
                        <a:rPr lang="en-US" sz="1300" b="0" dirty="0">
                          <a:solidFill>
                            <a:srgbClr val="F2F2F2"/>
                          </a:solidFill>
                          <a:latin typeface="Aptos"/>
                        </a:rPr>
                        <a:t>simple</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24,522</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24,522</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1.30</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1.08×</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42.0×</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extLst>
                  <a:ext uri="{0D108BD9-81ED-4DB2-BD59-A6C34878D82A}">
                    <a16:rowId xmlns:a16="http://schemas.microsoft.com/office/drawing/2014/main" val="10005"/>
                  </a:ext>
                </a:extLst>
              </a:tr>
              <a:tr h="273050">
                <a:tc>
                  <a:txBody>
                    <a:bodyPr/>
                    <a:lstStyle/>
                    <a:p>
                      <a:pPr algn="l"/>
                      <a:r>
                        <a:rPr lang="en-US" sz="1300" b="1" dirty="0">
                          <a:solidFill>
                            <a:srgbClr val="F2F2F2"/>
                          </a:solidFill>
                          <a:latin typeface="Aptos"/>
                        </a:rPr>
                        <a:t>checkpoint tuning</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l"/>
                      <a:r>
                        <a:rPr lang="en-US" sz="1300" b="0" dirty="0">
                          <a:solidFill>
                            <a:srgbClr val="F2F2F2"/>
                          </a:solidFill>
                          <a:latin typeface="Aptos"/>
                        </a:rPr>
                        <a:t>simple</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23,124</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23,124</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1.38</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1.02×</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39.6×</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extLst>
                  <a:ext uri="{0D108BD9-81ED-4DB2-BD59-A6C34878D82A}">
                    <a16:rowId xmlns:a16="http://schemas.microsoft.com/office/drawing/2014/main" val="10006"/>
                  </a:ext>
                </a:extLst>
              </a:tr>
              <a:tr h="273050">
                <a:tc>
                  <a:txBody>
                    <a:bodyPr/>
                    <a:lstStyle/>
                    <a:p>
                      <a:pPr algn="l"/>
                      <a:r>
                        <a:rPr lang="en-US" sz="1300" b="1" dirty="0">
                          <a:solidFill>
                            <a:srgbClr val="F2F2F2"/>
                          </a:solidFill>
                          <a:latin typeface="Aptos"/>
                        </a:rPr>
                        <a:t>all durability off</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l"/>
                      <a:r>
                        <a:rPr lang="en-US" sz="1300" b="0" dirty="0">
                          <a:solidFill>
                            <a:srgbClr val="F2F2F2"/>
                          </a:solidFill>
                          <a:latin typeface="Aptos"/>
                        </a:rPr>
                        <a:t>simple</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24,666</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24,666</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1.30</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1.09×</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42.2×</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extLst>
                  <a:ext uri="{0D108BD9-81ED-4DB2-BD59-A6C34878D82A}">
                    <a16:rowId xmlns:a16="http://schemas.microsoft.com/office/drawing/2014/main" val="10007"/>
                  </a:ext>
                </a:extLst>
              </a:tr>
              <a:tr h="273050">
                <a:tc>
                  <a:txBody>
                    <a:bodyPr/>
                    <a:lstStyle/>
                    <a:p>
                      <a:pPr algn="l"/>
                      <a:r>
                        <a:rPr lang="en-US" sz="1300" b="1" dirty="0">
                          <a:solidFill>
                            <a:srgbClr val="F2F2F2"/>
                          </a:solidFill>
                          <a:latin typeface="Aptos"/>
                        </a:rPr>
                        <a:t>less work (drop FK/SELECT/audit)</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l"/>
                      <a:r>
                        <a:rPr lang="en-US" sz="1300" b="0" dirty="0">
                          <a:solidFill>
                            <a:srgbClr val="F2F2F2"/>
                          </a:solidFill>
                          <a:latin typeface="Aptos"/>
                        </a:rPr>
                        <a:t>simple</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45,143</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45,143</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0.71</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1.99×</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77.3×</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extLst>
                  <a:ext uri="{0D108BD9-81ED-4DB2-BD59-A6C34878D82A}">
                    <a16:rowId xmlns:a16="http://schemas.microsoft.com/office/drawing/2014/main" val="10008"/>
                  </a:ext>
                </a:extLst>
              </a:tr>
              <a:tr h="273050">
                <a:tc>
                  <a:txBody>
                    <a:bodyPr/>
                    <a:lstStyle/>
                    <a:p>
                      <a:pPr algn="l"/>
                      <a:r>
                        <a:rPr lang="en-US" sz="1300" b="1" dirty="0">
                          <a:solidFill>
                            <a:srgbClr val="F2F2F2"/>
                          </a:solidFill>
                          <a:latin typeface="Aptos"/>
                        </a:rPr>
                        <a:t>UNLOGGED ledger/audit</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l"/>
                      <a:r>
                        <a:rPr lang="en-US" sz="1300" b="0" dirty="0">
                          <a:solidFill>
                            <a:srgbClr val="F2F2F2"/>
                          </a:solidFill>
                          <a:latin typeface="Aptos"/>
                        </a:rPr>
                        <a:t>simple</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37,780</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37,780</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0.85</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1.66×</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64.7×</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extLst>
                  <a:ext uri="{0D108BD9-81ED-4DB2-BD59-A6C34878D82A}">
                    <a16:rowId xmlns:a16="http://schemas.microsoft.com/office/drawing/2014/main" val="10009"/>
                  </a:ext>
                </a:extLst>
              </a:tr>
              <a:tr h="273050">
                <a:tc>
                  <a:txBody>
                    <a:bodyPr/>
                    <a:lstStyle/>
                    <a:p>
                      <a:pPr algn="l"/>
                      <a:r>
                        <a:rPr lang="en-US" sz="1300" b="1" dirty="0">
                          <a:solidFill>
                            <a:srgbClr val="F2F2F2"/>
                          </a:solidFill>
                          <a:latin typeface="Aptos"/>
                        </a:rPr>
                        <a:t>stored procedure</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l"/>
                      <a:r>
                        <a:rPr lang="en-US" sz="1300" b="0" dirty="0">
                          <a:solidFill>
                            <a:srgbClr val="F2F2F2"/>
                          </a:solidFill>
                          <a:latin typeface="Aptos"/>
                        </a:rPr>
                        <a:t>simple</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74,473</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74,473</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0.43</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3.28×</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127.5×</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extLst>
                  <a:ext uri="{0D108BD9-81ED-4DB2-BD59-A6C34878D82A}">
                    <a16:rowId xmlns:a16="http://schemas.microsoft.com/office/drawing/2014/main" val="10010"/>
                  </a:ext>
                </a:extLst>
              </a:tr>
              <a:tr h="273050">
                <a:tc>
                  <a:txBody>
                    <a:bodyPr/>
                    <a:lstStyle/>
                    <a:p>
                      <a:pPr algn="l"/>
                      <a:r>
                        <a:rPr lang="en-US" sz="1300" b="1" dirty="0">
                          <a:solidFill>
                            <a:srgbClr val="F2F2F2"/>
                          </a:solidFill>
                          <a:latin typeface="Aptos"/>
                        </a:rPr>
                        <a:t>stored function (SQL)</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l"/>
                      <a:r>
                        <a:rPr lang="en-US" sz="1300" b="0" dirty="0">
                          <a:solidFill>
                            <a:srgbClr val="F2F2F2"/>
                          </a:solidFill>
                          <a:latin typeface="Aptos"/>
                        </a:rPr>
                        <a:t>simple</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72,743</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72,743</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0.44</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3.20×</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124.6×</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extLst>
                  <a:ext uri="{0D108BD9-81ED-4DB2-BD59-A6C34878D82A}">
                    <a16:rowId xmlns:a16="http://schemas.microsoft.com/office/drawing/2014/main" val="10011"/>
                  </a:ext>
                </a:extLst>
              </a:tr>
              <a:tr h="273050">
                <a:tc>
                  <a:txBody>
                    <a:bodyPr/>
                    <a:lstStyle/>
                    <a:p>
                      <a:pPr algn="l"/>
                      <a:r>
                        <a:rPr lang="en-US" sz="1300" b="1" dirty="0">
                          <a:solidFill>
                            <a:srgbClr val="F2F2F2"/>
                          </a:solidFill>
                          <a:latin typeface="Aptos"/>
                        </a:rPr>
                        <a:t>prepared protocol</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l"/>
                      <a:r>
                        <a:rPr lang="en-US" sz="1300" b="0" dirty="0">
                          <a:solidFill>
                            <a:srgbClr val="F2F2F2"/>
                          </a:solidFill>
                          <a:latin typeface="Aptos"/>
                        </a:rPr>
                        <a:t>prepared</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34,684</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34,684</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0.92</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1.53×</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59.4×</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extLst>
                  <a:ext uri="{0D108BD9-81ED-4DB2-BD59-A6C34878D82A}">
                    <a16:rowId xmlns:a16="http://schemas.microsoft.com/office/drawing/2014/main" val="10012"/>
                  </a:ext>
                </a:extLst>
              </a:tr>
              <a:tr h="273050">
                <a:tc>
                  <a:txBody>
                    <a:bodyPr/>
                    <a:lstStyle/>
                    <a:p>
                      <a:pPr algn="l"/>
                      <a:r>
                        <a:rPr lang="en-US" sz="1300" b="1" dirty="0">
                          <a:solidFill>
                            <a:srgbClr val="F2F2F2"/>
                          </a:solidFill>
                          <a:latin typeface="Aptos"/>
                        </a:rPr>
                        <a:t>sql function + prepared</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l"/>
                      <a:r>
                        <a:rPr lang="en-US" sz="1300" b="0" dirty="0">
                          <a:solidFill>
                            <a:srgbClr val="F2F2F2"/>
                          </a:solidFill>
                          <a:latin typeface="Aptos"/>
                        </a:rPr>
                        <a:t>prepared</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80,178</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80,178</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0.40</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3.53×</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137.3×</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extLst>
                  <a:ext uri="{0D108BD9-81ED-4DB2-BD59-A6C34878D82A}">
                    <a16:rowId xmlns:a16="http://schemas.microsoft.com/office/drawing/2014/main" val="10013"/>
                  </a:ext>
                </a:extLst>
              </a:tr>
              <a:tr h="273050">
                <a:tc>
                  <a:txBody>
                    <a:bodyPr/>
                    <a:lstStyle/>
                    <a:p>
                      <a:pPr algn="l"/>
                      <a:r>
                        <a:rPr lang="en-US" sz="1300" b="1" dirty="0">
                          <a:solidFill>
                            <a:srgbClr val="F2F2F2"/>
                          </a:solidFill>
                          <a:latin typeface="Aptos"/>
                        </a:rPr>
                        <a:t>batching ×8</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l"/>
                      <a:r>
                        <a:rPr lang="en-US" sz="1300" b="0" dirty="0">
                          <a:solidFill>
                            <a:srgbClr val="F2F2F2"/>
                          </a:solidFill>
                          <a:latin typeface="Aptos"/>
                        </a:rPr>
                        <a:t>simple</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24,099</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192,790</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1.33</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8.49×</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330.2×</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extLst>
                  <a:ext uri="{0D108BD9-81ED-4DB2-BD59-A6C34878D82A}">
                    <a16:rowId xmlns:a16="http://schemas.microsoft.com/office/drawing/2014/main" val="10014"/>
                  </a:ext>
                </a:extLst>
              </a:tr>
              <a:tr h="273050">
                <a:tc>
                  <a:txBody>
                    <a:bodyPr/>
                    <a:lstStyle/>
                    <a:p>
                      <a:pPr algn="l"/>
                      <a:r>
                        <a:rPr lang="en-US" sz="1300" b="1" dirty="0">
                          <a:solidFill>
                            <a:srgbClr val="F2F2F2"/>
                          </a:solidFill>
                          <a:latin typeface="Aptos"/>
                        </a:rPr>
                        <a:t>batching ×32</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l"/>
                      <a:r>
                        <a:rPr lang="en-US" sz="1300" b="0" dirty="0">
                          <a:solidFill>
                            <a:srgbClr val="F2F2F2"/>
                          </a:solidFill>
                          <a:latin typeface="Aptos"/>
                        </a:rPr>
                        <a:t>simple</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8,426</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269,617</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3.80</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11.87×</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tc>
                  <a:txBody>
                    <a:bodyPr/>
                    <a:lstStyle/>
                    <a:p>
                      <a:pPr algn="r"/>
                      <a:r>
                        <a:rPr lang="en-US" sz="1300" b="0" dirty="0">
                          <a:solidFill>
                            <a:srgbClr val="F2F2F2"/>
                          </a:solidFill>
                          <a:latin typeface="Aptos"/>
                        </a:rPr>
                        <a:t>461.7×</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noFill/>
                  </a:tcPr>
                </a:tc>
                <a:extLst>
                  <a:ext uri="{0D108BD9-81ED-4DB2-BD59-A6C34878D82A}">
                    <a16:rowId xmlns:a16="http://schemas.microsoft.com/office/drawing/2014/main" val="10015"/>
                  </a:ext>
                </a:extLst>
              </a:tr>
              <a:tr h="273050">
                <a:tc>
                  <a:txBody>
                    <a:bodyPr/>
                    <a:lstStyle/>
                    <a:p>
                      <a:pPr algn="l"/>
                      <a:r>
                        <a:rPr lang="en-US" sz="1300" b="1" dirty="0">
                          <a:solidFill>
                            <a:srgbClr val="F7C548"/>
                          </a:solidFill>
                          <a:latin typeface="Aptos"/>
                        </a:rPr>
                        <a:t>all cheats + batch ×32 (SQL fn)</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solidFill>
                      <a:srgbClr val="2F2A1C"/>
                    </a:solidFill>
                  </a:tcPr>
                </a:tc>
                <a:tc>
                  <a:txBody>
                    <a:bodyPr/>
                    <a:lstStyle/>
                    <a:p>
                      <a:pPr algn="l"/>
                      <a:r>
                        <a:rPr lang="en-US" sz="1300" b="1" dirty="0">
                          <a:solidFill>
                            <a:srgbClr val="F7C548"/>
                          </a:solidFill>
                          <a:latin typeface="Aptos"/>
                        </a:rPr>
                        <a:t>prepared</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solidFill>
                      <a:srgbClr val="2F2A1C"/>
                    </a:solidFill>
                  </a:tcPr>
                </a:tc>
                <a:tc>
                  <a:txBody>
                    <a:bodyPr/>
                    <a:lstStyle/>
                    <a:p>
                      <a:pPr algn="r"/>
                      <a:r>
                        <a:rPr lang="en-US" sz="1300" b="1" dirty="0">
                          <a:solidFill>
                            <a:srgbClr val="F7C548"/>
                          </a:solidFill>
                          <a:latin typeface="Aptos"/>
                        </a:rPr>
                        <a:t>11,337</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solidFill>
                      <a:srgbClr val="2F2A1C"/>
                    </a:solidFill>
                  </a:tcPr>
                </a:tc>
                <a:tc>
                  <a:txBody>
                    <a:bodyPr/>
                    <a:lstStyle/>
                    <a:p>
                      <a:pPr algn="r"/>
                      <a:r>
                        <a:rPr lang="en-US" sz="1300" b="1" dirty="0">
                          <a:solidFill>
                            <a:srgbClr val="F7C548"/>
                          </a:solidFill>
                          <a:latin typeface="Aptos"/>
                        </a:rPr>
                        <a:t>362,789</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solidFill>
                      <a:srgbClr val="2F2A1C"/>
                    </a:solidFill>
                  </a:tcPr>
                </a:tc>
                <a:tc>
                  <a:txBody>
                    <a:bodyPr/>
                    <a:lstStyle/>
                    <a:p>
                      <a:pPr algn="r"/>
                      <a:r>
                        <a:rPr lang="en-US" sz="1300" b="1" dirty="0">
                          <a:solidFill>
                            <a:srgbClr val="F7C548"/>
                          </a:solidFill>
                          <a:latin typeface="Aptos"/>
                        </a:rPr>
                        <a:t>2.82</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solidFill>
                      <a:srgbClr val="2F2A1C"/>
                    </a:solidFill>
                  </a:tcPr>
                </a:tc>
                <a:tc>
                  <a:txBody>
                    <a:bodyPr/>
                    <a:lstStyle/>
                    <a:p>
                      <a:pPr algn="r"/>
                      <a:r>
                        <a:rPr lang="en-US" sz="1300" b="1" dirty="0">
                          <a:solidFill>
                            <a:srgbClr val="F7C548"/>
                          </a:solidFill>
                          <a:latin typeface="Aptos"/>
                        </a:rPr>
                        <a:t>15.98×</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solidFill>
                      <a:srgbClr val="2F2A1C"/>
                    </a:solidFill>
                  </a:tcPr>
                </a:tc>
                <a:tc>
                  <a:txBody>
                    <a:bodyPr/>
                    <a:lstStyle/>
                    <a:p>
                      <a:pPr algn="r"/>
                      <a:r>
                        <a:rPr lang="en-US" sz="1300" b="1" dirty="0">
                          <a:solidFill>
                            <a:srgbClr val="F7C548"/>
                          </a:solidFill>
                          <a:latin typeface="Aptos"/>
                        </a:rPr>
                        <a:t>621.3×</a:t>
                      </a:r>
                    </a:p>
                  </a:txBody>
                  <a:tcPr marL="76200" marR="101600" marT="25400" marB="25400" anchor="ctr">
                    <a:lnL w="0">
                      <a:noFill/>
                    </a:lnL>
                    <a:lnR w="0">
                      <a:noFill/>
                    </a:lnR>
                    <a:lnT w="6350" cap="flat" cmpd="sng" algn="ctr">
                      <a:solidFill>
                        <a:srgbClr val="34363C"/>
                      </a:solidFill>
                      <a:prstDash val="solid"/>
                      <a:round/>
                      <a:headEnd type="none" w="med" len="med"/>
                      <a:tailEnd type="none" w="med" len="med"/>
                    </a:lnT>
                    <a:lnB w="6350">
                      <a:solidFill>
                        <a:srgbClr val="34363C"/>
                      </a:solidFill>
                    </a:lnB>
                    <a:solidFill>
                      <a:srgbClr val="2F2A1C"/>
                    </a:solidFill>
                  </a:tcPr>
                </a:tc>
                <a:extLst>
                  <a:ext uri="{0D108BD9-81ED-4DB2-BD59-A6C34878D82A}">
                    <a16:rowId xmlns:a16="http://schemas.microsoft.com/office/drawing/2014/main" val="10016"/>
                  </a:ext>
                </a:extLst>
              </a:tr>
            </a:tbl>
          </a:graphicData>
        </a:graphic>
      </p:graphicFrame>
      <p:sp>
        <p:nvSpPr>
          <p:cNvPr id="5" name="Footnotes"/>
          <p:cNvSpPr txBox="1"/>
          <p:nvPr/>
        </p:nvSpPr>
        <p:spPr>
          <a:xfrm>
            <a:off x="594360" y="5930900"/>
            <a:ext cx="11049000" cy="430887"/>
          </a:xfrm>
          <a:prstGeom prst="rect">
            <a:avLst/>
          </a:prstGeom>
          <a:noFill/>
        </p:spPr>
        <p:txBody>
          <a:bodyPr wrap="square" anchor="t">
            <a:spAutoFit/>
          </a:bodyPr>
          <a:lstStyle/>
          <a:p>
            <a:pPr algn="l"/>
            <a:r>
              <a:rPr lang="en-US" sz="1100" b="0" dirty="0">
                <a:solidFill>
                  <a:srgbClr val="BEBEBE"/>
                </a:solidFill>
                <a:latin typeface="Aptos"/>
              </a:rPr>
              <a:t>* OPS = operations/second for batched methods, TPS otherwise. × baseline = vs indexed baseline; × Case 0 = vs the crippled Case 0. Highlighted row stacks every cheat at once.</a:t>
            </a:r>
          </a:p>
          <a:p>
            <a:pPr algn="l"/>
            <a:r>
              <a:rPr lang="en-US" sz="1100" b="0" dirty="0">
                <a:solidFill>
                  <a:srgbClr val="BEBEBE"/>
                </a:solidFill>
                <a:latin typeface="Aptos"/>
              </a:rPr>
              <a:t>Dev Drive with Defender performance mode keeps real-time scanning out of the commit path (scans run asynchronously).</a:t>
            </a:r>
          </a:p>
        </p:txBody>
      </p:sp>
      <p:sp>
        <p:nvSpPr>
          <p:cNvPr id="6" name="Footer"/>
          <p:cNvSpPr txBox="1"/>
          <p:nvPr/>
        </p:nvSpPr>
        <p:spPr>
          <a:xfrm>
            <a:off x="502920" y="6510528"/>
            <a:ext cx="2377440" cy="164592"/>
          </a:xfrm>
          <a:prstGeom prst="rect">
            <a:avLst/>
          </a:prstGeom>
          <a:noFill/>
        </p:spPr>
        <p:txBody>
          <a:bodyPr wrap="square" anchor="t">
            <a:spAutoFit/>
          </a:bodyPr>
          <a:lstStyle/>
          <a:p>
            <a:pPr algn="l"/>
            <a:r>
              <a:rPr lang="en-US" sz="750" b="1" dirty="0">
                <a:solidFill>
                  <a:srgbClr val="BEBEBE"/>
                </a:solidFill>
                <a:latin typeface="Aptos"/>
              </a:rPr>
              <a:t>MY DISHONEST BENCHMARK</a:t>
            </a:r>
          </a:p>
        </p:txBody>
      </p:sp>
    </p:spTree>
    <p:extLst>
      <p:ext uri="{BB962C8B-B14F-4D97-AF65-F5344CB8AC3E}">
        <p14:creationId xmlns:p14="http://schemas.microsoft.com/office/powerpoint/2010/main" val="33465810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3" name="TextBox 2"/>
          <p:cNvSpPr txBox="1"/>
          <p:nvPr/>
        </p:nvSpPr>
        <p:spPr>
          <a:xfrm>
            <a:off x="637263" y="463529"/>
            <a:ext cx="4142232" cy="584775"/>
          </a:xfrm>
          <a:prstGeom prst="rect">
            <a:avLst/>
          </a:prstGeom>
          <a:noFill/>
        </p:spPr>
        <p:txBody>
          <a:bodyPr wrap="square" anchor="t">
            <a:spAutoFit/>
          </a:bodyPr>
          <a:lstStyle/>
          <a:p>
            <a:pPr algn="l">
              <a:defRPr sz="1000" b="1">
                <a:solidFill>
                  <a:srgbClr val="FFFFFF"/>
                </a:solidFill>
                <a:latin typeface="Aptos"/>
              </a:defRPr>
            </a:pPr>
            <a:r>
              <a:rPr lang="en-US" sz="3200" dirty="0">
                <a:solidFill>
                  <a:srgbClr val="92D050"/>
                </a:solidFill>
              </a:rPr>
              <a:t>CHAMP IS HERE</a:t>
            </a:r>
            <a:endParaRPr sz="3200" dirty="0">
              <a:solidFill>
                <a:srgbClr val="92D050"/>
              </a:solidFill>
            </a:endParaRPr>
          </a:p>
        </p:txBody>
      </p:sp>
      <p:sp>
        <p:nvSpPr>
          <p:cNvPr id="4" name="TextBox 3"/>
          <p:cNvSpPr txBox="1"/>
          <p:nvPr/>
        </p:nvSpPr>
        <p:spPr>
          <a:xfrm>
            <a:off x="685800" y="1575585"/>
            <a:ext cx="6035040" cy="954107"/>
          </a:xfrm>
          <a:prstGeom prst="rect">
            <a:avLst/>
          </a:prstGeom>
          <a:noFill/>
        </p:spPr>
        <p:txBody>
          <a:bodyPr wrap="square" anchor="t">
            <a:spAutoFit/>
          </a:bodyPr>
          <a:lstStyle/>
          <a:p>
            <a:pPr algn="l">
              <a:defRPr sz="5600" b="1">
                <a:solidFill>
                  <a:srgbClr val="FFFFFF"/>
                </a:solidFill>
                <a:latin typeface="Aptos Display"/>
              </a:defRPr>
            </a:pPr>
            <a:r>
              <a:rPr dirty="0"/>
              <a:t>36</a:t>
            </a:r>
            <a:r>
              <a:rPr lang="en-US" dirty="0"/>
              <a:t>2</a:t>
            </a:r>
            <a:r>
              <a:rPr dirty="0"/>
              <a:t>,</a:t>
            </a:r>
            <a:r>
              <a:rPr lang="en-US" dirty="0"/>
              <a:t>789</a:t>
            </a:r>
            <a:endParaRPr dirty="0"/>
          </a:p>
        </p:txBody>
      </p:sp>
      <p:sp>
        <p:nvSpPr>
          <p:cNvPr id="5" name="TextBox 4"/>
          <p:cNvSpPr txBox="1"/>
          <p:nvPr/>
        </p:nvSpPr>
        <p:spPr>
          <a:xfrm>
            <a:off x="749808" y="2423160"/>
            <a:ext cx="3200400" cy="365760"/>
          </a:xfrm>
          <a:prstGeom prst="rect">
            <a:avLst/>
          </a:prstGeom>
          <a:noFill/>
        </p:spPr>
        <p:txBody>
          <a:bodyPr wrap="square" anchor="t">
            <a:spAutoFit/>
          </a:bodyPr>
          <a:lstStyle/>
          <a:p>
            <a:pPr algn="l">
              <a:defRPr sz="1800" b="1">
                <a:solidFill>
                  <a:srgbClr val="FF655C"/>
                </a:solidFill>
                <a:latin typeface="Aptos"/>
              </a:defRPr>
            </a:pPr>
            <a:r>
              <a:t>REPORTED OPS</a:t>
            </a:r>
          </a:p>
        </p:txBody>
      </p:sp>
      <p:sp>
        <p:nvSpPr>
          <p:cNvPr id="6" name="TextBox 5"/>
          <p:cNvSpPr txBox="1"/>
          <p:nvPr/>
        </p:nvSpPr>
        <p:spPr>
          <a:xfrm>
            <a:off x="640080" y="3703320"/>
            <a:ext cx="4297680" cy="777240"/>
          </a:xfrm>
          <a:prstGeom prst="rect">
            <a:avLst/>
          </a:prstGeom>
          <a:noFill/>
        </p:spPr>
        <p:txBody>
          <a:bodyPr wrap="square" anchor="t">
            <a:spAutoFit/>
          </a:bodyPr>
          <a:lstStyle/>
          <a:p>
            <a:pPr algn="ctr">
              <a:defRPr sz="4400" b="1">
                <a:solidFill>
                  <a:srgbClr val="FFFFFF"/>
                </a:solidFill>
                <a:latin typeface="Aptos Display"/>
              </a:defRPr>
            </a:pPr>
            <a:r>
              <a:rPr dirty="0"/>
              <a:t>15.</a:t>
            </a:r>
            <a:r>
              <a:rPr lang="en-US" dirty="0"/>
              <a:t>98</a:t>
            </a:r>
            <a:r>
              <a:rPr dirty="0"/>
              <a:t>×</a:t>
            </a:r>
          </a:p>
        </p:txBody>
      </p:sp>
      <p:sp>
        <p:nvSpPr>
          <p:cNvPr id="7" name="TextBox 6"/>
          <p:cNvSpPr txBox="1"/>
          <p:nvPr/>
        </p:nvSpPr>
        <p:spPr>
          <a:xfrm>
            <a:off x="640080" y="4416552"/>
            <a:ext cx="4297680" cy="347472"/>
          </a:xfrm>
          <a:prstGeom prst="rect">
            <a:avLst/>
          </a:prstGeom>
          <a:noFill/>
        </p:spPr>
        <p:txBody>
          <a:bodyPr wrap="square" anchor="t">
            <a:spAutoFit/>
          </a:bodyPr>
          <a:lstStyle/>
          <a:p>
            <a:pPr algn="ctr">
              <a:defRPr sz="1200" b="1">
                <a:solidFill>
                  <a:srgbClr val="00C2D6"/>
                </a:solidFill>
                <a:latin typeface="Aptos"/>
              </a:defRPr>
            </a:pPr>
            <a:r>
              <a:t>VS INDEXED BASELINE</a:t>
            </a:r>
          </a:p>
        </p:txBody>
      </p:sp>
      <p:sp>
        <p:nvSpPr>
          <p:cNvPr id="8" name="TextBox 7"/>
          <p:cNvSpPr txBox="1"/>
          <p:nvPr/>
        </p:nvSpPr>
        <p:spPr>
          <a:xfrm>
            <a:off x="6583680" y="3703320"/>
            <a:ext cx="4297680" cy="777240"/>
          </a:xfrm>
          <a:prstGeom prst="rect">
            <a:avLst/>
          </a:prstGeom>
          <a:noFill/>
        </p:spPr>
        <p:txBody>
          <a:bodyPr wrap="square" anchor="t">
            <a:spAutoFit/>
          </a:bodyPr>
          <a:lstStyle/>
          <a:p>
            <a:pPr algn="ctr">
              <a:defRPr sz="4400" b="1">
                <a:solidFill>
                  <a:srgbClr val="FFFFFF"/>
                </a:solidFill>
                <a:latin typeface="Aptos Display"/>
              </a:defRPr>
            </a:pPr>
            <a:r>
              <a:rPr lang="en-US" dirty="0"/>
              <a:t>621</a:t>
            </a:r>
            <a:r>
              <a:rPr dirty="0"/>
              <a:t>×</a:t>
            </a:r>
          </a:p>
        </p:txBody>
      </p:sp>
      <p:sp>
        <p:nvSpPr>
          <p:cNvPr id="9" name="TextBox 8"/>
          <p:cNvSpPr txBox="1"/>
          <p:nvPr/>
        </p:nvSpPr>
        <p:spPr>
          <a:xfrm>
            <a:off x="6583680" y="4416552"/>
            <a:ext cx="4297680" cy="347472"/>
          </a:xfrm>
          <a:prstGeom prst="rect">
            <a:avLst/>
          </a:prstGeom>
          <a:noFill/>
        </p:spPr>
        <p:txBody>
          <a:bodyPr wrap="square" anchor="t">
            <a:spAutoFit/>
          </a:bodyPr>
          <a:lstStyle/>
          <a:p>
            <a:pPr algn="ctr">
              <a:defRPr sz="1200" b="1">
                <a:solidFill>
                  <a:srgbClr val="F6C548"/>
                </a:solidFill>
                <a:latin typeface="Aptos"/>
              </a:defRPr>
            </a:pPr>
            <a:r>
              <a:t>VS CRIPPLED CASE 0</a:t>
            </a:r>
          </a:p>
        </p:txBody>
      </p:sp>
      <p:sp>
        <p:nvSpPr>
          <p:cNvPr id="10" name="TextBox 9"/>
          <p:cNvSpPr txBox="1"/>
          <p:nvPr/>
        </p:nvSpPr>
        <p:spPr>
          <a:xfrm>
            <a:off x="749808" y="5532120"/>
            <a:ext cx="10149840" cy="457200"/>
          </a:xfrm>
          <a:prstGeom prst="rect">
            <a:avLst/>
          </a:prstGeom>
          <a:noFill/>
        </p:spPr>
        <p:txBody>
          <a:bodyPr wrap="square" anchor="t">
            <a:spAutoFit/>
          </a:bodyPr>
          <a:lstStyle/>
          <a:p>
            <a:pPr algn="ctr">
              <a:defRPr sz="2100" b="1">
                <a:solidFill>
                  <a:srgbClr val="C8C8C8"/>
                </a:solidFill>
                <a:latin typeface="Aptos"/>
              </a:defRPr>
            </a:pPr>
            <a:r>
              <a:t>The number is not fake. The framing is the trick.</a:t>
            </a:r>
          </a:p>
        </p:txBody>
      </p:sp>
      <p:sp>
        <p:nvSpPr>
          <p:cNvPr id="11" name="TextBox 10"/>
          <p:cNvSpPr txBox="1"/>
          <p:nvPr/>
        </p:nvSpPr>
        <p:spPr>
          <a:xfrm>
            <a:off x="502920" y="6510528"/>
            <a:ext cx="2377440" cy="164592"/>
          </a:xfrm>
          <a:prstGeom prst="rect">
            <a:avLst/>
          </a:prstGeom>
          <a:noFill/>
        </p:spPr>
        <p:txBody>
          <a:bodyPr wrap="square" anchor="t">
            <a:spAutoFit/>
          </a:bodyPr>
          <a:lstStyle/>
          <a:p>
            <a:pPr algn="l">
              <a:defRPr sz="750" b="1">
                <a:solidFill>
                  <a:srgbClr val="AAAAAA"/>
                </a:solidFill>
                <a:latin typeface="Aptos"/>
              </a:defRPr>
            </a:pPr>
            <a:r>
              <a:t>MY DISHONEST BENCHMARK</a:t>
            </a:r>
          </a:p>
        </p:txBody>
      </p:sp>
      <p:sp>
        <p:nvSpPr>
          <p:cNvPr id="12" name="TextBox 11"/>
          <p:cNvSpPr txBox="1"/>
          <p:nvPr/>
        </p:nvSpPr>
        <p:spPr>
          <a:xfrm>
            <a:off x="11155680" y="6473952"/>
            <a:ext cx="502920" cy="182880"/>
          </a:xfrm>
          <a:prstGeom prst="rect">
            <a:avLst/>
          </a:prstGeom>
          <a:noFill/>
        </p:spPr>
        <p:txBody>
          <a:bodyPr wrap="square" anchor="t">
            <a:spAutoFit/>
          </a:bodyPr>
          <a:lstStyle/>
          <a:p>
            <a:pPr algn="r">
              <a:defRPr sz="800" b="1">
                <a:solidFill>
                  <a:srgbClr val="AAAAAA"/>
                </a:solidFill>
                <a:latin typeface="Aptos"/>
              </a:defRPr>
            </a:pPr>
            <a:r>
              <a:t>32</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 name="TextBox 1"/>
          <p:cNvSpPr txBox="1"/>
          <p:nvPr/>
        </p:nvSpPr>
        <p:spPr>
          <a:xfrm>
            <a:off x="594360" y="148413"/>
            <a:ext cx="5057334" cy="584775"/>
          </a:xfrm>
          <a:prstGeom prst="rect">
            <a:avLst/>
          </a:prstGeom>
          <a:noFill/>
        </p:spPr>
        <p:txBody>
          <a:bodyPr wrap="square" anchor="t">
            <a:spAutoFit/>
          </a:bodyPr>
          <a:lstStyle/>
          <a:p>
            <a:pPr algn="l">
              <a:defRPr sz="1000" b="1">
                <a:solidFill>
                  <a:srgbClr val="FF655C"/>
                </a:solidFill>
                <a:latin typeface="Aptos"/>
              </a:defRPr>
            </a:pPr>
            <a:r>
              <a:rPr sz="3200" dirty="0">
                <a:solidFill>
                  <a:srgbClr val="F2F2F2"/>
                </a:solidFill>
              </a:rPr>
              <a:t>THE MARKETING CHART</a:t>
            </a:r>
          </a:p>
        </p:txBody>
      </p:sp>
      <p:sp>
        <p:nvSpPr>
          <p:cNvPr id="3" name="TextBox 2"/>
          <p:cNvSpPr txBox="1"/>
          <p:nvPr/>
        </p:nvSpPr>
        <p:spPr>
          <a:xfrm>
            <a:off x="594360" y="694944"/>
            <a:ext cx="10515600" cy="621792"/>
          </a:xfrm>
          <a:prstGeom prst="rect">
            <a:avLst/>
          </a:prstGeom>
          <a:noFill/>
        </p:spPr>
        <p:txBody>
          <a:bodyPr wrap="square" anchor="t">
            <a:spAutoFit/>
          </a:bodyPr>
          <a:lstStyle/>
          <a:p>
            <a:pPr algn="l">
              <a:defRPr sz="2900" b="1">
                <a:solidFill>
                  <a:srgbClr val="F2F2F2"/>
                </a:solidFill>
                <a:latin typeface="Aptos Display"/>
              </a:defRPr>
            </a:pPr>
            <a:r>
              <a:t>Now plot the headline number instead</a:t>
            </a:r>
          </a:p>
        </p:txBody>
      </p:sp>
      <p:sp>
        <p:nvSpPr>
          <p:cNvPr id="4" name="Rounded Rectangle 3"/>
          <p:cNvSpPr/>
          <p:nvPr/>
        </p:nvSpPr>
        <p:spPr>
          <a:xfrm>
            <a:off x="9055100" y="787400"/>
            <a:ext cx="2540000" cy="381000"/>
          </a:xfrm>
          <a:prstGeom prst="roundRect">
            <a:avLst/>
          </a:prstGeom>
          <a:solidFill>
            <a:srgbClr val="FF6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5" name="TextBox 4"/>
          <p:cNvSpPr txBox="1"/>
          <p:nvPr/>
        </p:nvSpPr>
        <p:spPr>
          <a:xfrm>
            <a:off x="9055100" y="885567"/>
            <a:ext cx="2540000" cy="184666"/>
          </a:xfrm>
          <a:prstGeom prst="rect">
            <a:avLst/>
          </a:prstGeom>
          <a:noFill/>
        </p:spPr>
        <p:txBody>
          <a:bodyPr wrap="square" tIns="0" bIns="0" anchor="ctr">
            <a:spAutoFit/>
          </a:bodyPr>
          <a:lstStyle/>
          <a:p>
            <a:pPr algn="ctr">
              <a:defRPr sz="1200" b="1">
                <a:solidFill>
                  <a:srgbClr val="17181C"/>
                </a:solidFill>
                <a:latin typeface="Aptos"/>
              </a:defRPr>
            </a:pPr>
            <a:r>
              <a:t>WARNING: TPS → OPS</a:t>
            </a:r>
          </a:p>
        </p:txBody>
      </p:sp>
      <p:sp>
        <p:nvSpPr>
          <p:cNvPr id="6" name="TextBox 5"/>
          <p:cNvSpPr txBox="1"/>
          <p:nvPr/>
        </p:nvSpPr>
        <p:spPr>
          <a:xfrm>
            <a:off x="596900" y="1741100"/>
            <a:ext cx="3048000" cy="276999"/>
          </a:xfrm>
          <a:prstGeom prst="rect">
            <a:avLst/>
          </a:prstGeom>
          <a:noFill/>
        </p:spPr>
        <p:txBody>
          <a:bodyPr wrap="square" tIns="0" bIns="0" anchor="ctr">
            <a:spAutoFit/>
          </a:bodyPr>
          <a:lstStyle/>
          <a:p>
            <a:pPr algn="l">
              <a:defRPr sz="1800" b="0">
                <a:solidFill>
                  <a:srgbClr val="F2F2F2"/>
                </a:solidFill>
                <a:latin typeface="Aptos"/>
              </a:defRPr>
            </a:pPr>
            <a:r>
              <a:t>Case 0 TPS</a:t>
            </a:r>
          </a:p>
        </p:txBody>
      </p:sp>
      <p:sp>
        <p:nvSpPr>
          <p:cNvPr id="7" name="Rounded Rectangle 6"/>
          <p:cNvSpPr/>
          <p:nvPr/>
        </p:nvSpPr>
        <p:spPr>
          <a:xfrm>
            <a:off x="3810000" y="1625600"/>
            <a:ext cx="6350000" cy="508000"/>
          </a:xfrm>
          <a:prstGeom prst="roundRect">
            <a:avLst/>
          </a:prstGeom>
          <a:solidFill>
            <a:srgbClr val="222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8" name="Rounded Rectangle 7"/>
          <p:cNvSpPr/>
          <p:nvPr/>
        </p:nvSpPr>
        <p:spPr>
          <a:xfrm>
            <a:off x="3810000" y="1625600"/>
            <a:ext cx="63500" cy="508000"/>
          </a:xfrm>
          <a:prstGeom prst="roundRect">
            <a:avLst/>
          </a:prstGeom>
          <a:solidFill>
            <a:srgbClr val="FF6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9" name="TextBox 8"/>
          <p:cNvSpPr txBox="1"/>
          <p:nvPr/>
        </p:nvSpPr>
        <p:spPr>
          <a:xfrm>
            <a:off x="10261600" y="1725711"/>
            <a:ext cx="1333500" cy="307777"/>
          </a:xfrm>
          <a:prstGeom prst="rect">
            <a:avLst/>
          </a:prstGeom>
          <a:noFill/>
        </p:spPr>
        <p:txBody>
          <a:bodyPr wrap="square" tIns="0" bIns="0" anchor="ctr">
            <a:spAutoFit/>
          </a:bodyPr>
          <a:lstStyle/>
          <a:p>
            <a:pPr algn="l">
              <a:defRPr sz="2000" b="1">
                <a:solidFill>
                  <a:srgbClr val="F2F2F2"/>
                </a:solidFill>
                <a:latin typeface="Aptos"/>
              </a:defRPr>
            </a:pPr>
            <a:r>
              <a:t>584</a:t>
            </a:r>
          </a:p>
        </p:txBody>
      </p:sp>
      <p:sp>
        <p:nvSpPr>
          <p:cNvPr id="10" name="TextBox 9"/>
          <p:cNvSpPr txBox="1"/>
          <p:nvPr/>
        </p:nvSpPr>
        <p:spPr>
          <a:xfrm>
            <a:off x="596900" y="2503100"/>
            <a:ext cx="3048000" cy="276999"/>
          </a:xfrm>
          <a:prstGeom prst="rect">
            <a:avLst/>
          </a:prstGeom>
          <a:noFill/>
        </p:spPr>
        <p:txBody>
          <a:bodyPr wrap="square" tIns="0" bIns="0" anchor="ctr">
            <a:spAutoFit/>
          </a:bodyPr>
          <a:lstStyle/>
          <a:p>
            <a:pPr algn="l">
              <a:defRPr sz="1800" b="0">
                <a:solidFill>
                  <a:srgbClr val="F2F2F2"/>
                </a:solidFill>
                <a:latin typeface="Aptos"/>
              </a:defRPr>
            </a:pPr>
            <a:r>
              <a:t>Indexed TPS</a:t>
            </a:r>
          </a:p>
        </p:txBody>
      </p:sp>
      <p:sp>
        <p:nvSpPr>
          <p:cNvPr id="11" name="Rounded Rectangle 10"/>
          <p:cNvSpPr/>
          <p:nvPr/>
        </p:nvSpPr>
        <p:spPr>
          <a:xfrm>
            <a:off x="3810000" y="2387600"/>
            <a:ext cx="6350000" cy="508000"/>
          </a:xfrm>
          <a:prstGeom prst="roundRect">
            <a:avLst/>
          </a:prstGeom>
          <a:solidFill>
            <a:srgbClr val="222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12" name="Rounded Rectangle 11"/>
          <p:cNvSpPr/>
          <p:nvPr/>
        </p:nvSpPr>
        <p:spPr>
          <a:xfrm>
            <a:off x="3810000" y="2387600"/>
            <a:ext cx="393700" cy="508000"/>
          </a:xfrm>
          <a:prstGeom prst="roundRect">
            <a:avLst/>
          </a:prstGeom>
          <a:solidFill>
            <a:srgbClr val="FF6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13" name="TextBox 12"/>
          <p:cNvSpPr txBox="1"/>
          <p:nvPr/>
        </p:nvSpPr>
        <p:spPr>
          <a:xfrm>
            <a:off x="10261600" y="2487711"/>
            <a:ext cx="942887" cy="307777"/>
          </a:xfrm>
          <a:prstGeom prst="rect">
            <a:avLst/>
          </a:prstGeom>
          <a:noFill/>
        </p:spPr>
        <p:txBody>
          <a:bodyPr wrap="none" tIns="0" bIns="0" anchor="ctr">
            <a:spAutoFit/>
          </a:bodyPr>
          <a:lstStyle/>
          <a:p>
            <a:pPr algn="l">
              <a:defRPr sz="2000" b="1">
                <a:solidFill>
                  <a:srgbClr val="F2F2F2"/>
                </a:solidFill>
                <a:latin typeface="Aptos"/>
              </a:defRPr>
            </a:pPr>
            <a:r>
              <a:t>22,705</a:t>
            </a:r>
          </a:p>
        </p:txBody>
      </p:sp>
      <p:sp>
        <p:nvSpPr>
          <p:cNvPr id="14" name="TextBox 13"/>
          <p:cNvSpPr txBox="1"/>
          <p:nvPr/>
        </p:nvSpPr>
        <p:spPr>
          <a:xfrm>
            <a:off x="596900" y="3265100"/>
            <a:ext cx="3048000" cy="276999"/>
          </a:xfrm>
          <a:prstGeom prst="rect">
            <a:avLst/>
          </a:prstGeom>
          <a:noFill/>
        </p:spPr>
        <p:txBody>
          <a:bodyPr wrap="square" tIns="0" bIns="0" anchor="ctr">
            <a:spAutoFit/>
          </a:bodyPr>
          <a:lstStyle/>
          <a:p>
            <a:pPr algn="l">
              <a:defRPr sz="1800" b="0">
                <a:solidFill>
                  <a:srgbClr val="F2F2F2"/>
                </a:solidFill>
                <a:latin typeface="Aptos"/>
              </a:defRPr>
            </a:pPr>
            <a:r>
              <a:t>SQL fn TPS</a:t>
            </a:r>
          </a:p>
        </p:txBody>
      </p:sp>
      <p:sp>
        <p:nvSpPr>
          <p:cNvPr id="15" name="Rounded Rectangle 14"/>
          <p:cNvSpPr/>
          <p:nvPr/>
        </p:nvSpPr>
        <p:spPr>
          <a:xfrm>
            <a:off x="3810000" y="3149600"/>
            <a:ext cx="6350000" cy="508000"/>
          </a:xfrm>
          <a:prstGeom prst="roundRect">
            <a:avLst/>
          </a:prstGeom>
          <a:solidFill>
            <a:srgbClr val="222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16" name="Rounded Rectangle 15"/>
          <p:cNvSpPr/>
          <p:nvPr/>
        </p:nvSpPr>
        <p:spPr>
          <a:xfrm>
            <a:off x="3810000" y="3149600"/>
            <a:ext cx="1270000" cy="508000"/>
          </a:xfrm>
          <a:prstGeom prst="roundRect">
            <a:avLst/>
          </a:prstGeom>
          <a:solidFill>
            <a:srgbClr val="FF6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17" name="TextBox 16"/>
          <p:cNvSpPr txBox="1"/>
          <p:nvPr/>
        </p:nvSpPr>
        <p:spPr>
          <a:xfrm>
            <a:off x="10261600" y="3249711"/>
            <a:ext cx="942887" cy="307777"/>
          </a:xfrm>
          <a:prstGeom prst="rect">
            <a:avLst/>
          </a:prstGeom>
          <a:noFill/>
        </p:spPr>
        <p:txBody>
          <a:bodyPr wrap="none" tIns="0" bIns="0" anchor="ctr">
            <a:spAutoFit/>
          </a:bodyPr>
          <a:lstStyle/>
          <a:p>
            <a:pPr algn="l">
              <a:defRPr sz="2000" b="1">
                <a:solidFill>
                  <a:srgbClr val="F2F2F2"/>
                </a:solidFill>
                <a:latin typeface="Aptos"/>
              </a:defRPr>
            </a:pPr>
            <a:r>
              <a:t>72,743</a:t>
            </a:r>
          </a:p>
        </p:txBody>
      </p:sp>
      <p:sp>
        <p:nvSpPr>
          <p:cNvPr id="18" name="TextBox 17"/>
          <p:cNvSpPr txBox="1"/>
          <p:nvPr/>
        </p:nvSpPr>
        <p:spPr>
          <a:xfrm>
            <a:off x="596900" y="4027100"/>
            <a:ext cx="3048000" cy="276999"/>
          </a:xfrm>
          <a:prstGeom prst="rect">
            <a:avLst/>
          </a:prstGeom>
          <a:noFill/>
        </p:spPr>
        <p:txBody>
          <a:bodyPr wrap="square" tIns="0" bIns="0" anchor="ctr">
            <a:spAutoFit/>
          </a:bodyPr>
          <a:lstStyle/>
          <a:p>
            <a:pPr algn="l">
              <a:defRPr sz="1800" b="0">
                <a:solidFill>
                  <a:srgbClr val="F2F2F2"/>
                </a:solidFill>
                <a:latin typeface="Aptos"/>
              </a:defRPr>
            </a:pPr>
            <a:r>
              <a:t>Batch ×8 OPS</a:t>
            </a:r>
          </a:p>
        </p:txBody>
      </p:sp>
      <p:sp>
        <p:nvSpPr>
          <p:cNvPr id="19" name="Rounded Rectangle 18"/>
          <p:cNvSpPr/>
          <p:nvPr/>
        </p:nvSpPr>
        <p:spPr>
          <a:xfrm>
            <a:off x="3810000" y="3911600"/>
            <a:ext cx="6350000" cy="508000"/>
          </a:xfrm>
          <a:prstGeom prst="roundRect">
            <a:avLst/>
          </a:prstGeom>
          <a:solidFill>
            <a:srgbClr val="222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20" name="Rounded Rectangle 19"/>
          <p:cNvSpPr/>
          <p:nvPr/>
        </p:nvSpPr>
        <p:spPr>
          <a:xfrm>
            <a:off x="3810000" y="3911600"/>
            <a:ext cx="3378200" cy="508000"/>
          </a:xfrm>
          <a:prstGeom prst="roundRect">
            <a:avLst/>
          </a:prstGeom>
          <a:solidFill>
            <a:srgbClr val="FF6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21" name="TextBox 20"/>
          <p:cNvSpPr txBox="1"/>
          <p:nvPr/>
        </p:nvSpPr>
        <p:spPr>
          <a:xfrm>
            <a:off x="10261600" y="4011711"/>
            <a:ext cx="1079142" cy="307777"/>
          </a:xfrm>
          <a:prstGeom prst="rect">
            <a:avLst/>
          </a:prstGeom>
          <a:noFill/>
        </p:spPr>
        <p:txBody>
          <a:bodyPr wrap="none" tIns="0" bIns="0" anchor="ctr">
            <a:spAutoFit/>
          </a:bodyPr>
          <a:lstStyle/>
          <a:p>
            <a:pPr algn="l">
              <a:defRPr sz="2000" b="1">
                <a:solidFill>
                  <a:srgbClr val="F2F2F2"/>
                </a:solidFill>
                <a:latin typeface="Aptos"/>
              </a:defRPr>
            </a:pPr>
            <a:r>
              <a:t>192,790</a:t>
            </a:r>
          </a:p>
        </p:txBody>
      </p:sp>
      <p:sp>
        <p:nvSpPr>
          <p:cNvPr id="22" name="TextBox 21"/>
          <p:cNvSpPr txBox="1"/>
          <p:nvPr/>
        </p:nvSpPr>
        <p:spPr>
          <a:xfrm>
            <a:off x="596900" y="4789100"/>
            <a:ext cx="3048000" cy="276999"/>
          </a:xfrm>
          <a:prstGeom prst="rect">
            <a:avLst/>
          </a:prstGeom>
          <a:noFill/>
        </p:spPr>
        <p:txBody>
          <a:bodyPr wrap="square" tIns="0" bIns="0" anchor="ctr">
            <a:spAutoFit/>
          </a:bodyPr>
          <a:lstStyle/>
          <a:p>
            <a:pPr algn="l">
              <a:defRPr sz="1800" b="0">
                <a:solidFill>
                  <a:srgbClr val="F2F2F2"/>
                </a:solidFill>
                <a:latin typeface="Aptos"/>
              </a:defRPr>
            </a:pPr>
            <a:r>
              <a:t>Batch ×32 OPS</a:t>
            </a:r>
          </a:p>
        </p:txBody>
      </p:sp>
      <p:sp>
        <p:nvSpPr>
          <p:cNvPr id="23" name="Rounded Rectangle 22"/>
          <p:cNvSpPr/>
          <p:nvPr/>
        </p:nvSpPr>
        <p:spPr>
          <a:xfrm>
            <a:off x="3810000" y="4673600"/>
            <a:ext cx="6350000" cy="508000"/>
          </a:xfrm>
          <a:prstGeom prst="roundRect">
            <a:avLst/>
          </a:prstGeom>
          <a:solidFill>
            <a:srgbClr val="222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24" name="Rounded Rectangle 23"/>
          <p:cNvSpPr/>
          <p:nvPr/>
        </p:nvSpPr>
        <p:spPr>
          <a:xfrm>
            <a:off x="3810000" y="4673600"/>
            <a:ext cx="4724400" cy="508000"/>
          </a:xfrm>
          <a:prstGeom prst="roundRect">
            <a:avLst/>
          </a:prstGeom>
          <a:solidFill>
            <a:srgbClr val="FF6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25" name="TextBox 24"/>
          <p:cNvSpPr txBox="1"/>
          <p:nvPr/>
        </p:nvSpPr>
        <p:spPr>
          <a:xfrm>
            <a:off x="10261600" y="4773711"/>
            <a:ext cx="1079142" cy="307777"/>
          </a:xfrm>
          <a:prstGeom prst="rect">
            <a:avLst/>
          </a:prstGeom>
          <a:noFill/>
        </p:spPr>
        <p:txBody>
          <a:bodyPr wrap="none" tIns="0" bIns="0" anchor="ctr">
            <a:spAutoFit/>
          </a:bodyPr>
          <a:lstStyle/>
          <a:p>
            <a:pPr algn="l">
              <a:defRPr sz="2000" b="1">
                <a:solidFill>
                  <a:srgbClr val="F2F2F2"/>
                </a:solidFill>
                <a:latin typeface="Aptos"/>
              </a:defRPr>
            </a:pPr>
            <a:r>
              <a:t>269,617</a:t>
            </a:r>
          </a:p>
        </p:txBody>
      </p:sp>
      <p:sp>
        <p:nvSpPr>
          <p:cNvPr id="26" name="TextBox 25"/>
          <p:cNvSpPr txBox="1"/>
          <p:nvPr/>
        </p:nvSpPr>
        <p:spPr>
          <a:xfrm>
            <a:off x="596900" y="5551100"/>
            <a:ext cx="3048000" cy="276999"/>
          </a:xfrm>
          <a:prstGeom prst="rect">
            <a:avLst/>
          </a:prstGeom>
          <a:noFill/>
        </p:spPr>
        <p:txBody>
          <a:bodyPr wrap="square" tIns="0" bIns="0" anchor="ctr">
            <a:spAutoFit/>
          </a:bodyPr>
          <a:lstStyle/>
          <a:p>
            <a:pPr algn="l">
              <a:defRPr sz="1800" b="1">
                <a:solidFill>
                  <a:srgbClr val="F2F2F2"/>
                </a:solidFill>
                <a:latin typeface="Aptos"/>
              </a:defRPr>
            </a:pPr>
            <a:r>
              <a:t>All cheats OPS</a:t>
            </a:r>
          </a:p>
        </p:txBody>
      </p:sp>
      <p:sp>
        <p:nvSpPr>
          <p:cNvPr id="27" name="Rounded Rectangle 26"/>
          <p:cNvSpPr/>
          <p:nvPr/>
        </p:nvSpPr>
        <p:spPr>
          <a:xfrm>
            <a:off x="3810000" y="5435600"/>
            <a:ext cx="6350000" cy="508000"/>
          </a:xfrm>
          <a:prstGeom prst="roundRect">
            <a:avLst/>
          </a:prstGeom>
          <a:solidFill>
            <a:srgbClr val="222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28" name="Rounded Rectangle 27"/>
          <p:cNvSpPr/>
          <p:nvPr/>
        </p:nvSpPr>
        <p:spPr>
          <a:xfrm>
            <a:off x="3810000" y="5435600"/>
            <a:ext cx="6350000" cy="508000"/>
          </a:xfrm>
          <a:prstGeom prst="roundRect">
            <a:avLst/>
          </a:prstGeom>
          <a:solidFill>
            <a:srgbClr val="FF6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29" name="TextBox 28"/>
          <p:cNvSpPr txBox="1"/>
          <p:nvPr/>
        </p:nvSpPr>
        <p:spPr>
          <a:xfrm>
            <a:off x="10261600" y="5535711"/>
            <a:ext cx="1079142" cy="307777"/>
          </a:xfrm>
          <a:prstGeom prst="rect">
            <a:avLst/>
          </a:prstGeom>
          <a:noFill/>
        </p:spPr>
        <p:txBody>
          <a:bodyPr wrap="none" tIns="0" bIns="0" anchor="ctr">
            <a:spAutoFit/>
          </a:bodyPr>
          <a:lstStyle/>
          <a:p>
            <a:pPr algn="l">
              <a:defRPr sz="2000" b="1">
                <a:solidFill>
                  <a:srgbClr val="F2F2F2"/>
                </a:solidFill>
                <a:latin typeface="Aptos"/>
              </a:defRPr>
            </a:pPr>
            <a:r>
              <a:t>362,789</a:t>
            </a:r>
          </a:p>
        </p:txBody>
      </p:sp>
      <p:sp>
        <p:nvSpPr>
          <p:cNvPr id="30" name="TextBox 29"/>
          <p:cNvSpPr txBox="1"/>
          <p:nvPr/>
        </p:nvSpPr>
        <p:spPr>
          <a:xfrm>
            <a:off x="502920" y="6510528"/>
            <a:ext cx="2377440" cy="164592"/>
          </a:xfrm>
          <a:prstGeom prst="rect">
            <a:avLst/>
          </a:prstGeom>
          <a:noFill/>
        </p:spPr>
        <p:txBody>
          <a:bodyPr wrap="square" anchor="t">
            <a:spAutoFit/>
          </a:bodyPr>
          <a:lstStyle/>
          <a:p>
            <a:pPr algn="l">
              <a:defRPr sz="750" b="1">
                <a:solidFill>
                  <a:srgbClr val="BEBEBE"/>
                </a:solidFill>
                <a:latin typeface="Aptos"/>
              </a:defRPr>
            </a:pPr>
            <a:r>
              <a:t>MY DISHONEST BENCHMARK</a:t>
            </a:r>
          </a:p>
        </p:txBody>
      </p:sp>
      <p:sp>
        <p:nvSpPr>
          <p:cNvPr id="31" name="TextBox 30"/>
          <p:cNvSpPr txBox="1"/>
          <p:nvPr/>
        </p:nvSpPr>
        <p:spPr>
          <a:xfrm>
            <a:off x="11155680" y="6473952"/>
            <a:ext cx="502920" cy="182880"/>
          </a:xfrm>
          <a:prstGeom prst="rect">
            <a:avLst/>
          </a:prstGeom>
          <a:noFill/>
        </p:spPr>
        <p:txBody>
          <a:bodyPr wrap="square" anchor="t">
            <a:spAutoFit/>
          </a:bodyPr>
          <a:lstStyle/>
          <a:p>
            <a:pPr algn="r">
              <a:defRPr sz="800" b="1">
                <a:solidFill>
                  <a:srgbClr val="BEBEBE"/>
                </a:solidFill>
                <a:latin typeface="Aptos"/>
              </a:defRPr>
            </a:pPr>
            <a:r>
              <a:t>34</a:t>
            </a:r>
          </a:p>
        </p:txBody>
      </p:sp>
    </p:spTree>
    <p:extLst>
      <p:ext uri="{BB962C8B-B14F-4D97-AF65-F5344CB8AC3E}">
        <p14:creationId xmlns:p14="http://schemas.microsoft.com/office/powerpoint/2010/main" val="32604793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a:extLst>
            <a:ext uri="{FF2B5EF4-FFF2-40B4-BE49-F238E27FC236}">
              <a16:creationId xmlns:a16="http://schemas.microsoft.com/office/drawing/2014/main" id="{3CDF26BB-BA27-D7DF-247E-F7BBA53AC20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4D0AF8D-5C82-58A7-C4B5-BF3DE7EC11F4}"/>
              </a:ext>
            </a:extLst>
          </p:cNvPr>
          <p:cNvSpPr txBox="1"/>
          <p:nvPr/>
        </p:nvSpPr>
        <p:spPr>
          <a:xfrm>
            <a:off x="433283" y="302399"/>
            <a:ext cx="4701423" cy="738664"/>
          </a:xfrm>
          <a:prstGeom prst="rect">
            <a:avLst/>
          </a:prstGeom>
          <a:noFill/>
        </p:spPr>
        <p:txBody>
          <a:bodyPr wrap="square" anchor="ctr">
            <a:spAutoFit/>
          </a:bodyPr>
          <a:lstStyle/>
          <a:p>
            <a:pPr algn="l">
              <a:defRPr sz="4200" b="1">
                <a:solidFill>
                  <a:srgbClr val="FFFFFF"/>
                </a:solidFill>
                <a:latin typeface="Aptos Display"/>
              </a:defRPr>
            </a:pPr>
            <a:r>
              <a:rPr lang="en-US" dirty="0"/>
              <a:t>Extended Trickery</a:t>
            </a:r>
            <a:endParaRPr dirty="0"/>
          </a:p>
        </p:txBody>
      </p:sp>
      <p:sp>
        <p:nvSpPr>
          <p:cNvPr id="5" name="TextBox 4">
            <a:extLst>
              <a:ext uri="{FF2B5EF4-FFF2-40B4-BE49-F238E27FC236}">
                <a16:creationId xmlns:a16="http://schemas.microsoft.com/office/drawing/2014/main" id="{268DA8C7-792C-FD6E-3A88-960B41966B83}"/>
              </a:ext>
            </a:extLst>
          </p:cNvPr>
          <p:cNvSpPr txBox="1"/>
          <p:nvPr/>
        </p:nvSpPr>
        <p:spPr>
          <a:xfrm>
            <a:off x="431800" y="1270000"/>
            <a:ext cx="10058400" cy="461665"/>
          </a:xfrm>
          <a:prstGeom prst="rect">
            <a:avLst/>
          </a:prstGeom>
          <a:noFill/>
        </p:spPr>
        <p:txBody>
          <a:bodyPr wrap="square" anchor="t">
            <a:spAutoFit/>
          </a:bodyPr>
          <a:lstStyle/>
          <a:p>
            <a:pPr algn="l"/>
            <a:r>
              <a:rPr lang="en-US" sz="2400" b="1" dirty="0">
                <a:solidFill>
                  <a:srgbClr val="FFFFFF"/>
                </a:solidFill>
                <a:latin typeface="Aptos"/>
              </a:rPr>
              <a:t>The trick: always benchmark against </a:t>
            </a:r>
            <a:r>
              <a:rPr lang="en-US" sz="2400" b="1" dirty="0">
                <a:solidFill>
                  <a:srgbClr val="FF6B5B"/>
                </a:solidFill>
                <a:latin typeface="Aptos"/>
              </a:rPr>
              <a:t>vanilla PostgreSQL.</a:t>
            </a:r>
          </a:p>
        </p:txBody>
      </p:sp>
      <p:sp>
        <p:nvSpPr>
          <p:cNvPr id="6" name="TextBox 5">
            <a:extLst>
              <a:ext uri="{FF2B5EF4-FFF2-40B4-BE49-F238E27FC236}">
                <a16:creationId xmlns:a16="http://schemas.microsoft.com/office/drawing/2014/main" id="{92B60E17-1257-8978-3CF7-2DEA29DFB3DE}"/>
              </a:ext>
            </a:extLst>
          </p:cNvPr>
          <p:cNvSpPr txBox="1"/>
          <p:nvPr/>
        </p:nvSpPr>
        <p:spPr>
          <a:xfrm>
            <a:off x="502920" y="6510528"/>
            <a:ext cx="2377440" cy="164592"/>
          </a:xfrm>
          <a:prstGeom prst="rect">
            <a:avLst/>
          </a:prstGeom>
          <a:noFill/>
        </p:spPr>
        <p:txBody>
          <a:bodyPr wrap="square" anchor="t">
            <a:spAutoFit/>
          </a:bodyPr>
          <a:lstStyle/>
          <a:p>
            <a:pPr algn="l">
              <a:defRPr sz="750" b="1">
                <a:solidFill>
                  <a:srgbClr val="AAAAAA"/>
                </a:solidFill>
                <a:latin typeface="Aptos"/>
              </a:defRPr>
            </a:pPr>
            <a:r>
              <a:t>MY DISHONEST BENCHMARK</a:t>
            </a:r>
          </a:p>
        </p:txBody>
      </p:sp>
      <p:sp>
        <p:nvSpPr>
          <p:cNvPr id="7" name="TextBox 6">
            <a:extLst>
              <a:ext uri="{FF2B5EF4-FFF2-40B4-BE49-F238E27FC236}">
                <a16:creationId xmlns:a16="http://schemas.microsoft.com/office/drawing/2014/main" id="{13279A54-2691-A342-2B7A-0A101F45864D}"/>
              </a:ext>
            </a:extLst>
          </p:cNvPr>
          <p:cNvSpPr txBox="1"/>
          <p:nvPr/>
        </p:nvSpPr>
        <p:spPr>
          <a:xfrm>
            <a:off x="11155680" y="6473952"/>
            <a:ext cx="502920" cy="182880"/>
          </a:xfrm>
          <a:prstGeom prst="rect">
            <a:avLst/>
          </a:prstGeom>
          <a:noFill/>
        </p:spPr>
        <p:txBody>
          <a:bodyPr wrap="square" anchor="t">
            <a:spAutoFit/>
          </a:bodyPr>
          <a:lstStyle/>
          <a:p>
            <a:pPr algn="r">
              <a:defRPr sz="800" b="1">
                <a:solidFill>
                  <a:srgbClr val="AAAAAA"/>
                </a:solidFill>
                <a:latin typeface="Aptos"/>
              </a:defRPr>
            </a:pPr>
            <a:r>
              <a:t>38</a:t>
            </a:r>
          </a:p>
        </p:txBody>
      </p:sp>
      <p:sp>
        <p:nvSpPr>
          <p:cNvPr id="40" name="Text 41"/>
          <p:cNvSpPr txBox="1"/>
          <p:nvPr/>
        </p:nvSpPr>
        <p:spPr>
          <a:xfrm>
            <a:off x="431800" y="1981200"/>
            <a:ext cx="7620000" cy="304800"/>
          </a:xfrm>
          <a:prstGeom prst="rect">
            <a:avLst/>
          </a:prstGeom>
          <a:noFill/>
        </p:spPr>
        <p:txBody>
          <a:bodyPr wrap="square" lIns="91440" tIns="0" rIns="91440" bIns="0" anchor="ctr">
            <a:noAutofit/>
          </a:bodyPr>
          <a:lstStyle/>
          <a:p>
            <a:r>
              <a:rPr lang="en-US" sz="1400" b="1" dirty="0">
                <a:solidFill>
                  <a:srgbClr val="BEBEBE"/>
                </a:solidFill>
                <a:latin typeface="Aptos"/>
              </a:rPr>
              <a:t>VECTOR SEARCH SPEED, RELATIVE TO PGVECTOR</a:t>
            </a:r>
          </a:p>
        </p:txBody>
      </p:sp>
      <p:sp>
        <p:nvSpPr>
          <p:cNvPr id="41" name="Text 42"/>
          <p:cNvSpPr txBox="1"/>
          <p:nvPr/>
        </p:nvSpPr>
        <p:spPr>
          <a:xfrm>
            <a:off x="431800" y="2438400"/>
            <a:ext cx="3873500" cy="736600"/>
          </a:xfrm>
          <a:prstGeom prst="rect">
            <a:avLst/>
          </a:prstGeom>
          <a:noFill/>
        </p:spPr>
        <p:txBody>
          <a:bodyPr wrap="square" lIns="91440" tIns="0" rIns="91440" bIns="0" anchor="ctr">
            <a:noAutofit/>
          </a:bodyPr>
          <a:lstStyle/>
          <a:p>
            <a:r>
              <a:rPr lang="en-US" sz="2000" b="1" dirty="0">
                <a:solidFill>
                  <a:srgbClr val="FFFFFF"/>
                </a:solidFill>
                <a:latin typeface="Aptos"/>
              </a:rPr>
              <a:t>pgvector</a:t>
            </a:r>
          </a:p>
          <a:p>
            <a:r>
              <a:rPr lang="en-US" sz="1600" b="0" dirty="0">
                <a:solidFill>
                  <a:srgbClr val="C8CACF"/>
                </a:solidFill>
                <a:latin typeface="Aptos"/>
              </a:rPr>
              <a:t>the baseline they pick</a:t>
            </a:r>
          </a:p>
        </p:txBody>
      </p:sp>
      <p:sp>
        <p:nvSpPr>
          <p:cNvPr id="42" name="Bar 43"/>
          <p:cNvSpPr/>
          <p:nvPr/>
        </p:nvSpPr>
        <p:spPr>
          <a:xfrm>
            <a:off x="4381500" y="2578100"/>
            <a:ext cx="292100" cy="457200"/>
          </a:xfrm>
          <a:prstGeom prst="rect">
            <a:avLst/>
          </a:prstGeom>
          <a:solidFill>
            <a:srgbClr val="8A8F99"/>
          </a:solidFill>
          <a:ln>
            <a:noFill/>
          </a:ln>
        </p:spPr>
        <p:txBody>
          <a:bodyPr/>
          <a:lstStyle/>
          <a:p>
            <a:endParaRPr lang="en-GB"/>
          </a:p>
        </p:txBody>
      </p:sp>
      <p:sp>
        <p:nvSpPr>
          <p:cNvPr id="43" name="Text 44"/>
          <p:cNvSpPr txBox="1"/>
          <p:nvPr/>
        </p:nvSpPr>
        <p:spPr>
          <a:xfrm>
            <a:off x="4775200" y="2438400"/>
            <a:ext cx="1270000" cy="736600"/>
          </a:xfrm>
          <a:prstGeom prst="rect">
            <a:avLst/>
          </a:prstGeom>
          <a:noFill/>
        </p:spPr>
        <p:txBody>
          <a:bodyPr wrap="square" lIns="91440" tIns="0" rIns="91440" bIns="0" anchor="ctr">
            <a:noAutofit/>
          </a:bodyPr>
          <a:lstStyle/>
          <a:p>
            <a:r>
              <a:rPr lang="en-US" sz="2800" b="1" dirty="0">
                <a:solidFill>
                  <a:srgbClr val="D0D2D6"/>
                </a:solidFill>
                <a:latin typeface="Aptos"/>
              </a:rPr>
              <a:t>1x</a:t>
            </a:r>
          </a:p>
        </p:txBody>
      </p:sp>
      <p:sp>
        <p:nvSpPr>
          <p:cNvPr id="44" name="Text 45"/>
          <p:cNvSpPr txBox="1"/>
          <p:nvPr/>
        </p:nvSpPr>
        <p:spPr>
          <a:xfrm>
            <a:off x="431800" y="3352800"/>
            <a:ext cx="3873500" cy="736600"/>
          </a:xfrm>
          <a:prstGeom prst="rect">
            <a:avLst/>
          </a:prstGeom>
          <a:noFill/>
        </p:spPr>
        <p:txBody>
          <a:bodyPr wrap="square" lIns="91440" tIns="0" rIns="91440" bIns="0" anchor="ctr">
            <a:noAutofit/>
          </a:bodyPr>
          <a:lstStyle/>
          <a:p>
            <a:r>
              <a:rPr lang="en-US" sz="2000" b="1" dirty="0">
                <a:solidFill>
                  <a:srgbClr val="FFFFFF"/>
                </a:solidFill>
                <a:latin typeface="Aptos"/>
              </a:rPr>
              <a:t>XYZdb</a:t>
            </a:r>
          </a:p>
          <a:p>
            <a:r>
              <a:rPr lang="en-US" sz="1600" b="0" dirty="0">
                <a:solidFill>
                  <a:srgbClr val="C8CACF"/>
                </a:solidFill>
                <a:latin typeface="Aptos"/>
              </a:rPr>
              <a:t>the published claim</a:t>
            </a:r>
          </a:p>
        </p:txBody>
      </p:sp>
      <p:sp>
        <p:nvSpPr>
          <p:cNvPr id="45" name="Bar 46"/>
          <p:cNvSpPr/>
          <p:nvPr/>
        </p:nvSpPr>
        <p:spPr>
          <a:xfrm>
            <a:off x="4381500" y="3492500"/>
            <a:ext cx="1168400" cy="457200"/>
          </a:xfrm>
          <a:prstGeom prst="rect">
            <a:avLst/>
          </a:prstGeom>
          <a:solidFill>
            <a:srgbClr val="FF6B5B"/>
          </a:solidFill>
          <a:ln>
            <a:noFill/>
          </a:ln>
        </p:spPr>
        <p:txBody>
          <a:bodyPr/>
          <a:lstStyle/>
          <a:p>
            <a:endParaRPr lang="en-GB"/>
          </a:p>
        </p:txBody>
      </p:sp>
      <p:sp>
        <p:nvSpPr>
          <p:cNvPr id="46" name="Text 47"/>
          <p:cNvSpPr txBox="1"/>
          <p:nvPr/>
        </p:nvSpPr>
        <p:spPr>
          <a:xfrm>
            <a:off x="5651500" y="3352800"/>
            <a:ext cx="1270000" cy="736600"/>
          </a:xfrm>
          <a:prstGeom prst="rect">
            <a:avLst/>
          </a:prstGeom>
          <a:noFill/>
        </p:spPr>
        <p:txBody>
          <a:bodyPr wrap="square" lIns="91440" tIns="0" rIns="91440" bIns="0" anchor="ctr">
            <a:noAutofit/>
          </a:bodyPr>
          <a:lstStyle/>
          <a:p>
            <a:r>
              <a:rPr lang="en-US" sz="2800" b="1" dirty="0">
                <a:solidFill>
                  <a:srgbClr val="FF6B5B"/>
                </a:solidFill>
                <a:latin typeface="Aptos"/>
              </a:rPr>
              <a:t>4x</a:t>
            </a:r>
          </a:p>
        </p:txBody>
      </p:sp>
      <p:sp>
        <p:nvSpPr>
          <p:cNvPr id="47" name="Text 48"/>
          <p:cNvSpPr txBox="1"/>
          <p:nvPr/>
        </p:nvSpPr>
        <p:spPr>
          <a:xfrm>
            <a:off x="431800" y="4267200"/>
            <a:ext cx="3873500" cy="736600"/>
          </a:xfrm>
          <a:prstGeom prst="rect">
            <a:avLst/>
          </a:prstGeom>
          <a:noFill/>
        </p:spPr>
        <p:txBody>
          <a:bodyPr wrap="square" lIns="91440" tIns="0" rIns="91440" bIns="0" anchor="ctr">
            <a:noAutofit/>
          </a:bodyPr>
          <a:lstStyle/>
          <a:p>
            <a:r>
              <a:rPr lang="en-US" sz="2000" b="1" dirty="0">
                <a:solidFill>
                  <a:srgbClr val="FFFFFF"/>
                </a:solidFill>
                <a:latin typeface="Aptos"/>
              </a:rPr>
              <a:t>pgvectorscale / </a:t>
            </a:r>
            <a:r>
              <a:rPr lang="en-US" sz="2000" b="1" dirty="0" err="1">
                <a:solidFill>
                  <a:srgbClr val="FFFFFF"/>
                </a:solidFill>
                <a:latin typeface="Aptos"/>
              </a:rPr>
              <a:t>VectorChord</a:t>
            </a:r>
            <a:r>
              <a:rPr lang="en-US" sz="2000" b="1" dirty="0">
                <a:solidFill>
                  <a:srgbClr val="FFFFFF"/>
                </a:solidFill>
                <a:latin typeface="Aptos"/>
              </a:rPr>
              <a:t>/ </a:t>
            </a:r>
            <a:r>
              <a:rPr lang="en-US" sz="2000" b="1" dirty="0" err="1">
                <a:solidFill>
                  <a:srgbClr val="FFFFFF"/>
                </a:solidFill>
                <a:latin typeface="Aptos"/>
              </a:rPr>
              <a:t>pg_vectorsearch</a:t>
            </a:r>
            <a:endParaRPr lang="en-US" sz="2000" b="1" dirty="0">
              <a:solidFill>
                <a:srgbClr val="FFFFFF"/>
              </a:solidFill>
              <a:latin typeface="Aptos"/>
            </a:endParaRPr>
          </a:p>
          <a:p>
            <a:r>
              <a:rPr lang="en-US" sz="1600" b="0" dirty="0">
                <a:solidFill>
                  <a:srgbClr val="C8CACF"/>
                </a:solidFill>
                <a:latin typeface="Aptos"/>
              </a:rPr>
              <a:t>left out of the chart</a:t>
            </a:r>
          </a:p>
        </p:txBody>
      </p:sp>
      <p:sp>
        <p:nvSpPr>
          <p:cNvPr id="48" name="Bar 49"/>
          <p:cNvSpPr/>
          <p:nvPr/>
        </p:nvSpPr>
        <p:spPr>
          <a:xfrm>
            <a:off x="4381500" y="4406900"/>
            <a:ext cx="5842000" cy="457200"/>
          </a:xfrm>
          <a:prstGeom prst="rect">
            <a:avLst/>
          </a:prstGeom>
          <a:solidFill>
            <a:srgbClr val="92D050"/>
          </a:solidFill>
          <a:ln>
            <a:noFill/>
          </a:ln>
        </p:spPr>
        <p:txBody>
          <a:bodyPr/>
          <a:lstStyle/>
          <a:p>
            <a:endParaRPr lang="en-GB"/>
          </a:p>
        </p:txBody>
      </p:sp>
      <p:sp>
        <p:nvSpPr>
          <p:cNvPr id="49" name="Text 50"/>
          <p:cNvSpPr txBox="1"/>
          <p:nvPr/>
        </p:nvSpPr>
        <p:spPr>
          <a:xfrm>
            <a:off x="10325100" y="4267200"/>
            <a:ext cx="1270000" cy="736600"/>
          </a:xfrm>
          <a:prstGeom prst="rect">
            <a:avLst/>
          </a:prstGeom>
          <a:noFill/>
        </p:spPr>
        <p:txBody>
          <a:bodyPr wrap="square" lIns="91440" tIns="0" rIns="91440" bIns="0" anchor="ctr">
            <a:noAutofit/>
          </a:bodyPr>
          <a:lstStyle/>
          <a:p>
            <a:r>
              <a:rPr lang="en-US" sz="2800" b="1" dirty="0">
                <a:solidFill>
                  <a:srgbClr val="92D050"/>
                </a:solidFill>
                <a:latin typeface="Aptos"/>
              </a:rPr>
              <a:t>20x</a:t>
            </a:r>
          </a:p>
        </p:txBody>
      </p:sp>
      <p:sp>
        <p:nvSpPr>
          <p:cNvPr id="50" name="Bar 51"/>
          <p:cNvSpPr/>
          <p:nvPr/>
        </p:nvSpPr>
        <p:spPr>
          <a:xfrm>
            <a:off x="520700" y="5232400"/>
            <a:ext cx="10998200" cy="12700"/>
          </a:xfrm>
          <a:prstGeom prst="rect">
            <a:avLst/>
          </a:prstGeom>
          <a:solidFill>
            <a:srgbClr val="3A3D45"/>
          </a:solidFill>
          <a:ln>
            <a:noFill/>
          </a:ln>
        </p:spPr>
        <p:txBody>
          <a:bodyPr/>
          <a:lstStyle/>
          <a:p>
            <a:endParaRPr lang="en-GB"/>
          </a:p>
        </p:txBody>
      </p:sp>
      <p:sp>
        <p:nvSpPr>
          <p:cNvPr id="51" name="Text 52"/>
          <p:cNvSpPr txBox="1"/>
          <p:nvPr/>
        </p:nvSpPr>
        <p:spPr>
          <a:xfrm>
            <a:off x="431800" y="5410200"/>
            <a:ext cx="11176000" cy="965200"/>
          </a:xfrm>
          <a:prstGeom prst="rect">
            <a:avLst/>
          </a:prstGeom>
          <a:noFill/>
        </p:spPr>
        <p:txBody>
          <a:bodyPr wrap="square" lIns="91440" tIns="0" rIns="91440" bIns="0" anchor="t">
            <a:noAutofit/>
          </a:bodyPr>
          <a:lstStyle/>
          <a:p>
            <a:r>
              <a:rPr lang="en-US" sz="2600" b="1" dirty="0">
                <a:solidFill>
                  <a:srgbClr val="FFFFFF"/>
                </a:solidFill>
                <a:latin typeface="Aptos"/>
              </a:rPr>
              <a:t>B = 4A and C = 20A, so </a:t>
            </a:r>
            <a:r>
              <a:rPr lang="en-US" sz="2600" b="1" dirty="0">
                <a:solidFill>
                  <a:srgbClr val="92D050"/>
                </a:solidFill>
                <a:latin typeface="Aptos"/>
              </a:rPr>
              <a:t>C = 5B?</a:t>
            </a:r>
          </a:p>
          <a:p>
            <a:pPr>
              <a:spcBef>
                <a:spcPts val="400"/>
              </a:spcBef>
            </a:pPr>
            <a:r>
              <a:rPr lang="en-US" sz="2000" b="0" dirty="0">
                <a:solidFill>
                  <a:srgbClr val="C8CACF"/>
                </a:solidFill>
                <a:latin typeface="Aptos"/>
              </a:rPr>
              <a:t>Against Postgres with the right extension, XYZdb is 5x slower.</a:t>
            </a:r>
          </a:p>
        </p:txBody>
      </p:sp>
    </p:spTree>
    <p:extLst>
      <p:ext uri="{BB962C8B-B14F-4D97-AF65-F5344CB8AC3E}">
        <p14:creationId xmlns:p14="http://schemas.microsoft.com/office/powerpoint/2010/main" val="13903956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F91CC051-6316-F923-F3D1-141FDE6192A9}"/>
              </a:ext>
            </a:extLst>
          </p:cNvPr>
          <p:cNvPicPr>
            <a:picLocks noChangeAspect="1"/>
          </p:cNvPicPr>
          <p:nvPr/>
        </p:nvPicPr>
        <p:blipFill>
          <a:blip r:embed="rId2"/>
          <a:srcRect r="9761"/>
          <a:stretch>
            <a:fillRect/>
          </a:stretch>
        </p:blipFill>
        <p:spPr>
          <a:xfrm>
            <a:off x="20" y="1282"/>
            <a:ext cx="12191980" cy="6856718"/>
          </a:xfrm>
          <a:prstGeom prst="rect">
            <a:avLst/>
          </a:prstGeom>
        </p:spPr>
      </p:pic>
    </p:spTree>
    <p:extLst>
      <p:ext uri="{BB962C8B-B14F-4D97-AF65-F5344CB8AC3E}">
        <p14:creationId xmlns:p14="http://schemas.microsoft.com/office/powerpoint/2010/main" val="38139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a:extLst>
              <a:ext uri="{FF2B5EF4-FFF2-40B4-BE49-F238E27FC236}">
                <a16:creationId xmlns:a16="http://schemas.microsoft.com/office/drawing/2014/main" id="{D9834826-32BB-E057-E3DE-721A4E02C998}"/>
              </a:ext>
            </a:extLst>
          </p:cNvPr>
          <p:cNvPicPr>
            <a:picLocks noChangeAspect="1"/>
          </p:cNvPicPr>
          <p:nvPr/>
        </p:nvPicPr>
        <p:blipFill>
          <a:blip r:embed="rId2"/>
          <a:srcRect t="19"/>
          <a:stretch>
            <a:fillRect/>
          </a:stretch>
        </p:blipFill>
        <p:spPr>
          <a:xfrm>
            <a:off x="20" y="1282"/>
            <a:ext cx="12191980" cy="6856718"/>
          </a:xfrm>
          <a:prstGeom prst="rect">
            <a:avLst/>
          </a:prstGeom>
        </p:spPr>
      </p:pic>
    </p:spTree>
    <p:extLst>
      <p:ext uri="{BB962C8B-B14F-4D97-AF65-F5344CB8AC3E}">
        <p14:creationId xmlns:p14="http://schemas.microsoft.com/office/powerpoint/2010/main" val="829337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30" name="Kicker"/>
          <p:cNvSpPr txBox="1"/>
          <p:nvPr/>
        </p:nvSpPr>
        <p:spPr>
          <a:xfrm>
            <a:off x="594360" y="254000"/>
            <a:ext cx="6311900" cy="584200"/>
          </a:xfrm>
          <a:prstGeom prst="rect">
            <a:avLst/>
          </a:prstGeom>
          <a:noFill/>
        </p:spPr>
        <p:txBody>
          <a:bodyPr wrap="square" anchor="t">
            <a:spAutoFit/>
          </a:bodyPr>
          <a:lstStyle/>
          <a:p>
            <a:pPr algn="l"/>
            <a:r>
              <a:rPr lang="en-US" sz="3200" b="1" dirty="0">
                <a:solidFill>
                  <a:srgbClr val="F2F2F2"/>
                </a:solidFill>
                <a:latin typeface="Aptos"/>
              </a:rPr>
              <a:t>PG_VECTORSEARCH</a:t>
            </a:r>
          </a:p>
        </p:txBody>
      </p:sp>
      <p:sp>
        <p:nvSpPr>
          <p:cNvPr id="31" name="Headline"/>
          <p:cNvSpPr txBox="1"/>
          <p:nvPr/>
        </p:nvSpPr>
        <p:spPr>
          <a:xfrm>
            <a:off x="594360" y="800100"/>
            <a:ext cx="10515600" cy="622300"/>
          </a:xfrm>
          <a:prstGeom prst="rect">
            <a:avLst/>
          </a:prstGeom>
          <a:noFill/>
        </p:spPr>
        <p:txBody>
          <a:bodyPr wrap="square" anchor="t">
            <a:spAutoFit/>
          </a:bodyPr>
          <a:lstStyle/>
          <a:p>
            <a:pPr algn="l"/>
            <a:r>
              <a:rPr lang="en-US" sz="2900" b="1" dirty="0">
                <a:solidFill>
                  <a:srgbClr val="F2F2F2"/>
                </a:solidFill>
                <a:latin typeface="Aptos Display"/>
              </a:rPr>
              <a:t>PRISM beats HNSW on a quarter of the hardware</a:t>
            </a:r>
          </a:p>
        </p:txBody>
      </p:sp>
      <p:sp>
        <p:nvSpPr>
          <p:cNvPr id="32" name="Card"/>
          <p:cNvSpPr/>
          <p:nvPr/>
        </p:nvSpPr>
        <p:spPr>
          <a:xfrm>
            <a:off x="685800" y="1625600"/>
            <a:ext cx="5219700" cy="3886200"/>
          </a:xfrm>
          <a:prstGeom prst="roundRect">
            <a:avLst>
              <a:gd name="adj" fmla="val 5000"/>
            </a:avLst>
          </a:prstGeom>
          <a:solidFill>
            <a:srgbClr val="222329"/>
          </a:solidFill>
          <a:ln>
            <a:noFill/>
          </a:ln>
        </p:spPr>
        <p:txBody>
          <a:bodyPr rtlCol="0" anchor="ctr"/>
          <a:lstStyle/>
          <a:p>
            <a:endParaRPr lang="en-US" dirty="0"/>
          </a:p>
        </p:txBody>
      </p:sp>
      <p:sp>
        <p:nvSpPr>
          <p:cNvPr id="33" name="Card accent"/>
          <p:cNvSpPr/>
          <p:nvPr/>
        </p:nvSpPr>
        <p:spPr>
          <a:xfrm>
            <a:off x="685800" y="1625600"/>
            <a:ext cx="109728" cy="3886200"/>
          </a:xfrm>
          <a:prstGeom prst="rect">
            <a:avLst/>
          </a:prstGeom>
          <a:solidFill>
            <a:srgbClr val="F7C548"/>
          </a:solidFill>
          <a:ln>
            <a:noFill/>
          </a:ln>
        </p:spPr>
        <p:txBody>
          <a:bodyPr rtlCol="0" anchor="ctr"/>
          <a:lstStyle/>
          <a:p>
            <a:endParaRPr lang="en-US" dirty="0"/>
          </a:p>
        </p:txBody>
      </p:sp>
      <p:sp>
        <p:nvSpPr>
          <p:cNvPr id="34" name="Card title"/>
          <p:cNvSpPr txBox="1"/>
          <p:nvPr/>
        </p:nvSpPr>
        <p:spPr>
          <a:xfrm>
            <a:off x="914400" y="1752600"/>
            <a:ext cx="4826000" cy="558800"/>
          </a:xfrm>
          <a:prstGeom prst="rect">
            <a:avLst/>
          </a:prstGeom>
          <a:noFill/>
        </p:spPr>
        <p:txBody>
          <a:bodyPr wrap="square" anchor="t">
            <a:spAutoFit/>
          </a:bodyPr>
          <a:lstStyle/>
          <a:p>
            <a:pPr algn="l"/>
            <a:r>
              <a:rPr lang="en-US" sz="1600" b="1" dirty="0">
                <a:solidFill>
                  <a:srgbClr val="F2F2F2"/>
                </a:solidFill>
                <a:latin typeface="Aptos"/>
              </a:rPr>
              <a:t>Median query latency at 95% recall</a:t>
            </a:r>
          </a:p>
          <a:p>
            <a:pPr algn="l"/>
            <a:r>
              <a:rPr lang="en-US" sz="1400" b="0" dirty="0">
                <a:solidFill>
                  <a:srgbClr val="BEBEBE"/>
                </a:solidFill>
                <a:latin typeface="Aptos"/>
              </a:rPr>
              <a:t>Lower is better</a:t>
            </a:r>
          </a:p>
        </p:txBody>
      </p:sp>
      <p:sp>
        <p:nvSpPr>
          <p:cNvPr id="35" name="Card note"/>
          <p:cNvSpPr txBox="1"/>
          <p:nvPr/>
        </p:nvSpPr>
        <p:spPr>
          <a:xfrm>
            <a:off x="914400" y="5003800"/>
            <a:ext cx="4826000" cy="304800"/>
          </a:xfrm>
          <a:prstGeom prst="rect">
            <a:avLst/>
          </a:prstGeom>
          <a:noFill/>
        </p:spPr>
        <p:txBody>
          <a:bodyPr wrap="square" anchor="t">
            <a:spAutoFit/>
          </a:bodyPr>
          <a:lstStyle/>
          <a:p>
            <a:pPr algn="l"/>
            <a:r>
              <a:rPr lang="en-US" sz="1400" b="0" dirty="0">
                <a:solidFill>
                  <a:srgbClr val="BEBEBE"/>
                </a:solidFill>
                <a:latin typeface="Aptos"/>
              </a:rPr>
              <a:t>HNSW on the 128 GiB machine never finished its build</a:t>
            </a:r>
          </a:p>
        </p:txBody>
      </p:sp>
      <p:sp>
        <p:nvSpPr>
          <p:cNvPr id="36" name="Card"/>
          <p:cNvSpPr/>
          <p:nvPr/>
        </p:nvSpPr>
        <p:spPr>
          <a:xfrm>
            <a:off x="6159500" y="1625600"/>
            <a:ext cx="5219700" cy="3886200"/>
          </a:xfrm>
          <a:prstGeom prst="roundRect">
            <a:avLst>
              <a:gd name="adj" fmla="val 5000"/>
            </a:avLst>
          </a:prstGeom>
          <a:solidFill>
            <a:srgbClr val="222329"/>
          </a:solidFill>
          <a:ln>
            <a:noFill/>
          </a:ln>
        </p:spPr>
        <p:txBody>
          <a:bodyPr rtlCol="0" anchor="ctr"/>
          <a:lstStyle/>
          <a:p>
            <a:endParaRPr lang="en-US" dirty="0"/>
          </a:p>
        </p:txBody>
      </p:sp>
      <p:sp>
        <p:nvSpPr>
          <p:cNvPr id="37" name="Card accent"/>
          <p:cNvSpPr/>
          <p:nvPr/>
        </p:nvSpPr>
        <p:spPr>
          <a:xfrm>
            <a:off x="6159500" y="1625600"/>
            <a:ext cx="109728" cy="3886200"/>
          </a:xfrm>
          <a:prstGeom prst="rect">
            <a:avLst/>
          </a:prstGeom>
          <a:solidFill>
            <a:srgbClr val="F7C548"/>
          </a:solidFill>
          <a:ln>
            <a:noFill/>
          </a:ln>
        </p:spPr>
        <p:txBody>
          <a:bodyPr rtlCol="0" anchor="ctr"/>
          <a:lstStyle/>
          <a:p>
            <a:endParaRPr lang="en-US" dirty="0"/>
          </a:p>
        </p:txBody>
      </p:sp>
      <p:sp>
        <p:nvSpPr>
          <p:cNvPr id="38" name="Card title"/>
          <p:cNvSpPr txBox="1"/>
          <p:nvPr/>
        </p:nvSpPr>
        <p:spPr>
          <a:xfrm>
            <a:off x="6388100" y="1752600"/>
            <a:ext cx="4826000" cy="558800"/>
          </a:xfrm>
          <a:prstGeom prst="rect">
            <a:avLst/>
          </a:prstGeom>
          <a:noFill/>
        </p:spPr>
        <p:txBody>
          <a:bodyPr wrap="square" anchor="t">
            <a:spAutoFit/>
          </a:bodyPr>
          <a:lstStyle/>
          <a:p>
            <a:pPr algn="l"/>
            <a:r>
              <a:rPr lang="en-US" sz="1600" b="1" dirty="0">
                <a:solidFill>
                  <a:srgbClr val="F2F2F2"/>
                </a:solidFill>
                <a:latin typeface="Aptos"/>
              </a:rPr>
              <a:t>Index build time</a:t>
            </a:r>
          </a:p>
          <a:p>
            <a:pPr algn="l"/>
            <a:r>
              <a:rPr lang="en-US" sz="1400" b="0" dirty="0">
                <a:solidFill>
                  <a:srgbClr val="BEBEBE"/>
                </a:solidFill>
                <a:latin typeface="Aptos"/>
              </a:rPr>
              <a:t>Lower is better</a:t>
            </a:r>
          </a:p>
        </p:txBody>
      </p:sp>
      <p:sp>
        <p:nvSpPr>
          <p:cNvPr id="39" name="Card note"/>
          <p:cNvSpPr txBox="1"/>
          <p:nvPr/>
        </p:nvSpPr>
        <p:spPr>
          <a:xfrm>
            <a:off x="6388100" y="5003800"/>
            <a:ext cx="4826000" cy="304800"/>
          </a:xfrm>
          <a:prstGeom prst="rect">
            <a:avLst/>
          </a:prstGeom>
          <a:noFill/>
        </p:spPr>
        <p:txBody>
          <a:bodyPr wrap="square" anchor="t">
            <a:spAutoFit/>
          </a:bodyPr>
          <a:lstStyle/>
          <a:p>
            <a:pPr algn="l"/>
            <a:r>
              <a:rPr lang="en-US" sz="1400" b="0" dirty="0">
                <a:solidFill>
                  <a:srgbClr val="BEBEBE"/>
                </a:solidFill>
                <a:latin typeface="Aptos"/>
              </a:rPr>
              <a:t>PRISM index is 25 GB on both machines</a:t>
            </a:r>
          </a:p>
        </p:txBody>
      </p:sp>
      <p:sp>
        <p:nvSpPr>
          <p:cNvPr id="40" name="Footnote"/>
          <p:cNvSpPr txBox="1"/>
          <p:nvPr/>
        </p:nvSpPr>
        <p:spPr>
          <a:xfrm>
            <a:off x="594360" y="5842000"/>
            <a:ext cx="10922000" cy="431800"/>
          </a:xfrm>
          <a:prstGeom prst="rect">
            <a:avLst/>
          </a:prstGeom>
          <a:noFill/>
        </p:spPr>
        <p:txBody>
          <a:bodyPr wrap="square" anchor="t">
            <a:spAutoFit/>
          </a:bodyPr>
          <a:lstStyle/>
          <a:p>
            <a:pPr algn="l"/>
            <a:r>
              <a:rPr lang="en-US" sz="1000" b="0" dirty="0">
                <a:solidFill>
                  <a:srgbClr val="BEBEBE"/>
                </a:solidFill>
                <a:latin typeface="Aptos"/>
              </a:rPr>
              <a:t>Tiger Data benchmark (rekall), 100M Cohere embeddings. Recall@10 vs. exact search; HNSW is pgvector with halfvec. 128 GiB = r8i.4xlarge, 512 GiB = r8i.16xlarge (4× cost). pg_vectorsearch is alpha and requires PostgreSQL 18+.</a:t>
            </a:r>
          </a:p>
          <a:p>
            <a:pPr algn="l"/>
            <a:r>
              <a:rPr lang="en-US" sz="1000" b="0" dirty="0">
                <a:solidFill>
                  <a:srgbClr val="BEBEBE"/>
                </a:solidFill>
                <a:latin typeface="Aptos"/>
              </a:rPr>
              <a:t>Source: Tiger Data, "Announcing pg_vectorsearch", Oct 13, 2026</a:t>
            </a:r>
          </a:p>
        </p:txBody>
      </p:sp>
      <p:sp>
        <p:nvSpPr>
          <p:cNvPr id="41" name="Footer"/>
          <p:cNvSpPr txBox="1"/>
          <p:nvPr/>
        </p:nvSpPr>
        <p:spPr>
          <a:xfrm>
            <a:off x="502920" y="6510020"/>
            <a:ext cx="2377440" cy="165100"/>
          </a:xfrm>
          <a:prstGeom prst="rect">
            <a:avLst/>
          </a:prstGeom>
          <a:noFill/>
        </p:spPr>
        <p:txBody>
          <a:bodyPr wrap="square" anchor="t">
            <a:spAutoFit/>
          </a:bodyPr>
          <a:lstStyle/>
          <a:p>
            <a:pPr algn="l"/>
            <a:r>
              <a:rPr lang="en-US" sz="750" b="1" dirty="0">
                <a:solidFill>
                  <a:srgbClr val="BEBEBE"/>
                </a:solidFill>
                <a:latin typeface="Aptos"/>
              </a:rPr>
              <a:t>MY DISHONEST BENCHMARK</a:t>
            </a:r>
          </a:p>
        </p:txBody>
      </p:sp>
      <p:sp>
        <p:nvSpPr>
          <p:cNvPr id="42" name="Page number"/>
          <p:cNvSpPr txBox="1"/>
          <p:nvPr/>
        </p:nvSpPr>
        <p:spPr>
          <a:xfrm>
            <a:off x="11155680" y="6474460"/>
            <a:ext cx="502920" cy="182880"/>
          </a:xfrm>
          <a:prstGeom prst="rect">
            <a:avLst/>
          </a:prstGeom>
          <a:noFill/>
        </p:spPr>
        <p:txBody>
          <a:bodyPr wrap="square" anchor="t">
            <a:spAutoFit/>
          </a:bodyPr>
          <a:lstStyle/>
          <a:p>
            <a:pPr algn="r"/>
            <a:r>
              <a:rPr lang="en-US" sz="800" b="1" dirty="0">
                <a:solidFill>
                  <a:srgbClr val="BEBEBE"/>
                </a:solidFill>
                <a:latin typeface="Aptos"/>
              </a:rPr>
              <a:t>35</a:t>
            </a:r>
          </a:p>
        </p:txBody>
      </p:sp>
      <p:graphicFrame>
        <p:nvGraphicFramePr>
          <p:cNvPr id="43" name="Chart"/>
          <p:cNvGraphicFramePr/>
          <p:nvPr>
            <p:extLst>
              <p:ext uri="{D42A27DB-BD31-4B8C-83A1-F6EECF244321}">
                <p14:modId xmlns:p14="http://schemas.microsoft.com/office/powerpoint/2010/main" val="2347909002"/>
              </p:ext>
            </p:extLst>
          </p:nvPr>
        </p:nvGraphicFramePr>
        <p:xfrm>
          <a:off x="838200" y="2413000"/>
          <a:ext cx="4940300" cy="24638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4" name="Chart"/>
          <p:cNvGraphicFramePr/>
          <p:nvPr>
            <p:extLst>
              <p:ext uri="{D42A27DB-BD31-4B8C-83A1-F6EECF244321}">
                <p14:modId xmlns:p14="http://schemas.microsoft.com/office/powerpoint/2010/main" val="567646776"/>
              </p:ext>
            </p:extLst>
          </p:nvPr>
        </p:nvGraphicFramePr>
        <p:xfrm>
          <a:off x="6311900" y="2413000"/>
          <a:ext cx="4940300" cy="24638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4710975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4" name="TextBox 3"/>
          <p:cNvSpPr txBox="1"/>
          <p:nvPr/>
        </p:nvSpPr>
        <p:spPr>
          <a:xfrm>
            <a:off x="749808" y="1600200"/>
            <a:ext cx="10607040" cy="2926080"/>
          </a:xfrm>
          <a:prstGeom prst="rect">
            <a:avLst/>
          </a:prstGeom>
          <a:noFill/>
        </p:spPr>
        <p:txBody>
          <a:bodyPr wrap="square" anchor="ctr">
            <a:spAutoFit/>
          </a:bodyPr>
          <a:lstStyle/>
          <a:p>
            <a:pPr algn="l">
              <a:defRPr sz="4200" b="1">
                <a:solidFill>
                  <a:srgbClr val="FFFFFF"/>
                </a:solidFill>
                <a:latin typeface="Aptos Display"/>
              </a:defRPr>
            </a:pPr>
            <a:r>
              <a:t>Before believing the next 100× graph…</a:t>
            </a:r>
          </a:p>
        </p:txBody>
      </p:sp>
      <p:sp>
        <p:nvSpPr>
          <p:cNvPr id="5" name="TextBox 4"/>
          <p:cNvSpPr txBox="1"/>
          <p:nvPr/>
        </p:nvSpPr>
        <p:spPr>
          <a:xfrm>
            <a:off x="777240" y="4892040"/>
            <a:ext cx="10058400" cy="731520"/>
          </a:xfrm>
          <a:prstGeom prst="rect">
            <a:avLst/>
          </a:prstGeom>
          <a:noFill/>
        </p:spPr>
        <p:txBody>
          <a:bodyPr wrap="square" anchor="t">
            <a:spAutoFit/>
          </a:bodyPr>
          <a:lstStyle/>
          <a:p>
            <a:pPr algn="l">
              <a:defRPr sz="1800" b="0">
                <a:solidFill>
                  <a:srgbClr val="BEBEBE"/>
                </a:solidFill>
                <a:latin typeface="Aptos"/>
              </a:defRPr>
            </a:pPr>
            <a:r>
              <a:t>Ask what changed between the bars.</a:t>
            </a:r>
          </a:p>
        </p:txBody>
      </p:sp>
      <p:sp>
        <p:nvSpPr>
          <p:cNvPr id="6" name="TextBox 5"/>
          <p:cNvSpPr txBox="1"/>
          <p:nvPr/>
        </p:nvSpPr>
        <p:spPr>
          <a:xfrm>
            <a:off x="502920" y="6510528"/>
            <a:ext cx="2377440" cy="164592"/>
          </a:xfrm>
          <a:prstGeom prst="rect">
            <a:avLst/>
          </a:prstGeom>
          <a:noFill/>
        </p:spPr>
        <p:txBody>
          <a:bodyPr wrap="square" anchor="t">
            <a:spAutoFit/>
          </a:bodyPr>
          <a:lstStyle/>
          <a:p>
            <a:pPr algn="l">
              <a:defRPr sz="750" b="1">
                <a:solidFill>
                  <a:srgbClr val="AAAAAA"/>
                </a:solidFill>
                <a:latin typeface="Aptos"/>
              </a:defRPr>
            </a:pPr>
            <a:r>
              <a:t>MY DISHONEST BENCHMARK</a:t>
            </a:r>
          </a:p>
        </p:txBody>
      </p:sp>
      <p:sp>
        <p:nvSpPr>
          <p:cNvPr id="7" name="TextBox 6"/>
          <p:cNvSpPr txBox="1"/>
          <p:nvPr/>
        </p:nvSpPr>
        <p:spPr>
          <a:xfrm>
            <a:off x="11155680" y="6473952"/>
            <a:ext cx="502920" cy="182880"/>
          </a:xfrm>
          <a:prstGeom prst="rect">
            <a:avLst/>
          </a:prstGeom>
          <a:noFill/>
        </p:spPr>
        <p:txBody>
          <a:bodyPr wrap="square" anchor="t">
            <a:spAutoFit/>
          </a:bodyPr>
          <a:lstStyle/>
          <a:p>
            <a:pPr algn="r">
              <a:defRPr sz="800" b="1">
                <a:solidFill>
                  <a:srgbClr val="AAAAAA"/>
                </a:solidFill>
                <a:latin typeface="Aptos"/>
              </a:defRPr>
            </a:pPr>
            <a:r>
              <a:t>38</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 name="TextBox 1"/>
          <p:cNvSpPr txBox="1"/>
          <p:nvPr/>
        </p:nvSpPr>
        <p:spPr>
          <a:xfrm>
            <a:off x="594360" y="253921"/>
            <a:ext cx="6309360" cy="584775"/>
          </a:xfrm>
          <a:prstGeom prst="rect">
            <a:avLst/>
          </a:prstGeom>
          <a:noFill/>
        </p:spPr>
        <p:txBody>
          <a:bodyPr wrap="square" anchor="t">
            <a:spAutoFit/>
          </a:bodyPr>
          <a:lstStyle/>
          <a:p>
            <a:pPr algn="l">
              <a:defRPr sz="1000" b="1">
                <a:solidFill>
                  <a:srgbClr val="FF655C"/>
                </a:solidFill>
                <a:latin typeface="Aptos"/>
              </a:defRPr>
            </a:pPr>
            <a:r>
              <a:rPr sz="3200" dirty="0">
                <a:solidFill>
                  <a:srgbClr val="F2F2F2"/>
                </a:solidFill>
              </a:rPr>
              <a:t>DECOMPOSE THE CLAIM</a:t>
            </a:r>
          </a:p>
        </p:txBody>
      </p:sp>
      <p:sp>
        <p:nvSpPr>
          <p:cNvPr id="3" name="TextBox 2"/>
          <p:cNvSpPr txBox="1"/>
          <p:nvPr/>
        </p:nvSpPr>
        <p:spPr>
          <a:xfrm>
            <a:off x="594360" y="800454"/>
            <a:ext cx="10515600" cy="621792"/>
          </a:xfrm>
          <a:prstGeom prst="rect">
            <a:avLst/>
          </a:prstGeom>
          <a:noFill/>
        </p:spPr>
        <p:txBody>
          <a:bodyPr wrap="square" anchor="t">
            <a:spAutoFit/>
          </a:bodyPr>
          <a:lstStyle/>
          <a:p>
            <a:pPr algn="l">
              <a:defRPr sz="2900" b="1">
                <a:solidFill>
                  <a:srgbClr val="F2F2F2"/>
                </a:solidFill>
                <a:latin typeface="Aptos Display"/>
              </a:defRPr>
            </a:pPr>
            <a:r>
              <a:rPr dirty="0">
                <a:solidFill>
                  <a:srgbClr val="F2F2F2"/>
                </a:solidFill>
              </a:rPr>
              <a:t>Where did the big number really come from?</a:t>
            </a:r>
          </a:p>
        </p:txBody>
      </p:sp>
      <p:sp>
        <p:nvSpPr>
          <p:cNvPr id="4" name="Rounded Rectangle 3"/>
          <p:cNvSpPr/>
          <p:nvPr/>
        </p:nvSpPr>
        <p:spPr>
          <a:xfrm>
            <a:off x="685800" y="1554480"/>
            <a:ext cx="10698480" cy="960120"/>
          </a:xfrm>
          <a:prstGeom prst="roundRect">
            <a:avLst/>
          </a:prstGeom>
          <a:solidFill>
            <a:srgbClr val="222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5" name="Rectangle 4"/>
          <p:cNvSpPr/>
          <p:nvPr/>
        </p:nvSpPr>
        <p:spPr>
          <a:xfrm>
            <a:off x="685800" y="1554480"/>
            <a:ext cx="109728" cy="960120"/>
          </a:xfrm>
          <a:prstGeom prst="rect">
            <a:avLst/>
          </a:prstGeom>
          <a:solidFill>
            <a:srgbClr val="FF6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719072"/>
            <a:ext cx="2926080" cy="320040"/>
          </a:xfrm>
          <a:prstGeom prst="rect">
            <a:avLst/>
          </a:prstGeom>
          <a:noFill/>
        </p:spPr>
        <p:txBody>
          <a:bodyPr wrap="square" anchor="t">
            <a:spAutoFit/>
          </a:bodyPr>
          <a:lstStyle/>
          <a:p>
            <a:pPr algn="l">
              <a:defRPr sz="1600" b="1">
                <a:solidFill>
                  <a:srgbClr val="F2F2F2"/>
                </a:solidFill>
                <a:latin typeface="Aptos"/>
              </a:defRPr>
            </a:pPr>
            <a:r>
              <a:t>Fix broken schema</a:t>
            </a:r>
          </a:p>
        </p:txBody>
      </p:sp>
      <p:sp>
        <p:nvSpPr>
          <p:cNvPr id="7" name="TextBox 6"/>
          <p:cNvSpPr txBox="1"/>
          <p:nvPr/>
        </p:nvSpPr>
        <p:spPr>
          <a:xfrm>
            <a:off x="4069080" y="1719072"/>
            <a:ext cx="2834640" cy="369332"/>
          </a:xfrm>
          <a:prstGeom prst="rect">
            <a:avLst/>
          </a:prstGeom>
          <a:noFill/>
        </p:spPr>
        <p:txBody>
          <a:bodyPr wrap="square" anchor="t">
            <a:spAutoFit/>
          </a:bodyPr>
          <a:lstStyle/>
          <a:p>
            <a:pPr algn="l">
              <a:defRPr sz="1800" b="1">
                <a:solidFill>
                  <a:srgbClr val="FF655C"/>
                </a:solidFill>
                <a:latin typeface="Aptos"/>
              </a:defRPr>
            </a:pPr>
            <a:r>
              <a:t>584 → 22,705 TPS</a:t>
            </a:r>
          </a:p>
        </p:txBody>
      </p:sp>
      <p:sp>
        <p:nvSpPr>
          <p:cNvPr id="8" name="TextBox 7"/>
          <p:cNvSpPr txBox="1"/>
          <p:nvPr/>
        </p:nvSpPr>
        <p:spPr>
          <a:xfrm>
            <a:off x="7040880" y="1719072"/>
            <a:ext cx="3749039" cy="307777"/>
          </a:xfrm>
          <a:prstGeom prst="rect">
            <a:avLst/>
          </a:prstGeom>
          <a:noFill/>
        </p:spPr>
        <p:txBody>
          <a:bodyPr wrap="square" anchor="t">
            <a:spAutoFit/>
          </a:bodyPr>
          <a:lstStyle/>
          <a:p>
            <a:pPr algn="l">
              <a:defRPr sz="1400" b="0">
                <a:solidFill>
                  <a:srgbClr val="BEBEBE"/>
                </a:solidFill>
                <a:latin typeface="Aptos"/>
              </a:defRPr>
            </a:pPr>
            <a:r>
              <a:t>39× headline opportunity</a:t>
            </a:r>
          </a:p>
        </p:txBody>
      </p:sp>
      <p:sp>
        <p:nvSpPr>
          <p:cNvPr id="9" name="Rounded Rectangle 8"/>
          <p:cNvSpPr/>
          <p:nvPr/>
        </p:nvSpPr>
        <p:spPr>
          <a:xfrm>
            <a:off x="685800" y="2971800"/>
            <a:ext cx="10698480" cy="960120"/>
          </a:xfrm>
          <a:prstGeom prst="roundRect">
            <a:avLst/>
          </a:prstGeom>
          <a:solidFill>
            <a:srgbClr val="222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10" name="Rectangle 9"/>
          <p:cNvSpPr/>
          <p:nvPr/>
        </p:nvSpPr>
        <p:spPr>
          <a:xfrm>
            <a:off x="685800" y="2971800"/>
            <a:ext cx="109728" cy="960120"/>
          </a:xfrm>
          <a:prstGeom prst="rect">
            <a:avLst/>
          </a:prstGeom>
          <a:solidFill>
            <a:srgbClr val="F7C5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11" name="TextBox 10"/>
          <p:cNvSpPr txBox="1"/>
          <p:nvPr/>
        </p:nvSpPr>
        <p:spPr>
          <a:xfrm>
            <a:off x="1005840" y="3136392"/>
            <a:ext cx="2926080" cy="320040"/>
          </a:xfrm>
          <a:prstGeom prst="rect">
            <a:avLst/>
          </a:prstGeom>
          <a:noFill/>
        </p:spPr>
        <p:txBody>
          <a:bodyPr wrap="square" anchor="t">
            <a:spAutoFit/>
          </a:bodyPr>
          <a:lstStyle/>
          <a:p>
            <a:pPr algn="l">
              <a:defRPr sz="1600" b="1">
                <a:solidFill>
                  <a:srgbClr val="F2F2F2"/>
                </a:solidFill>
                <a:latin typeface="Aptos"/>
              </a:defRPr>
            </a:pPr>
            <a:r>
              <a:t>Durability knobs</a:t>
            </a:r>
          </a:p>
        </p:txBody>
      </p:sp>
      <p:sp>
        <p:nvSpPr>
          <p:cNvPr id="12" name="TextBox 11"/>
          <p:cNvSpPr txBox="1"/>
          <p:nvPr/>
        </p:nvSpPr>
        <p:spPr>
          <a:xfrm>
            <a:off x="4069080" y="3136392"/>
            <a:ext cx="2834640" cy="369332"/>
          </a:xfrm>
          <a:prstGeom prst="rect">
            <a:avLst/>
          </a:prstGeom>
          <a:noFill/>
        </p:spPr>
        <p:txBody>
          <a:bodyPr wrap="square" anchor="t">
            <a:spAutoFit/>
          </a:bodyPr>
          <a:lstStyle/>
          <a:p>
            <a:pPr algn="l">
              <a:defRPr sz="1800" b="1">
                <a:solidFill>
                  <a:srgbClr val="F6C548"/>
                </a:solidFill>
                <a:latin typeface="Aptos"/>
              </a:defRPr>
            </a:pPr>
            <a:r>
              <a:t>1.02×–1.09×</a:t>
            </a:r>
          </a:p>
        </p:txBody>
      </p:sp>
      <p:sp>
        <p:nvSpPr>
          <p:cNvPr id="13" name="TextBox 12"/>
          <p:cNvSpPr txBox="1"/>
          <p:nvPr/>
        </p:nvSpPr>
        <p:spPr>
          <a:xfrm>
            <a:off x="7040880" y="3136392"/>
            <a:ext cx="3749039" cy="438912"/>
          </a:xfrm>
          <a:prstGeom prst="rect">
            <a:avLst/>
          </a:prstGeom>
          <a:noFill/>
        </p:spPr>
        <p:txBody>
          <a:bodyPr wrap="square" anchor="t">
            <a:spAutoFit/>
          </a:bodyPr>
          <a:lstStyle/>
          <a:p>
            <a:pPr algn="l">
              <a:defRPr sz="1400" b="0">
                <a:solidFill>
                  <a:srgbClr val="BEBEBE"/>
                </a:solidFill>
                <a:latin typeface="Aptos"/>
              </a:defRPr>
            </a:pPr>
            <a:r>
              <a:t>mostly noise here</a:t>
            </a:r>
          </a:p>
        </p:txBody>
      </p:sp>
      <p:sp>
        <p:nvSpPr>
          <p:cNvPr id="14" name="Rounded Rectangle 13"/>
          <p:cNvSpPr/>
          <p:nvPr/>
        </p:nvSpPr>
        <p:spPr>
          <a:xfrm>
            <a:off x="685800" y="4389120"/>
            <a:ext cx="10698480" cy="960120"/>
          </a:xfrm>
          <a:prstGeom prst="roundRect">
            <a:avLst/>
          </a:prstGeom>
          <a:solidFill>
            <a:srgbClr val="222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15" name="Rectangle 14"/>
          <p:cNvSpPr/>
          <p:nvPr/>
        </p:nvSpPr>
        <p:spPr>
          <a:xfrm>
            <a:off x="685800" y="4389120"/>
            <a:ext cx="109728" cy="960120"/>
          </a:xfrm>
          <a:prstGeom prst="rect">
            <a:avLst/>
          </a:prstGeom>
          <a:solidFill>
            <a:srgbClr val="AEE0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16" name="TextBox 15"/>
          <p:cNvSpPr txBox="1"/>
          <p:nvPr/>
        </p:nvSpPr>
        <p:spPr>
          <a:xfrm>
            <a:off x="1005840" y="4553712"/>
            <a:ext cx="2926080" cy="320040"/>
          </a:xfrm>
          <a:prstGeom prst="rect">
            <a:avLst/>
          </a:prstGeom>
          <a:noFill/>
        </p:spPr>
        <p:txBody>
          <a:bodyPr wrap="square" anchor="t">
            <a:spAutoFit/>
          </a:bodyPr>
          <a:lstStyle/>
          <a:p>
            <a:pPr algn="l">
              <a:defRPr sz="1600" b="1">
                <a:solidFill>
                  <a:srgbClr val="F2F2F2"/>
                </a:solidFill>
                <a:latin typeface="Aptos"/>
              </a:defRPr>
            </a:pPr>
            <a:r>
              <a:t>Do less / UNLOGGED</a:t>
            </a:r>
          </a:p>
        </p:txBody>
      </p:sp>
      <p:sp>
        <p:nvSpPr>
          <p:cNvPr id="17" name="TextBox 16"/>
          <p:cNvSpPr txBox="1"/>
          <p:nvPr/>
        </p:nvSpPr>
        <p:spPr>
          <a:xfrm>
            <a:off x="4069080" y="4553712"/>
            <a:ext cx="2834640" cy="369332"/>
          </a:xfrm>
          <a:prstGeom prst="rect">
            <a:avLst/>
          </a:prstGeom>
          <a:noFill/>
        </p:spPr>
        <p:txBody>
          <a:bodyPr wrap="square" anchor="t">
            <a:spAutoFit/>
          </a:bodyPr>
          <a:lstStyle/>
          <a:p>
            <a:pPr algn="l">
              <a:defRPr sz="1800" b="1">
                <a:solidFill>
                  <a:srgbClr val="AEE057"/>
                </a:solidFill>
                <a:latin typeface="Aptos"/>
              </a:defRPr>
            </a:pPr>
            <a:r>
              <a:t>1.99× / 1.66×</a:t>
            </a:r>
          </a:p>
        </p:txBody>
      </p:sp>
      <p:sp>
        <p:nvSpPr>
          <p:cNvPr id="18" name="TextBox 17"/>
          <p:cNvSpPr txBox="1"/>
          <p:nvPr/>
        </p:nvSpPr>
        <p:spPr>
          <a:xfrm>
            <a:off x="7040880" y="4553712"/>
            <a:ext cx="3749039" cy="438912"/>
          </a:xfrm>
          <a:prstGeom prst="rect">
            <a:avLst/>
          </a:prstGeom>
          <a:noFill/>
        </p:spPr>
        <p:txBody>
          <a:bodyPr wrap="square" anchor="t">
            <a:spAutoFit/>
          </a:bodyPr>
          <a:lstStyle/>
          <a:p>
            <a:pPr algn="l">
              <a:defRPr sz="1400" b="0">
                <a:solidFill>
                  <a:srgbClr val="BEBEBE"/>
                </a:solidFill>
                <a:latin typeface="Aptos"/>
              </a:defRPr>
            </a:pPr>
            <a:r>
              <a:t>work or guarantees changed</a:t>
            </a:r>
          </a:p>
        </p:txBody>
      </p:sp>
      <p:sp>
        <p:nvSpPr>
          <p:cNvPr id="19" name="TextBox 18"/>
          <p:cNvSpPr txBox="1"/>
          <p:nvPr/>
        </p:nvSpPr>
        <p:spPr>
          <a:xfrm>
            <a:off x="502920" y="6510528"/>
            <a:ext cx="2377440" cy="164592"/>
          </a:xfrm>
          <a:prstGeom prst="rect">
            <a:avLst/>
          </a:prstGeom>
          <a:noFill/>
        </p:spPr>
        <p:txBody>
          <a:bodyPr wrap="square" anchor="t">
            <a:spAutoFit/>
          </a:bodyPr>
          <a:lstStyle/>
          <a:p>
            <a:pPr algn="l">
              <a:defRPr sz="750" b="1">
                <a:solidFill>
                  <a:srgbClr val="BEBEBE"/>
                </a:solidFill>
                <a:latin typeface="Aptos"/>
              </a:defRPr>
            </a:pPr>
            <a:r>
              <a:t>MY DISHONEST BENCHMARK</a:t>
            </a:r>
          </a:p>
        </p:txBody>
      </p:sp>
      <p:sp>
        <p:nvSpPr>
          <p:cNvPr id="20" name="TextBox 19"/>
          <p:cNvSpPr txBox="1"/>
          <p:nvPr/>
        </p:nvSpPr>
        <p:spPr>
          <a:xfrm>
            <a:off x="11155680" y="6473952"/>
            <a:ext cx="502920" cy="182880"/>
          </a:xfrm>
          <a:prstGeom prst="rect">
            <a:avLst/>
          </a:prstGeom>
          <a:noFill/>
        </p:spPr>
        <p:txBody>
          <a:bodyPr wrap="square" anchor="t">
            <a:spAutoFit/>
          </a:bodyPr>
          <a:lstStyle/>
          <a:p>
            <a:pPr algn="r">
              <a:defRPr sz="800" b="1">
                <a:solidFill>
                  <a:srgbClr val="BEBEBE"/>
                </a:solidFill>
                <a:latin typeface="Aptos"/>
              </a:defRPr>
            </a:pPr>
            <a:r>
              <a:t>36</a:t>
            </a:r>
          </a:p>
        </p:txBody>
      </p:sp>
    </p:spTree>
    <p:extLst>
      <p:ext uri="{BB962C8B-B14F-4D97-AF65-F5344CB8AC3E}">
        <p14:creationId xmlns:p14="http://schemas.microsoft.com/office/powerpoint/2010/main" val="39182320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 name="TextBox 1"/>
          <p:cNvSpPr txBox="1"/>
          <p:nvPr/>
        </p:nvSpPr>
        <p:spPr>
          <a:xfrm>
            <a:off x="594360" y="429768"/>
            <a:ext cx="7178040" cy="584775"/>
          </a:xfrm>
          <a:prstGeom prst="rect">
            <a:avLst/>
          </a:prstGeom>
          <a:noFill/>
        </p:spPr>
        <p:txBody>
          <a:bodyPr wrap="square" anchor="t">
            <a:spAutoFit/>
          </a:bodyPr>
          <a:lstStyle/>
          <a:p>
            <a:pPr algn="l">
              <a:defRPr sz="1000" b="1">
                <a:solidFill>
                  <a:srgbClr val="FF655C"/>
                </a:solidFill>
                <a:latin typeface="Aptos"/>
              </a:defRPr>
            </a:pPr>
            <a:r>
              <a:rPr sz="3200" dirty="0">
                <a:solidFill>
                  <a:srgbClr val="F2F2F2"/>
                </a:solidFill>
              </a:rPr>
              <a:t>DECOMPOSE THE CLAIM</a:t>
            </a:r>
          </a:p>
        </p:txBody>
      </p:sp>
      <p:sp>
        <p:nvSpPr>
          <p:cNvPr id="3" name="TextBox 2"/>
          <p:cNvSpPr txBox="1"/>
          <p:nvPr/>
        </p:nvSpPr>
        <p:spPr>
          <a:xfrm>
            <a:off x="594360" y="923548"/>
            <a:ext cx="10515600" cy="621792"/>
          </a:xfrm>
          <a:prstGeom prst="rect">
            <a:avLst/>
          </a:prstGeom>
          <a:noFill/>
        </p:spPr>
        <p:txBody>
          <a:bodyPr wrap="square" anchor="t">
            <a:spAutoFit/>
          </a:bodyPr>
          <a:lstStyle/>
          <a:p>
            <a:pPr algn="l">
              <a:defRPr sz="2900" b="1">
                <a:solidFill>
                  <a:srgbClr val="F2F2F2"/>
                </a:solidFill>
                <a:latin typeface="Aptos Display"/>
              </a:defRPr>
            </a:pPr>
            <a:r>
              <a:rPr dirty="0">
                <a:solidFill>
                  <a:srgbClr val="F2F2F2"/>
                </a:solidFill>
              </a:rPr>
              <a:t>The last jump comes from changing execution + metric</a:t>
            </a:r>
          </a:p>
        </p:txBody>
      </p:sp>
      <p:sp>
        <p:nvSpPr>
          <p:cNvPr id="4" name="Rounded Rectangle 3"/>
          <p:cNvSpPr/>
          <p:nvPr/>
        </p:nvSpPr>
        <p:spPr>
          <a:xfrm>
            <a:off x="685800" y="1554480"/>
            <a:ext cx="10698480" cy="960120"/>
          </a:xfrm>
          <a:prstGeom prst="roundRect">
            <a:avLst/>
          </a:prstGeom>
          <a:solidFill>
            <a:srgbClr val="222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5" name="Rectangle 4"/>
          <p:cNvSpPr/>
          <p:nvPr/>
        </p:nvSpPr>
        <p:spPr>
          <a:xfrm>
            <a:off x="685800" y="1554480"/>
            <a:ext cx="109728" cy="960120"/>
          </a:xfrm>
          <a:prstGeom prst="rect">
            <a:avLst/>
          </a:prstGeom>
          <a:solidFill>
            <a:srgbClr val="00C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719072"/>
            <a:ext cx="2926080" cy="320040"/>
          </a:xfrm>
          <a:prstGeom prst="rect">
            <a:avLst/>
          </a:prstGeom>
          <a:noFill/>
        </p:spPr>
        <p:txBody>
          <a:bodyPr wrap="square" anchor="t">
            <a:spAutoFit/>
          </a:bodyPr>
          <a:lstStyle/>
          <a:p>
            <a:pPr algn="l">
              <a:defRPr sz="1600" b="1">
                <a:solidFill>
                  <a:srgbClr val="F2F2F2"/>
                </a:solidFill>
                <a:latin typeface="Aptos"/>
              </a:defRPr>
            </a:pPr>
            <a:r>
              <a:t>Server-side SQL function</a:t>
            </a:r>
          </a:p>
        </p:txBody>
      </p:sp>
      <p:sp>
        <p:nvSpPr>
          <p:cNvPr id="7" name="TextBox 6"/>
          <p:cNvSpPr txBox="1"/>
          <p:nvPr/>
        </p:nvSpPr>
        <p:spPr>
          <a:xfrm>
            <a:off x="4069080" y="1719072"/>
            <a:ext cx="2834640" cy="369332"/>
          </a:xfrm>
          <a:prstGeom prst="rect">
            <a:avLst/>
          </a:prstGeom>
          <a:noFill/>
        </p:spPr>
        <p:txBody>
          <a:bodyPr wrap="square" anchor="t">
            <a:spAutoFit/>
          </a:bodyPr>
          <a:lstStyle/>
          <a:p>
            <a:pPr algn="l">
              <a:defRPr sz="1800" b="1">
                <a:solidFill>
                  <a:srgbClr val="00C2D6"/>
                </a:solidFill>
                <a:latin typeface="Aptos"/>
              </a:defRPr>
            </a:pPr>
            <a:r>
              <a:t>72,743 TPS</a:t>
            </a:r>
          </a:p>
        </p:txBody>
      </p:sp>
      <p:sp>
        <p:nvSpPr>
          <p:cNvPr id="8" name="TextBox 7"/>
          <p:cNvSpPr txBox="1"/>
          <p:nvPr/>
        </p:nvSpPr>
        <p:spPr>
          <a:xfrm>
            <a:off x="7040880" y="1719072"/>
            <a:ext cx="3749039" cy="307777"/>
          </a:xfrm>
          <a:prstGeom prst="rect">
            <a:avLst/>
          </a:prstGeom>
          <a:noFill/>
        </p:spPr>
        <p:txBody>
          <a:bodyPr wrap="square" anchor="t">
            <a:spAutoFit/>
          </a:bodyPr>
          <a:lstStyle/>
          <a:p>
            <a:pPr algn="l">
              <a:defRPr sz="1400" b="0">
                <a:solidFill>
                  <a:srgbClr val="BEBEBE"/>
                </a:solidFill>
                <a:latin typeface="Aptos"/>
              </a:defRPr>
            </a:pPr>
            <a:r>
              <a:t>3.20× legitimate hero</a:t>
            </a:r>
          </a:p>
        </p:txBody>
      </p:sp>
      <p:sp>
        <p:nvSpPr>
          <p:cNvPr id="9" name="Rounded Rectangle 8"/>
          <p:cNvSpPr/>
          <p:nvPr/>
        </p:nvSpPr>
        <p:spPr>
          <a:xfrm>
            <a:off x="685800" y="2971800"/>
            <a:ext cx="10698480" cy="960120"/>
          </a:xfrm>
          <a:prstGeom prst="roundRect">
            <a:avLst/>
          </a:prstGeom>
          <a:solidFill>
            <a:srgbClr val="222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10" name="Rectangle 9"/>
          <p:cNvSpPr/>
          <p:nvPr/>
        </p:nvSpPr>
        <p:spPr>
          <a:xfrm>
            <a:off x="685800" y="2971800"/>
            <a:ext cx="109728" cy="960120"/>
          </a:xfrm>
          <a:prstGeom prst="rect">
            <a:avLst/>
          </a:prstGeom>
          <a:solidFill>
            <a:srgbClr val="FF6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3136392"/>
            <a:ext cx="2926080" cy="320040"/>
          </a:xfrm>
          <a:prstGeom prst="rect">
            <a:avLst/>
          </a:prstGeom>
          <a:noFill/>
        </p:spPr>
        <p:txBody>
          <a:bodyPr wrap="square" anchor="t">
            <a:spAutoFit/>
          </a:bodyPr>
          <a:lstStyle/>
          <a:p>
            <a:pPr algn="l">
              <a:defRPr sz="1600" b="1">
                <a:solidFill>
                  <a:srgbClr val="F2F2F2"/>
                </a:solidFill>
                <a:latin typeface="Aptos"/>
              </a:defRPr>
            </a:pPr>
            <a:r>
              <a:t>Batching</a:t>
            </a:r>
          </a:p>
        </p:txBody>
      </p:sp>
      <p:sp>
        <p:nvSpPr>
          <p:cNvPr id="12" name="TextBox 11"/>
          <p:cNvSpPr txBox="1"/>
          <p:nvPr/>
        </p:nvSpPr>
        <p:spPr>
          <a:xfrm>
            <a:off x="4069080" y="3136392"/>
            <a:ext cx="2834640" cy="369332"/>
          </a:xfrm>
          <a:prstGeom prst="rect">
            <a:avLst/>
          </a:prstGeom>
          <a:noFill/>
        </p:spPr>
        <p:txBody>
          <a:bodyPr wrap="square" anchor="t">
            <a:spAutoFit/>
          </a:bodyPr>
          <a:lstStyle/>
          <a:p>
            <a:pPr algn="l">
              <a:defRPr sz="1800" b="1">
                <a:solidFill>
                  <a:srgbClr val="FF655C"/>
                </a:solidFill>
                <a:latin typeface="Aptos"/>
              </a:defRPr>
            </a:pPr>
            <a:r>
              <a:t>24,099 / 8,426 TPS</a:t>
            </a:r>
          </a:p>
        </p:txBody>
      </p:sp>
      <p:sp>
        <p:nvSpPr>
          <p:cNvPr id="13" name="TextBox 12"/>
          <p:cNvSpPr txBox="1"/>
          <p:nvPr/>
        </p:nvSpPr>
        <p:spPr>
          <a:xfrm>
            <a:off x="7040880" y="3136392"/>
            <a:ext cx="3749039" cy="438912"/>
          </a:xfrm>
          <a:prstGeom prst="rect">
            <a:avLst/>
          </a:prstGeom>
          <a:noFill/>
        </p:spPr>
        <p:txBody>
          <a:bodyPr wrap="square" anchor="t">
            <a:spAutoFit/>
          </a:bodyPr>
          <a:lstStyle/>
          <a:p>
            <a:pPr algn="l">
              <a:defRPr sz="1400" b="0">
                <a:solidFill>
                  <a:srgbClr val="BEBEBE"/>
                </a:solidFill>
                <a:latin typeface="Aptos"/>
              </a:defRPr>
            </a:pPr>
            <a:r>
              <a:t>headline switches to OPS</a:t>
            </a:r>
          </a:p>
        </p:txBody>
      </p:sp>
      <p:sp>
        <p:nvSpPr>
          <p:cNvPr id="14" name="Rounded Rectangle 13"/>
          <p:cNvSpPr/>
          <p:nvPr/>
        </p:nvSpPr>
        <p:spPr>
          <a:xfrm>
            <a:off x="685800" y="4389120"/>
            <a:ext cx="10698480" cy="960120"/>
          </a:xfrm>
          <a:prstGeom prst="roundRect">
            <a:avLst/>
          </a:prstGeom>
          <a:solidFill>
            <a:srgbClr val="222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2F2F2"/>
              </a:solidFill>
            </a:endParaRPr>
          </a:p>
        </p:txBody>
      </p:sp>
      <p:sp>
        <p:nvSpPr>
          <p:cNvPr id="15" name="Rectangle 14"/>
          <p:cNvSpPr/>
          <p:nvPr/>
        </p:nvSpPr>
        <p:spPr>
          <a:xfrm>
            <a:off x="685800" y="4389120"/>
            <a:ext cx="109728" cy="960120"/>
          </a:xfrm>
          <a:prstGeom prst="rect">
            <a:avLst/>
          </a:prstGeom>
          <a:solidFill>
            <a:srgbClr val="F7C5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181C"/>
              </a:solidFill>
            </a:endParaRPr>
          </a:p>
        </p:txBody>
      </p:sp>
      <p:sp>
        <p:nvSpPr>
          <p:cNvPr id="16" name="TextBox 15"/>
          <p:cNvSpPr txBox="1"/>
          <p:nvPr/>
        </p:nvSpPr>
        <p:spPr>
          <a:xfrm>
            <a:off x="1005840" y="4553712"/>
            <a:ext cx="2926080" cy="320040"/>
          </a:xfrm>
          <a:prstGeom prst="rect">
            <a:avLst/>
          </a:prstGeom>
          <a:noFill/>
        </p:spPr>
        <p:txBody>
          <a:bodyPr wrap="square" anchor="t">
            <a:spAutoFit/>
          </a:bodyPr>
          <a:lstStyle/>
          <a:p>
            <a:pPr algn="l">
              <a:defRPr sz="1600" b="1">
                <a:solidFill>
                  <a:srgbClr val="F2F2F2"/>
                </a:solidFill>
                <a:latin typeface="Aptos"/>
              </a:defRPr>
            </a:pPr>
            <a:r>
              <a:t>Stack everything</a:t>
            </a:r>
          </a:p>
        </p:txBody>
      </p:sp>
      <p:sp>
        <p:nvSpPr>
          <p:cNvPr id="17" name="TextBox 16"/>
          <p:cNvSpPr txBox="1"/>
          <p:nvPr/>
        </p:nvSpPr>
        <p:spPr>
          <a:xfrm>
            <a:off x="4069080" y="4553712"/>
            <a:ext cx="2834640" cy="369332"/>
          </a:xfrm>
          <a:prstGeom prst="rect">
            <a:avLst/>
          </a:prstGeom>
          <a:noFill/>
        </p:spPr>
        <p:txBody>
          <a:bodyPr wrap="square" anchor="t">
            <a:spAutoFit/>
          </a:bodyPr>
          <a:lstStyle/>
          <a:p>
            <a:pPr algn="l">
              <a:defRPr sz="1800" b="1">
                <a:solidFill>
                  <a:srgbClr val="F6C548"/>
                </a:solidFill>
                <a:latin typeface="Aptos"/>
              </a:defRPr>
            </a:pPr>
            <a:r>
              <a:t>362,789 OPS</a:t>
            </a:r>
          </a:p>
        </p:txBody>
      </p:sp>
      <p:sp>
        <p:nvSpPr>
          <p:cNvPr id="18" name="TextBox 17"/>
          <p:cNvSpPr txBox="1"/>
          <p:nvPr/>
        </p:nvSpPr>
        <p:spPr>
          <a:xfrm>
            <a:off x="7040880" y="4553712"/>
            <a:ext cx="3749039" cy="307777"/>
          </a:xfrm>
          <a:prstGeom prst="rect">
            <a:avLst/>
          </a:prstGeom>
          <a:noFill/>
        </p:spPr>
        <p:txBody>
          <a:bodyPr wrap="square" anchor="t">
            <a:spAutoFit/>
          </a:bodyPr>
          <a:lstStyle/>
          <a:p>
            <a:pPr algn="l">
              <a:defRPr sz="1400" b="0">
                <a:solidFill>
                  <a:srgbClr val="BEBEBE"/>
                </a:solidFill>
                <a:latin typeface="Aptos"/>
              </a:defRPr>
            </a:pPr>
            <a:r>
              <a:t>15.98× vs indexed</a:t>
            </a:r>
          </a:p>
        </p:txBody>
      </p:sp>
      <p:sp>
        <p:nvSpPr>
          <p:cNvPr id="19" name="TextBox 18"/>
          <p:cNvSpPr txBox="1"/>
          <p:nvPr/>
        </p:nvSpPr>
        <p:spPr>
          <a:xfrm>
            <a:off x="502920" y="6510528"/>
            <a:ext cx="2377440" cy="164592"/>
          </a:xfrm>
          <a:prstGeom prst="rect">
            <a:avLst/>
          </a:prstGeom>
          <a:noFill/>
        </p:spPr>
        <p:txBody>
          <a:bodyPr wrap="square" anchor="t">
            <a:spAutoFit/>
          </a:bodyPr>
          <a:lstStyle/>
          <a:p>
            <a:pPr algn="l">
              <a:defRPr sz="750" b="1">
                <a:solidFill>
                  <a:srgbClr val="BEBEBE"/>
                </a:solidFill>
                <a:latin typeface="Aptos"/>
              </a:defRPr>
            </a:pPr>
            <a:r>
              <a:t>MY DISHONEST BENCHMARK</a:t>
            </a:r>
          </a:p>
        </p:txBody>
      </p:sp>
      <p:sp>
        <p:nvSpPr>
          <p:cNvPr id="20" name="TextBox 19"/>
          <p:cNvSpPr txBox="1"/>
          <p:nvPr/>
        </p:nvSpPr>
        <p:spPr>
          <a:xfrm>
            <a:off x="11155680" y="6473952"/>
            <a:ext cx="502920" cy="182880"/>
          </a:xfrm>
          <a:prstGeom prst="rect">
            <a:avLst/>
          </a:prstGeom>
          <a:noFill/>
        </p:spPr>
        <p:txBody>
          <a:bodyPr wrap="square" anchor="t">
            <a:spAutoFit/>
          </a:bodyPr>
          <a:lstStyle/>
          <a:p>
            <a:pPr algn="r">
              <a:defRPr sz="800" b="1">
                <a:solidFill>
                  <a:srgbClr val="BEBEBE"/>
                </a:solidFill>
                <a:latin typeface="Aptos"/>
              </a:defRPr>
            </a:pPr>
            <a:r>
              <a:t>37</a:t>
            </a:r>
          </a:p>
        </p:txBody>
      </p:sp>
    </p:spTree>
    <p:extLst>
      <p:ext uri="{BB962C8B-B14F-4D97-AF65-F5344CB8AC3E}">
        <p14:creationId xmlns:p14="http://schemas.microsoft.com/office/powerpoint/2010/main" val="27050457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3" name="TextBox 2"/>
          <p:cNvSpPr txBox="1"/>
          <p:nvPr/>
        </p:nvSpPr>
        <p:spPr>
          <a:xfrm>
            <a:off x="760360" y="631639"/>
            <a:ext cx="6713103" cy="584775"/>
          </a:xfrm>
          <a:prstGeom prst="rect">
            <a:avLst/>
          </a:prstGeom>
          <a:noFill/>
        </p:spPr>
        <p:txBody>
          <a:bodyPr wrap="square" anchor="t">
            <a:spAutoFit/>
          </a:bodyPr>
          <a:lstStyle/>
          <a:p>
            <a:pPr algn="l">
              <a:defRPr sz="1000" b="1">
                <a:solidFill>
                  <a:srgbClr val="17181C"/>
                </a:solidFill>
                <a:latin typeface="Aptos"/>
              </a:defRPr>
            </a:pPr>
            <a:r>
              <a:rPr sz="3200" dirty="0">
                <a:solidFill>
                  <a:srgbClr val="92D050"/>
                </a:solidFill>
              </a:rPr>
              <a:t>THE HONEST CONCLUSION</a:t>
            </a:r>
          </a:p>
        </p:txBody>
      </p:sp>
      <p:sp>
        <p:nvSpPr>
          <p:cNvPr id="4" name="TextBox 3"/>
          <p:cNvSpPr txBox="1"/>
          <p:nvPr/>
        </p:nvSpPr>
        <p:spPr>
          <a:xfrm>
            <a:off x="760360" y="2286000"/>
            <a:ext cx="10670000" cy="1938992"/>
          </a:xfrm>
          <a:prstGeom prst="rect">
            <a:avLst/>
          </a:prstGeom>
          <a:noFill/>
        </p:spPr>
        <p:txBody>
          <a:bodyPr wrap="square" anchor="t">
            <a:spAutoFit/>
          </a:bodyPr>
          <a:lstStyle/>
          <a:p>
            <a:pPr algn="l"/>
            <a:r>
              <a:rPr lang="en-US" sz="6000" b="1" dirty="0">
                <a:solidFill>
                  <a:srgbClr val="FFFFFF"/>
                </a:solidFill>
                <a:latin typeface="Aptos Display"/>
              </a:rPr>
              <a:t>The number is not fake.</a:t>
            </a:r>
          </a:p>
          <a:p>
            <a:pPr algn="l"/>
            <a:r>
              <a:rPr lang="en-US" sz="6000" b="1" dirty="0">
                <a:solidFill>
                  <a:srgbClr val="92D050"/>
                </a:solidFill>
                <a:latin typeface="Aptos Display"/>
              </a:rPr>
              <a:t>The framing is the trick.</a:t>
            </a:r>
          </a:p>
        </p:txBody>
      </p:sp>
      <p:sp>
        <p:nvSpPr>
          <p:cNvPr id="5" name="TextBox 4"/>
          <p:cNvSpPr txBox="1"/>
          <p:nvPr/>
        </p:nvSpPr>
        <p:spPr>
          <a:xfrm>
            <a:off x="760360" y="4434840"/>
            <a:ext cx="10670000" cy="400110"/>
          </a:xfrm>
          <a:prstGeom prst="rect">
            <a:avLst/>
          </a:prstGeom>
          <a:noFill/>
        </p:spPr>
        <p:txBody>
          <a:bodyPr wrap="square" anchor="t">
            <a:spAutoFit/>
          </a:bodyPr>
          <a:lstStyle/>
          <a:p>
            <a:pPr algn="l"/>
            <a:r>
              <a:rPr lang="en-US" sz="2000" b="0" dirty="0">
                <a:solidFill>
                  <a:srgbClr val="A0A3AB"/>
                </a:solidFill>
                <a:latin typeface="Aptos"/>
              </a:rPr>
              <a:t>362,789 OPS. Same PostgreSQL. Different story.</a:t>
            </a:r>
          </a:p>
        </p:txBody>
      </p:sp>
      <p:sp>
        <p:nvSpPr>
          <p:cNvPr id="6" name="TextBox 5"/>
          <p:cNvSpPr txBox="1"/>
          <p:nvPr/>
        </p:nvSpPr>
        <p:spPr>
          <a:xfrm>
            <a:off x="502920" y="6510528"/>
            <a:ext cx="2377440" cy="164592"/>
          </a:xfrm>
          <a:prstGeom prst="rect">
            <a:avLst/>
          </a:prstGeom>
          <a:noFill/>
        </p:spPr>
        <p:txBody>
          <a:bodyPr wrap="square" anchor="t">
            <a:spAutoFit/>
          </a:bodyPr>
          <a:lstStyle/>
          <a:p>
            <a:pPr algn="l">
              <a:defRPr sz="750" b="1">
                <a:solidFill>
                  <a:srgbClr val="AAAAAA"/>
                </a:solidFill>
                <a:latin typeface="Aptos"/>
              </a:defRPr>
            </a:pPr>
            <a:r>
              <a:t>MY DISHONEST BENCHMARK</a:t>
            </a:r>
          </a:p>
        </p:txBody>
      </p:sp>
      <p:sp>
        <p:nvSpPr>
          <p:cNvPr id="7" name="TextBox 6"/>
          <p:cNvSpPr txBox="1"/>
          <p:nvPr/>
        </p:nvSpPr>
        <p:spPr>
          <a:xfrm>
            <a:off x="11155680" y="6473952"/>
            <a:ext cx="502920" cy="182880"/>
          </a:xfrm>
          <a:prstGeom prst="rect">
            <a:avLst/>
          </a:prstGeom>
          <a:noFill/>
        </p:spPr>
        <p:txBody>
          <a:bodyPr wrap="square" anchor="t">
            <a:spAutoFit/>
          </a:bodyPr>
          <a:lstStyle/>
          <a:p>
            <a:pPr algn="r">
              <a:defRPr sz="800" b="1">
                <a:solidFill>
                  <a:srgbClr val="AAAAAA"/>
                </a:solidFill>
                <a:latin typeface="Aptos"/>
              </a:defRPr>
            </a:pPr>
            <a:r>
              <a:t>41</a:t>
            </a:r>
          </a:p>
        </p:txBody>
      </p:sp>
    </p:spTree>
    <p:extLst>
      <p:ext uri="{BB962C8B-B14F-4D97-AF65-F5344CB8AC3E}">
        <p14:creationId xmlns:p14="http://schemas.microsoft.com/office/powerpoint/2010/main" val="12607858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 name="TextBox 1"/>
          <p:cNvSpPr txBox="1"/>
          <p:nvPr/>
        </p:nvSpPr>
        <p:spPr>
          <a:xfrm>
            <a:off x="594360" y="429768"/>
            <a:ext cx="8162778" cy="584775"/>
          </a:xfrm>
          <a:prstGeom prst="rect">
            <a:avLst/>
          </a:prstGeom>
          <a:noFill/>
        </p:spPr>
        <p:txBody>
          <a:bodyPr wrap="square" anchor="t">
            <a:spAutoFit/>
          </a:bodyPr>
          <a:lstStyle/>
          <a:p>
            <a:pPr algn="l">
              <a:defRPr sz="1000" b="1">
                <a:solidFill>
                  <a:srgbClr val="FF655C"/>
                </a:solidFill>
                <a:latin typeface="Aptos"/>
              </a:defRPr>
            </a:pPr>
            <a:r>
              <a:rPr sz="3200" dirty="0">
                <a:solidFill>
                  <a:srgbClr val="F2F2F2"/>
                </a:solidFill>
              </a:rPr>
              <a:t>BENCHMARK-READING CHECKLIST</a:t>
            </a:r>
          </a:p>
        </p:txBody>
      </p:sp>
      <p:sp>
        <p:nvSpPr>
          <p:cNvPr id="3" name="TextBox 2"/>
          <p:cNvSpPr txBox="1"/>
          <p:nvPr/>
        </p:nvSpPr>
        <p:spPr>
          <a:xfrm>
            <a:off x="594360" y="923546"/>
            <a:ext cx="10515600" cy="640080"/>
          </a:xfrm>
          <a:prstGeom prst="rect">
            <a:avLst/>
          </a:prstGeom>
          <a:noFill/>
        </p:spPr>
        <p:txBody>
          <a:bodyPr wrap="square" anchor="t">
            <a:spAutoFit/>
          </a:bodyPr>
          <a:lstStyle/>
          <a:p>
            <a:pPr algn="l">
              <a:defRPr sz="3600" b="1">
                <a:solidFill>
                  <a:srgbClr val="F2F2F2"/>
                </a:solidFill>
                <a:latin typeface="Aptos Display"/>
              </a:defRPr>
            </a:pPr>
            <a:r>
              <a:rPr dirty="0">
                <a:solidFill>
                  <a:srgbClr val="F2F2F2"/>
                </a:solidFill>
              </a:rPr>
              <a:t>are we comparing the same thing?</a:t>
            </a:r>
          </a:p>
        </p:txBody>
      </p:sp>
      <p:sp>
        <p:nvSpPr>
          <p:cNvPr id="30" name="Rule 30"/>
          <p:cNvSpPr/>
          <p:nvPr/>
        </p:nvSpPr>
        <p:spPr>
          <a:xfrm>
            <a:off x="685800" y="1965960"/>
            <a:ext cx="10820400" cy="19050"/>
          </a:xfrm>
          <a:prstGeom prst="rect">
            <a:avLst/>
          </a:prstGeom>
          <a:solidFill>
            <a:srgbClr val="0F1013"/>
          </a:solidFill>
          <a:ln>
            <a:noFill/>
          </a:ln>
        </p:spPr>
        <p:txBody>
          <a:bodyPr/>
          <a:lstStyle/>
          <a:p>
            <a:endParaRPr lang="en-GB">
              <a:solidFill>
                <a:srgbClr val="F2F2F2"/>
              </a:solidFill>
            </a:endParaRPr>
          </a:p>
        </p:txBody>
      </p:sp>
      <p:sp>
        <p:nvSpPr>
          <p:cNvPr id="31" name="Rule 31"/>
          <p:cNvSpPr/>
          <p:nvPr/>
        </p:nvSpPr>
        <p:spPr>
          <a:xfrm>
            <a:off x="685800" y="3291840"/>
            <a:ext cx="10820400" cy="9525"/>
          </a:xfrm>
          <a:prstGeom prst="rect">
            <a:avLst/>
          </a:prstGeom>
          <a:solidFill>
            <a:srgbClr val="2E2F37"/>
          </a:solidFill>
          <a:ln>
            <a:noFill/>
          </a:ln>
        </p:spPr>
        <p:txBody>
          <a:bodyPr/>
          <a:lstStyle/>
          <a:p>
            <a:endParaRPr lang="en-GB">
              <a:solidFill>
                <a:srgbClr val="F2F2F2"/>
              </a:solidFill>
            </a:endParaRPr>
          </a:p>
        </p:txBody>
      </p:sp>
      <p:sp>
        <p:nvSpPr>
          <p:cNvPr id="32" name="Rule 32"/>
          <p:cNvSpPr/>
          <p:nvPr/>
        </p:nvSpPr>
        <p:spPr>
          <a:xfrm>
            <a:off x="685800" y="4617720"/>
            <a:ext cx="10820400" cy="9525"/>
          </a:xfrm>
          <a:prstGeom prst="rect">
            <a:avLst/>
          </a:prstGeom>
          <a:solidFill>
            <a:srgbClr val="2E2F37"/>
          </a:solidFill>
          <a:ln>
            <a:noFill/>
          </a:ln>
        </p:spPr>
        <p:txBody>
          <a:bodyPr/>
          <a:lstStyle/>
          <a:p>
            <a:endParaRPr lang="en-GB">
              <a:solidFill>
                <a:srgbClr val="F2F2F2"/>
              </a:solidFill>
            </a:endParaRPr>
          </a:p>
        </p:txBody>
      </p:sp>
      <p:sp>
        <p:nvSpPr>
          <p:cNvPr id="33" name="Rule 33"/>
          <p:cNvSpPr/>
          <p:nvPr/>
        </p:nvSpPr>
        <p:spPr>
          <a:xfrm>
            <a:off x="685800" y="5943600"/>
            <a:ext cx="10820400" cy="9525"/>
          </a:xfrm>
          <a:prstGeom prst="rect">
            <a:avLst/>
          </a:prstGeom>
          <a:solidFill>
            <a:srgbClr val="2E2F37"/>
          </a:solidFill>
          <a:ln>
            <a:noFill/>
          </a:ln>
        </p:spPr>
        <p:txBody>
          <a:bodyPr/>
          <a:lstStyle/>
          <a:p>
            <a:endParaRPr lang="en-GB">
              <a:solidFill>
                <a:srgbClr val="F2F2F2"/>
              </a:solidFill>
            </a:endParaRPr>
          </a:p>
        </p:txBody>
      </p:sp>
      <p:sp>
        <p:nvSpPr>
          <p:cNvPr id="4" name="TextBox 3"/>
          <p:cNvSpPr txBox="1"/>
          <p:nvPr/>
        </p:nvSpPr>
        <p:spPr>
          <a:xfrm>
            <a:off x="685800" y="1965960"/>
            <a:ext cx="1097280" cy="1325880"/>
          </a:xfrm>
          <a:prstGeom prst="rect">
            <a:avLst/>
          </a:prstGeom>
          <a:noFill/>
        </p:spPr>
        <p:txBody>
          <a:bodyPr wrap="square" lIns="0" rIns="0" anchor="ctr">
            <a:noAutofit/>
          </a:bodyPr>
          <a:lstStyle/>
          <a:p>
            <a:pPr algn="l">
              <a:defRPr sz="4400" b="1">
                <a:solidFill>
                  <a:srgbClr val="00C2D6"/>
                </a:solidFill>
                <a:latin typeface="Aptos Display"/>
              </a:defRPr>
            </a:pPr>
            <a:r>
              <a:t>01</a:t>
            </a:r>
          </a:p>
        </p:txBody>
      </p:sp>
      <p:sp>
        <p:nvSpPr>
          <p:cNvPr id="5" name="TextBox 4"/>
          <p:cNvSpPr txBox="1"/>
          <p:nvPr/>
        </p:nvSpPr>
        <p:spPr>
          <a:xfrm>
            <a:off x="1965960" y="1965960"/>
            <a:ext cx="2286000" cy="1325880"/>
          </a:xfrm>
          <a:prstGeom prst="rect">
            <a:avLst/>
          </a:prstGeom>
          <a:noFill/>
        </p:spPr>
        <p:txBody>
          <a:bodyPr wrap="square" lIns="0" rIns="0" anchor="ctr">
            <a:noAutofit/>
          </a:bodyPr>
          <a:lstStyle/>
          <a:p>
            <a:pPr algn="l">
              <a:defRPr sz="1800" b="1">
                <a:solidFill>
                  <a:srgbClr val="F2F2F2"/>
                </a:solidFill>
                <a:latin typeface="Aptos"/>
              </a:defRPr>
            </a:pPr>
            <a:r>
              <a:t>BASELINE</a:t>
            </a:r>
          </a:p>
        </p:txBody>
      </p:sp>
      <p:sp>
        <p:nvSpPr>
          <p:cNvPr id="6" name="TextBox 5"/>
          <p:cNvSpPr txBox="1"/>
          <p:nvPr/>
        </p:nvSpPr>
        <p:spPr>
          <a:xfrm>
            <a:off x="4480560" y="1965960"/>
            <a:ext cx="7025640" cy="1325880"/>
          </a:xfrm>
          <a:prstGeom prst="rect">
            <a:avLst/>
          </a:prstGeom>
          <a:noFill/>
        </p:spPr>
        <p:txBody>
          <a:bodyPr wrap="square" lIns="0" rIns="0" anchor="ctr">
            <a:noAutofit/>
          </a:bodyPr>
          <a:lstStyle/>
          <a:p>
            <a:pPr algn="l">
              <a:defRPr sz="2000" b="0">
                <a:solidFill>
                  <a:srgbClr val="F2F2F2"/>
                </a:solidFill>
                <a:latin typeface="Aptos"/>
              </a:defRPr>
            </a:pPr>
            <a:r>
              <a:t>Is the comparison system competently configured?</a:t>
            </a:r>
          </a:p>
        </p:txBody>
      </p:sp>
      <p:sp>
        <p:nvSpPr>
          <p:cNvPr id="7" name="TextBox 6"/>
          <p:cNvSpPr txBox="1"/>
          <p:nvPr/>
        </p:nvSpPr>
        <p:spPr>
          <a:xfrm>
            <a:off x="685800" y="3291840"/>
            <a:ext cx="1097280" cy="1325880"/>
          </a:xfrm>
          <a:prstGeom prst="rect">
            <a:avLst/>
          </a:prstGeom>
          <a:noFill/>
        </p:spPr>
        <p:txBody>
          <a:bodyPr wrap="square" lIns="0" rIns="0" anchor="ctr">
            <a:noAutofit/>
          </a:bodyPr>
          <a:lstStyle/>
          <a:p>
            <a:pPr algn="l">
              <a:defRPr sz="4400" b="1">
                <a:solidFill>
                  <a:srgbClr val="00C2D6"/>
                </a:solidFill>
                <a:latin typeface="Aptos Display"/>
              </a:defRPr>
            </a:pPr>
            <a:r>
              <a:t>02</a:t>
            </a:r>
          </a:p>
        </p:txBody>
      </p:sp>
      <p:sp>
        <p:nvSpPr>
          <p:cNvPr id="8" name="TextBox 7"/>
          <p:cNvSpPr txBox="1"/>
          <p:nvPr/>
        </p:nvSpPr>
        <p:spPr>
          <a:xfrm>
            <a:off x="1965960" y="3291840"/>
            <a:ext cx="2286000" cy="1325880"/>
          </a:xfrm>
          <a:prstGeom prst="rect">
            <a:avLst/>
          </a:prstGeom>
          <a:noFill/>
        </p:spPr>
        <p:txBody>
          <a:bodyPr wrap="square" lIns="0" rIns="0" anchor="ctr">
            <a:noAutofit/>
          </a:bodyPr>
          <a:lstStyle/>
          <a:p>
            <a:pPr algn="l">
              <a:defRPr sz="1800" b="1">
                <a:solidFill>
                  <a:srgbClr val="F2F2F2"/>
                </a:solidFill>
                <a:latin typeface="Aptos"/>
              </a:defRPr>
            </a:pPr>
            <a:r>
              <a:t>WORK</a:t>
            </a:r>
          </a:p>
        </p:txBody>
      </p:sp>
      <p:sp>
        <p:nvSpPr>
          <p:cNvPr id="9" name="TextBox 8"/>
          <p:cNvSpPr txBox="1"/>
          <p:nvPr/>
        </p:nvSpPr>
        <p:spPr>
          <a:xfrm>
            <a:off x="4480560" y="3291840"/>
            <a:ext cx="7025640" cy="1325880"/>
          </a:xfrm>
          <a:prstGeom prst="rect">
            <a:avLst/>
          </a:prstGeom>
          <a:noFill/>
        </p:spPr>
        <p:txBody>
          <a:bodyPr wrap="square" lIns="0" rIns="0" anchor="ctr">
            <a:noAutofit/>
          </a:bodyPr>
          <a:lstStyle/>
          <a:p>
            <a:pPr algn="l">
              <a:defRPr sz="2000" b="0">
                <a:solidFill>
                  <a:srgbClr val="F2F2F2"/>
                </a:solidFill>
                <a:latin typeface="Aptos"/>
              </a:defRPr>
            </a:pPr>
            <a:r>
              <a:t>Are both sides doing the same logical work?</a:t>
            </a:r>
          </a:p>
        </p:txBody>
      </p:sp>
      <p:sp>
        <p:nvSpPr>
          <p:cNvPr id="10" name="TextBox 9"/>
          <p:cNvSpPr txBox="1"/>
          <p:nvPr/>
        </p:nvSpPr>
        <p:spPr>
          <a:xfrm>
            <a:off x="685800" y="4617720"/>
            <a:ext cx="1097280" cy="1325880"/>
          </a:xfrm>
          <a:prstGeom prst="rect">
            <a:avLst/>
          </a:prstGeom>
          <a:noFill/>
        </p:spPr>
        <p:txBody>
          <a:bodyPr wrap="square" lIns="0" rIns="0" anchor="ctr">
            <a:noAutofit/>
          </a:bodyPr>
          <a:lstStyle/>
          <a:p>
            <a:pPr algn="l">
              <a:defRPr sz="4400" b="1">
                <a:solidFill>
                  <a:srgbClr val="00C2D6"/>
                </a:solidFill>
                <a:latin typeface="Aptos Display"/>
              </a:defRPr>
            </a:pPr>
            <a:r>
              <a:t>03</a:t>
            </a:r>
          </a:p>
        </p:txBody>
      </p:sp>
      <p:sp>
        <p:nvSpPr>
          <p:cNvPr id="11" name="TextBox 10"/>
          <p:cNvSpPr txBox="1"/>
          <p:nvPr/>
        </p:nvSpPr>
        <p:spPr>
          <a:xfrm>
            <a:off x="1965960" y="4617720"/>
            <a:ext cx="2286000" cy="1325880"/>
          </a:xfrm>
          <a:prstGeom prst="rect">
            <a:avLst/>
          </a:prstGeom>
          <a:noFill/>
        </p:spPr>
        <p:txBody>
          <a:bodyPr wrap="square" lIns="0" rIns="0" anchor="ctr">
            <a:noAutofit/>
          </a:bodyPr>
          <a:lstStyle/>
          <a:p>
            <a:pPr algn="l">
              <a:defRPr sz="1800" b="1">
                <a:solidFill>
                  <a:srgbClr val="F2F2F2"/>
                </a:solidFill>
                <a:latin typeface="Aptos"/>
              </a:defRPr>
            </a:pPr>
            <a:r>
              <a:t>GUARANTEES</a:t>
            </a:r>
          </a:p>
        </p:txBody>
      </p:sp>
      <p:sp>
        <p:nvSpPr>
          <p:cNvPr id="12" name="TextBox 11"/>
          <p:cNvSpPr txBox="1"/>
          <p:nvPr/>
        </p:nvSpPr>
        <p:spPr>
          <a:xfrm>
            <a:off x="4480560" y="4617720"/>
            <a:ext cx="7025640" cy="1325880"/>
          </a:xfrm>
          <a:prstGeom prst="rect">
            <a:avLst/>
          </a:prstGeom>
          <a:noFill/>
        </p:spPr>
        <p:txBody>
          <a:bodyPr wrap="square" lIns="0" rIns="0" anchor="ctr">
            <a:noAutofit/>
          </a:bodyPr>
          <a:lstStyle/>
          <a:p>
            <a:pPr algn="l">
              <a:defRPr sz="2000" b="0">
                <a:solidFill>
                  <a:srgbClr val="F2F2F2"/>
                </a:solidFill>
                <a:latin typeface="Aptos"/>
              </a:defRPr>
            </a:pPr>
            <a:r>
              <a:t>Same durability, consistency and crash semantics?</a:t>
            </a:r>
          </a:p>
        </p:txBody>
      </p:sp>
      <p:sp>
        <p:nvSpPr>
          <p:cNvPr id="13" name="TextBox 12"/>
          <p:cNvSpPr txBox="1"/>
          <p:nvPr/>
        </p:nvSpPr>
        <p:spPr>
          <a:xfrm>
            <a:off x="502920" y="6510528"/>
            <a:ext cx="2377440" cy="164592"/>
          </a:xfrm>
          <a:prstGeom prst="rect">
            <a:avLst/>
          </a:prstGeom>
          <a:noFill/>
        </p:spPr>
        <p:txBody>
          <a:bodyPr wrap="square" anchor="t">
            <a:spAutoFit/>
          </a:bodyPr>
          <a:lstStyle/>
          <a:p>
            <a:pPr algn="l">
              <a:defRPr sz="750" b="1">
                <a:solidFill>
                  <a:srgbClr val="BEBEBE"/>
                </a:solidFill>
                <a:latin typeface="Aptos"/>
              </a:defRPr>
            </a:pPr>
            <a:r>
              <a:t>MY DISHONEST BENCHMARK</a:t>
            </a:r>
          </a:p>
        </p:txBody>
      </p:sp>
      <p:sp>
        <p:nvSpPr>
          <p:cNvPr id="14" name="TextBox 13"/>
          <p:cNvSpPr txBox="1"/>
          <p:nvPr/>
        </p:nvSpPr>
        <p:spPr>
          <a:xfrm>
            <a:off x="11155680" y="6473952"/>
            <a:ext cx="502920" cy="182880"/>
          </a:xfrm>
          <a:prstGeom prst="rect">
            <a:avLst/>
          </a:prstGeom>
          <a:noFill/>
        </p:spPr>
        <p:txBody>
          <a:bodyPr wrap="square" anchor="t">
            <a:spAutoFit/>
          </a:bodyPr>
          <a:lstStyle/>
          <a:p>
            <a:pPr algn="r">
              <a:defRPr sz="800" b="1">
                <a:solidFill>
                  <a:srgbClr val="BEBEBE"/>
                </a:solidFill>
                <a:latin typeface="Aptos"/>
              </a:defRPr>
            </a:pPr>
            <a:r>
              <a:t>39</a:t>
            </a:r>
          </a:p>
        </p:txBody>
      </p:sp>
    </p:spTree>
    <p:extLst>
      <p:ext uri="{BB962C8B-B14F-4D97-AF65-F5344CB8AC3E}">
        <p14:creationId xmlns:p14="http://schemas.microsoft.com/office/powerpoint/2010/main" val="12623365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 name="TextBox 1"/>
          <p:cNvSpPr txBox="1"/>
          <p:nvPr/>
        </p:nvSpPr>
        <p:spPr>
          <a:xfrm>
            <a:off x="594360" y="429768"/>
            <a:ext cx="8162778" cy="584775"/>
          </a:xfrm>
          <a:prstGeom prst="rect">
            <a:avLst/>
          </a:prstGeom>
          <a:noFill/>
        </p:spPr>
        <p:txBody>
          <a:bodyPr wrap="square" anchor="t">
            <a:spAutoFit/>
          </a:bodyPr>
          <a:lstStyle/>
          <a:p>
            <a:pPr algn="l">
              <a:defRPr sz="3200" b="1">
                <a:solidFill>
                  <a:srgbClr val="FF655C"/>
                </a:solidFill>
                <a:latin typeface="Aptos"/>
              </a:defRPr>
            </a:pPr>
            <a:r>
              <a:t>BENCHMARK-READING CHECKLIST</a:t>
            </a:r>
          </a:p>
        </p:txBody>
      </p:sp>
      <p:sp>
        <p:nvSpPr>
          <p:cNvPr id="3" name="TextBox 2"/>
          <p:cNvSpPr txBox="1"/>
          <p:nvPr/>
        </p:nvSpPr>
        <p:spPr>
          <a:xfrm>
            <a:off x="594360" y="923546"/>
            <a:ext cx="10515600" cy="640080"/>
          </a:xfrm>
          <a:prstGeom prst="rect">
            <a:avLst/>
          </a:prstGeom>
          <a:noFill/>
        </p:spPr>
        <p:txBody>
          <a:bodyPr wrap="square" anchor="t">
            <a:spAutoFit/>
          </a:bodyPr>
          <a:lstStyle/>
          <a:p>
            <a:pPr algn="l">
              <a:defRPr sz="3600" b="1">
                <a:solidFill>
                  <a:srgbClr val="F2F2F2"/>
                </a:solidFill>
                <a:latin typeface="Aptos Display"/>
              </a:defRPr>
            </a:pPr>
            <a:r>
              <a:t>Then: interrogate the metric and omissions</a:t>
            </a:r>
          </a:p>
        </p:txBody>
      </p:sp>
      <p:sp>
        <p:nvSpPr>
          <p:cNvPr id="30" name="Rule 30"/>
          <p:cNvSpPr/>
          <p:nvPr/>
        </p:nvSpPr>
        <p:spPr>
          <a:xfrm>
            <a:off x="685800" y="1965960"/>
            <a:ext cx="10820400" cy="19050"/>
          </a:xfrm>
          <a:prstGeom prst="rect">
            <a:avLst/>
          </a:prstGeom>
          <a:solidFill>
            <a:srgbClr val="0F1013"/>
          </a:solidFill>
          <a:ln>
            <a:noFill/>
          </a:ln>
        </p:spPr>
        <p:txBody>
          <a:bodyPr/>
          <a:lstStyle/>
          <a:p>
            <a:endParaRPr lang="en-GB">
              <a:solidFill>
                <a:srgbClr val="F2F2F2"/>
              </a:solidFill>
            </a:endParaRPr>
          </a:p>
        </p:txBody>
      </p:sp>
      <p:sp>
        <p:nvSpPr>
          <p:cNvPr id="31" name="Rule 31"/>
          <p:cNvSpPr/>
          <p:nvPr/>
        </p:nvSpPr>
        <p:spPr>
          <a:xfrm>
            <a:off x="685800" y="3291840"/>
            <a:ext cx="10820400" cy="9525"/>
          </a:xfrm>
          <a:prstGeom prst="rect">
            <a:avLst/>
          </a:prstGeom>
          <a:solidFill>
            <a:srgbClr val="2E2F37"/>
          </a:solidFill>
          <a:ln>
            <a:noFill/>
          </a:ln>
        </p:spPr>
        <p:txBody>
          <a:bodyPr/>
          <a:lstStyle/>
          <a:p>
            <a:endParaRPr lang="en-GB">
              <a:solidFill>
                <a:srgbClr val="F2F2F2"/>
              </a:solidFill>
            </a:endParaRPr>
          </a:p>
        </p:txBody>
      </p:sp>
      <p:sp>
        <p:nvSpPr>
          <p:cNvPr id="32" name="Rule 32"/>
          <p:cNvSpPr/>
          <p:nvPr/>
        </p:nvSpPr>
        <p:spPr>
          <a:xfrm>
            <a:off x="685800" y="4617720"/>
            <a:ext cx="10820400" cy="9525"/>
          </a:xfrm>
          <a:prstGeom prst="rect">
            <a:avLst/>
          </a:prstGeom>
          <a:solidFill>
            <a:srgbClr val="2E2F37"/>
          </a:solidFill>
          <a:ln>
            <a:noFill/>
          </a:ln>
        </p:spPr>
        <p:txBody>
          <a:bodyPr/>
          <a:lstStyle/>
          <a:p>
            <a:endParaRPr lang="en-GB">
              <a:solidFill>
                <a:srgbClr val="F2F2F2"/>
              </a:solidFill>
            </a:endParaRPr>
          </a:p>
        </p:txBody>
      </p:sp>
      <p:sp>
        <p:nvSpPr>
          <p:cNvPr id="33" name="Rule 33"/>
          <p:cNvSpPr/>
          <p:nvPr/>
        </p:nvSpPr>
        <p:spPr>
          <a:xfrm>
            <a:off x="685800" y="5943600"/>
            <a:ext cx="10820400" cy="9525"/>
          </a:xfrm>
          <a:prstGeom prst="rect">
            <a:avLst/>
          </a:prstGeom>
          <a:solidFill>
            <a:srgbClr val="2E2F37"/>
          </a:solidFill>
          <a:ln>
            <a:noFill/>
          </a:ln>
        </p:spPr>
        <p:txBody>
          <a:bodyPr/>
          <a:lstStyle/>
          <a:p>
            <a:endParaRPr lang="en-GB">
              <a:solidFill>
                <a:srgbClr val="F2F2F2"/>
              </a:solidFill>
            </a:endParaRPr>
          </a:p>
        </p:txBody>
      </p:sp>
      <p:sp>
        <p:nvSpPr>
          <p:cNvPr id="4" name="TextBox 3"/>
          <p:cNvSpPr txBox="1"/>
          <p:nvPr/>
        </p:nvSpPr>
        <p:spPr>
          <a:xfrm>
            <a:off x="685800" y="1965960"/>
            <a:ext cx="1097280" cy="1325880"/>
          </a:xfrm>
          <a:prstGeom prst="rect">
            <a:avLst/>
          </a:prstGeom>
          <a:noFill/>
        </p:spPr>
        <p:txBody>
          <a:bodyPr wrap="square" lIns="0" rIns="0" anchor="ctr">
            <a:noAutofit/>
          </a:bodyPr>
          <a:lstStyle/>
          <a:p>
            <a:pPr algn="l">
              <a:defRPr sz="4400" b="1">
                <a:solidFill>
                  <a:srgbClr val="FF655C"/>
                </a:solidFill>
                <a:latin typeface="Aptos Display"/>
              </a:defRPr>
            </a:pPr>
            <a:r>
              <a:t>04</a:t>
            </a:r>
          </a:p>
        </p:txBody>
      </p:sp>
      <p:sp>
        <p:nvSpPr>
          <p:cNvPr id="5" name="TextBox 4"/>
          <p:cNvSpPr txBox="1"/>
          <p:nvPr/>
        </p:nvSpPr>
        <p:spPr>
          <a:xfrm>
            <a:off x="1965960" y="1965960"/>
            <a:ext cx="2286000" cy="1325880"/>
          </a:xfrm>
          <a:prstGeom prst="rect">
            <a:avLst/>
          </a:prstGeom>
          <a:noFill/>
        </p:spPr>
        <p:txBody>
          <a:bodyPr wrap="square" lIns="0" rIns="0" anchor="ctr">
            <a:noAutofit/>
          </a:bodyPr>
          <a:lstStyle/>
          <a:p>
            <a:pPr algn="l">
              <a:defRPr sz="1800" b="1">
                <a:solidFill>
                  <a:srgbClr val="F2F2F2"/>
                </a:solidFill>
                <a:latin typeface="Aptos"/>
              </a:defRPr>
            </a:pPr>
            <a:r>
              <a:t>METRIC</a:t>
            </a:r>
          </a:p>
        </p:txBody>
      </p:sp>
      <p:sp>
        <p:nvSpPr>
          <p:cNvPr id="6" name="TextBox 5"/>
          <p:cNvSpPr txBox="1"/>
          <p:nvPr/>
        </p:nvSpPr>
        <p:spPr>
          <a:xfrm>
            <a:off x="4480560" y="1965960"/>
            <a:ext cx="7025640" cy="1325880"/>
          </a:xfrm>
          <a:prstGeom prst="rect">
            <a:avLst/>
          </a:prstGeom>
          <a:noFill/>
        </p:spPr>
        <p:txBody>
          <a:bodyPr wrap="square" lIns="0" rIns="0" anchor="ctr">
            <a:noAutofit/>
          </a:bodyPr>
          <a:lstStyle/>
          <a:p>
            <a:pPr algn="l">
              <a:defRPr sz="2000" b="0">
                <a:solidFill>
                  <a:srgbClr val="F2F2F2"/>
                </a:solidFill>
                <a:latin typeface="Aptos"/>
              </a:defRPr>
            </a:pPr>
            <a:r>
              <a:t>TPS, queries, rows, requests… or “operations”?</a:t>
            </a:r>
          </a:p>
        </p:txBody>
      </p:sp>
      <p:sp>
        <p:nvSpPr>
          <p:cNvPr id="7" name="TextBox 6"/>
          <p:cNvSpPr txBox="1"/>
          <p:nvPr/>
        </p:nvSpPr>
        <p:spPr>
          <a:xfrm>
            <a:off x="685800" y="3291840"/>
            <a:ext cx="1097280" cy="1325880"/>
          </a:xfrm>
          <a:prstGeom prst="rect">
            <a:avLst/>
          </a:prstGeom>
          <a:noFill/>
        </p:spPr>
        <p:txBody>
          <a:bodyPr wrap="square" lIns="0" rIns="0" anchor="ctr">
            <a:noAutofit/>
          </a:bodyPr>
          <a:lstStyle/>
          <a:p>
            <a:pPr algn="l">
              <a:defRPr sz="4400" b="1">
                <a:solidFill>
                  <a:srgbClr val="FF655C"/>
                </a:solidFill>
                <a:latin typeface="Aptos Display"/>
              </a:defRPr>
            </a:pPr>
            <a:r>
              <a:t>05</a:t>
            </a:r>
          </a:p>
        </p:txBody>
      </p:sp>
      <p:sp>
        <p:nvSpPr>
          <p:cNvPr id="8" name="TextBox 7"/>
          <p:cNvSpPr txBox="1"/>
          <p:nvPr/>
        </p:nvSpPr>
        <p:spPr>
          <a:xfrm>
            <a:off x="1965960" y="3291840"/>
            <a:ext cx="2286000" cy="1325880"/>
          </a:xfrm>
          <a:prstGeom prst="rect">
            <a:avLst/>
          </a:prstGeom>
          <a:noFill/>
        </p:spPr>
        <p:txBody>
          <a:bodyPr wrap="square" lIns="0" rIns="0" anchor="ctr">
            <a:noAutofit/>
          </a:bodyPr>
          <a:lstStyle/>
          <a:p>
            <a:pPr algn="l">
              <a:defRPr sz="1800" b="1">
                <a:solidFill>
                  <a:srgbClr val="F2F2F2"/>
                </a:solidFill>
                <a:latin typeface="Aptos"/>
              </a:defRPr>
            </a:pPr>
            <a:r>
              <a:t>OMISSIONS</a:t>
            </a:r>
          </a:p>
        </p:txBody>
      </p:sp>
      <p:sp>
        <p:nvSpPr>
          <p:cNvPr id="9" name="TextBox 8"/>
          <p:cNvSpPr txBox="1"/>
          <p:nvPr/>
        </p:nvSpPr>
        <p:spPr>
          <a:xfrm>
            <a:off x="4480560" y="3291840"/>
            <a:ext cx="7025640" cy="1325880"/>
          </a:xfrm>
          <a:prstGeom prst="rect">
            <a:avLst/>
          </a:prstGeom>
          <a:noFill/>
        </p:spPr>
        <p:txBody>
          <a:bodyPr wrap="square" lIns="0" rIns="0" anchor="ctr">
            <a:noAutofit/>
          </a:bodyPr>
          <a:lstStyle/>
          <a:p>
            <a:pPr algn="l">
              <a:defRPr sz="2000" b="0">
                <a:solidFill>
                  <a:srgbClr val="F2F2F2"/>
                </a:solidFill>
                <a:latin typeface="Aptos"/>
              </a:defRPr>
            </a:pPr>
            <a:r>
              <a:t>Cost, p99 latency, write amplification, operational complexity?</a:t>
            </a:r>
          </a:p>
        </p:txBody>
      </p:sp>
      <p:sp>
        <p:nvSpPr>
          <p:cNvPr id="10" name="TextBox 9"/>
          <p:cNvSpPr txBox="1"/>
          <p:nvPr/>
        </p:nvSpPr>
        <p:spPr>
          <a:xfrm>
            <a:off x="685800" y="4617720"/>
            <a:ext cx="1097280" cy="1325880"/>
          </a:xfrm>
          <a:prstGeom prst="rect">
            <a:avLst/>
          </a:prstGeom>
          <a:noFill/>
        </p:spPr>
        <p:txBody>
          <a:bodyPr wrap="square" lIns="0" rIns="0" anchor="ctr">
            <a:noAutofit/>
          </a:bodyPr>
          <a:lstStyle/>
          <a:p>
            <a:pPr algn="l">
              <a:defRPr sz="4400" b="1">
                <a:solidFill>
                  <a:srgbClr val="FF655C"/>
                </a:solidFill>
                <a:latin typeface="Aptos Display"/>
              </a:defRPr>
            </a:pPr>
            <a:r>
              <a:t>06</a:t>
            </a:r>
          </a:p>
        </p:txBody>
      </p:sp>
      <p:sp>
        <p:nvSpPr>
          <p:cNvPr id="11" name="TextBox 10"/>
          <p:cNvSpPr txBox="1"/>
          <p:nvPr/>
        </p:nvSpPr>
        <p:spPr>
          <a:xfrm>
            <a:off x="1965960" y="4617720"/>
            <a:ext cx="2286000" cy="1325880"/>
          </a:xfrm>
          <a:prstGeom prst="rect">
            <a:avLst/>
          </a:prstGeom>
          <a:noFill/>
        </p:spPr>
        <p:txBody>
          <a:bodyPr wrap="square" lIns="0" rIns="0" anchor="ctr">
            <a:noAutofit/>
          </a:bodyPr>
          <a:lstStyle/>
          <a:p>
            <a:pPr algn="l">
              <a:defRPr sz="1800" b="1">
                <a:solidFill>
                  <a:srgbClr val="F2F2F2"/>
                </a:solidFill>
                <a:latin typeface="Aptos"/>
              </a:defRPr>
            </a:pPr>
            <a:r>
              <a:t>REPRODUCIBLE</a:t>
            </a:r>
          </a:p>
        </p:txBody>
      </p:sp>
      <p:sp>
        <p:nvSpPr>
          <p:cNvPr id="12" name="TextBox 11"/>
          <p:cNvSpPr txBox="1"/>
          <p:nvPr/>
        </p:nvSpPr>
        <p:spPr>
          <a:xfrm>
            <a:off x="4480560" y="4617720"/>
            <a:ext cx="7025640" cy="1325880"/>
          </a:xfrm>
          <a:prstGeom prst="rect">
            <a:avLst/>
          </a:prstGeom>
          <a:noFill/>
        </p:spPr>
        <p:txBody>
          <a:bodyPr wrap="square" lIns="0" rIns="0" anchor="ctr">
            <a:noAutofit/>
          </a:bodyPr>
          <a:lstStyle/>
          <a:p>
            <a:pPr algn="l">
              <a:defRPr sz="2000" b="0">
                <a:solidFill>
                  <a:srgbClr val="F2F2F2"/>
                </a:solidFill>
                <a:latin typeface="Aptos"/>
              </a:defRPr>
            </a:pPr>
            <a:r>
              <a:t>Can I see the code, config and workload?</a:t>
            </a:r>
          </a:p>
        </p:txBody>
      </p:sp>
      <p:sp>
        <p:nvSpPr>
          <p:cNvPr id="13" name="TextBox 12"/>
          <p:cNvSpPr txBox="1"/>
          <p:nvPr/>
        </p:nvSpPr>
        <p:spPr>
          <a:xfrm>
            <a:off x="502920" y="6510528"/>
            <a:ext cx="2377440" cy="164592"/>
          </a:xfrm>
          <a:prstGeom prst="rect">
            <a:avLst/>
          </a:prstGeom>
          <a:noFill/>
        </p:spPr>
        <p:txBody>
          <a:bodyPr wrap="square" anchor="t">
            <a:spAutoFit/>
          </a:bodyPr>
          <a:lstStyle/>
          <a:p>
            <a:pPr algn="l">
              <a:defRPr sz="750" b="1">
                <a:solidFill>
                  <a:srgbClr val="BEBEBE"/>
                </a:solidFill>
                <a:latin typeface="Aptos"/>
              </a:defRPr>
            </a:pPr>
            <a:r>
              <a:t>MY DISHONEST BENCHMARK</a:t>
            </a:r>
          </a:p>
        </p:txBody>
      </p:sp>
      <p:sp>
        <p:nvSpPr>
          <p:cNvPr id="14" name="TextBox 13"/>
          <p:cNvSpPr txBox="1"/>
          <p:nvPr/>
        </p:nvSpPr>
        <p:spPr>
          <a:xfrm>
            <a:off x="11155680" y="6473952"/>
            <a:ext cx="502920" cy="182880"/>
          </a:xfrm>
          <a:prstGeom prst="rect">
            <a:avLst/>
          </a:prstGeom>
          <a:noFill/>
        </p:spPr>
        <p:txBody>
          <a:bodyPr wrap="square" anchor="t">
            <a:spAutoFit/>
          </a:bodyPr>
          <a:lstStyle/>
          <a:p>
            <a:pPr algn="r">
              <a:defRPr sz="800" b="1">
                <a:solidFill>
                  <a:srgbClr val="BEBEBE"/>
                </a:solidFill>
                <a:latin typeface="Aptos"/>
              </a:defRPr>
            </a:pPr>
            <a:r>
              <a:t>40</a:t>
            </a:r>
          </a:p>
        </p:txBody>
      </p:sp>
    </p:spTree>
    <p:extLst>
      <p:ext uri="{BB962C8B-B14F-4D97-AF65-F5344CB8AC3E}">
        <p14:creationId xmlns:p14="http://schemas.microsoft.com/office/powerpoint/2010/main" val="35596074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3" name="TextBox 2"/>
          <p:cNvSpPr txBox="1"/>
          <p:nvPr/>
        </p:nvSpPr>
        <p:spPr>
          <a:xfrm>
            <a:off x="594360" y="429768"/>
            <a:ext cx="10515600" cy="640080"/>
          </a:xfrm>
          <a:prstGeom prst="rect">
            <a:avLst/>
          </a:prstGeom>
          <a:noFill/>
        </p:spPr>
        <p:txBody>
          <a:bodyPr wrap="square" anchor="t">
            <a:spAutoFit/>
          </a:bodyPr>
          <a:lstStyle/>
          <a:p>
            <a:pPr algn="l">
              <a:defRPr sz="3600" b="1">
                <a:solidFill>
                  <a:srgbClr val="F2F2F2"/>
                </a:solidFill>
                <a:latin typeface="Aptos Display"/>
              </a:defRPr>
            </a:pPr>
            <a:r>
              <a:t>PostgreSQL still gets one compliment</a:t>
            </a:r>
          </a:p>
        </p:txBody>
      </p:sp>
      <p:sp>
        <p:nvSpPr>
          <p:cNvPr id="4" name="TextBox 3"/>
          <p:cNvSpPr txBox="1"/>
          <p:nvPr/>
        </p:nvSpPr>
        <p:spPr>
          <a:xfrm>
            <a:off x="594360" y="1143000"/>
            <a:ext cx="10515600" cy="400110"/>
          </a:xfrm>
          <a:prstGeom prst="rect">
            <a:avLst/>
          </a:prstGeom>
          <a:noFill/>
        </p:spPr>
        <p:txBody>
          <a:bodyPr wrap="square" anchor="t">
            <a:spAutoFit/>
          </a:bodyPr>
          <a:lstStyle/>
          <a:p>
            <a:pPr algn="l">
              <a:defRPr sz="2000" b="0">
                <a:solidFill>
                  <a:srgbClr val="BEBEBE"/>
                </a:solidFill>
                <a:latin typeface="Aptos"/>
              </a:defRPr>
            </a:pPr>
            <a:r>
              <a:rPr dirty="0">
                <a:solidFill>
                  <a:srgbClr val="DC7373"/>
                </a:solidFill>
              </a:rPr>
              <a:t>Even a dishonest benchmark ha</a:t>
            </a:r>
            <a:r>
              <a:rPr lang="en-US" dirty="0">
                <a:solidFill>
                  <a:srgbClr val="DC7373"/>
                </a:solidFill>
              </a:rPr>
              <a:t>d</a:t>
            </a:r>
            <a:r>
              <a:rPr dirty="0">
                <a:solidFill>
                  <a:srgbClr val="DC7373"/>
                </a:solidFill>
              </a:rPr>
              <a:t> to use real PostgreSQL features to cheat convincingly.</a:t>
            </a:r>
          </a:p>
        </p:txBody>
      </p:sp>
      <p:sp>
        <p:nvSpPr>
          <p:cNvPr id="5" name="Rounded Rectangle 4"/>
          <p:cNvSpPr/>
          <p:nvPr/>
        </p:nvSpPr>
        <p:spPr>
          <a:xfrm>
            <a:off x="685800" y="2057400"/>
            <a:ext cx="3393440" cy="1143000"/>
          </a:xfrm>
          <a:prstGeom prst="rect">
            <a:avLst/>
          </a:prstGeom>
          <a:solidFill>
            <a:srgbClr val="FF655C"/>
          </a:solidFill>
          <a:ln>
            <a:noFill/>
          </a:ln>
        </p:spPr>
        <p:txBody>
          <a:bodyPr rtlCol="0" anchor="ctr"/>
          <a:lstStyle/>
          <a:p>
            <a:pPr algn="ctr"/>
            <a:endParaRPr>
              <a:solidFill>
                <a:srgbClr val="17181C"/>
              </a:solidFill>
            </a:endParaRPr>
          </a:p>
        </p:txBody>
      </p:sp>
      <p:sp>
        <p:nvSpPr>
          <p:cNvPr id="6" name="TextBox 5"/>
          <p:cNvSpPr txBox="1"/>
          <p:nvPr/>
        </p:nvSpPr>
        <p:spPr>
          <a:xfrm>
            <a:off x="868680" y="2249424"/>
            <a:ext cx="3027680" cy="768096"/>
          </a:xfrm>
          <a:prstGeom prst="rect">
            <a:avLst/>
          </a:prstGeom>
          <a:noFill/>
        </p:spPr>
        <p:txBody>
          <a:bodyPr wrap="square" lIns="0" tIns="0" rIns="0" anchor="t">
            <a:noAutofit/>
          </a:bodyPr>
          <a:lstStyle/>
          <a:p>
            <a:pPr algn="l">
              <a:defRPr sz="1800" b="1">
                <a:solidFill>
                  <a:srgbClr val="17181C"/>
                </a:solidFill>
                <a:latin typeface="Aptos"/>
              </a:defRPr>
            </a:pPr>
            <a:r>
              <a:t>INDEXES</a:t>
            </a:r>
          </a:p>
        </p:txBody>
      </p:sp>
      <p:sp>
        <p:nvSpPr>
          <p:cNvPr id="7" name="Rounded Rectangle 6"/>
          <p:cNvSpPr/>
          <p:nvPr/>
        </p:nvSpPr>
        <p:spPr>
          <a:xfrm>
            <a:off x="4399280" y="2057400"/>
            <a:ext cx="3393440" cy="1143000"/>
          </a:xfrm>
          <a:prstGeom prst="rect">
            <a:avLst/>
          </a:prstGeom>
          <a:solidFill>
            <a:srgbClr val="F7C548"/>
          </a:solidFill>
          <a:ln>
            <a:noFill/>
          </a:ln>
        </p:spPr>
        <p:txBody>
          <a:bodyPr rtlCol="0" anchor="ctr"/>
          <a:lstStyle/>
          <a:p>
            <a:pPr algn="ctr"/>
            <a:endParaRPr>
              <a:solidFill>
                <a:srgbClr val="17181C"/>
              </a:solidFill>
            </a:endParaRPr>
          </a:p>
        </p:txBody>
      </p:sp>
      <p:sp>
        <p:nvSpPr>
          <p:cNvPr id="8" name="TextBox 7"/>
          <p:cNvSpPr txBox="1"/>
          <p:nvPr/>
        </p:nvSpPr>
        <p:spPr>
          <a:xfrm>
            <a:off x="4582160" y="2249424"/>
            <a:ext cx="3027680" cy="768096"/>
          </a:xfrm>
          <a:prstGeom prst="rect">
            <a:avLst/>
          </a:prstGeom>
          <a:noFill/>
        </p:spPr>
        <p:txBody>
          <a:bodyPr wrap="square" lIns="0" tIns="0" rIns="0" anchor="t">
            <a:noAutofit/>
          </a:bodyPr>
          <a:lstStyle/>
          <a:p>
            <a:pPr algn="l">
              <a:defRPr sz="1800" b="1">
                <a:solidFill>
                  <a:srgbClr val="17181C"/>
                </a:solidFill>
                <a:latin typeface="Aptos"/>
              </a:defRPr>
            </a:pPr>
            <a:r>
              <a:rPr lang="en-US" dirty="0">
                <a:solidFill>
                  <a:srgbClr val="17181C"/>
                </a:solidFill>
              </a:rPr>
              <a:t>BATCHING</a:t>
            </a:r>
            <a:endParaRPr dirty="0">
              <a:solidFill>
                <a:srgbClr val="17181C"/>
              </a:solidFill>
            </a:endParaRPr>
          </a:p>
        </p:txBody>
      </p:sp>
      <p:sp>
        <p:nvSpPr>
          <p:cNvPr id="9" name="Rounded Rectangle 8"/>
          <p:cNvSpPr/>
          <p:nvPr/>
        </p:nvSpPr>
        <p:spPr>
          <a:xfrm>
            <a:off x="8112760" y="2057400"/>
            <a:ext cx="3393440" cy="1143000"/>
          </a:xfrm>
          <a:prstGeom prst="rect">
            <a:avLst/>
          </a:prstGeom>
          <a:solidFill>
            <a:srgbClr val="00C2D6"/>
          </a:solidFill>
          <a:ln>
            <a:noFill/>
          </a:ln>
        </p:spPr>
        <p:txBody>
          <a:bodyPr rtlCol="0" anchor="ctr"/>
          <a:lstStyle/>
          <a:p>
            <a:pPr algn="ctr"/>
            <a:endParaRPr>
              <a:solidFill>
                <a:srgbClr val="17181C"/>
              </a:solidFill>
            </a:endParaRPr>
          </a:p>
        </p:txBody>
      </p:sp>
      <p:sp>
        <p:nvSpPr>
          <p:cNvPr id="10" name="TextBox 9"/>
          <p:cNvSpPr txBox="1"/>
          <p:nvPr/>
        </p:nvSpPr>
        <p:spPr>
          <a:xfrm>
            <a:off x="8295640" y="2249424"/>
            <a:ext cx="3027680" cy="768096"/>
          </a:xfrm>
          <a:prstGeom prst="rect">
            <a:avLst/>
          </a:prstGeom>
          <a:noFill/>
        </p:spPr>
        <p:txBody>
          <a:bodyPr wrap="square" lIns="0" tIns="0" rIns="0" anchor="t">
            <a:noAutofit/>
          </a:bodyPr>
          <a:lstStyle/>
          <a:p>
            <a:pPr algn="l">
              <a:defRPr sz="1800" b="1">
                <a:solidFill>
                  <a:srgbClr val="17181C"/>
                </a:solidFill>
                <a:latin typeface="Aptos"/>
              </a:defRPr>
            </a:pPr>
            <a:r>
              <a:t>UNLOGGED TABLES</a:t>
            </a:r>
          </a:p>
        </p:txBody>
      </p:sp>
      <p:sp>
        <p:nvSpPr>
          <p:cNvPr id="11" name="Rounded Rectangle 10"/>
          <p:cNvSpPr/>
          <p:nvPr/>
        </p:nvSpPr>
        <p:spPr>
          <a:xfrm>
            <a:off x="685800" y="3520440"/>
            <a:ext cx="3393440" cy="1143000"/>
          </a:xfrm>
          <a:prstGeom prst="rect">
            <a:avLst/>
          </a:prstGeom>
          <a:solidFill>
            <a:srgbClr val="AEE057"/>
          </a:solidFill>
          <a:ln>
            <a:noFill/>
          </a:ln>
        </p:spPr>
        <p:txBody>
          <a:bodyPr rtlCol="0" anchor="ctr"/>
          <a:lstStyle/>
          <a:p>
            <a:pPr algn="ctr"/>
            <a:endParaRPr>
              <a:solidFill>
                <a:srgbClr val="17181C"/>
              </a:solidFill>
            </a:endParaRPr>
          </a:p>
        </p:txBody>
      </p:sp>
      <p:sp>
        <p:nvSpPr>
          <p:cNvPr id="12" name="TextBox 11"/>
          <p:cNvSpPr txBox="1"/>
          <p:nvPr/>
        </p:nvSpPr>
        <p:spPr>
          <a:xfrm>
            <a:off x="868680" y="3712464"/>
            <a:ext cx="3027680" cy="768096"/>
          </a:xfrm>
          <a:prstGeom prst="rect">
            <a:avLst/>
          </a:prstGeom>
          <a:noFill/>
        </p:spPr>
        <p:txBody>
          <a:bodyPr wrap="square" lIns="0" tIns="0" rIns="0" anchor="t">
            <a:noAutofit/>
          </a:bodyPr>
          <a:lstStyle/>
          <a:p>
            <a:pPr algn="l">
              <a:defRPr sz="1800" b="1">
                <a:solidFill>
                  <a:srgbClr val="17181C"/>
                </a:solidFill>
                <a:latin typeface="Aptos"/>
              </a:defRPr>
            </a:pPr>
            <a:r>
              <a:t>STORED PROCEDURES</a:t>
            </a:r>
          </a:p>
        </p:txBody>
      </p:sp>
      <p:sp>
        <p:nvSpPr>
          <p:cNvPr id="13" name="Rounded Rectangle 12"/>
          <p:cNvSpPr/>
          <p:nvPr/>
        </p:nvSpPr>
        <p:spPr>
          <a:xfrm>
            <a:off x="4399280" y="3520440"/>
            <a:ext cx="3393440" cy="1143000"/>
          </a:xfrm>
          <a:prstGeom prst="rect">
            <a:avLst/>
          </a:prstGeom>
          <a:solidFill>
            <a:srgbClr val="00C2D6"/>
          </a:solidFill>
          <a:ln>
            <a:noFill/>
          </a:ln>
        </p:spPr>
        <p:txBody>
          <a:bodyPr rtlCol="0" anchor="ctr"/>
          <a:lstStyle/>
          <a:p>
            <a:pPr algn="ctr"/>
            <a:endParaRPr>
              <a:solidFill>
                <a:srgbClr val="17181C"/>
              </a:solidFill>
            </a:endParaRPr>
          </a:p>
        </p:txBody>
      </p:sp>
      <p:sp>
        <p:nvSpPr>
          <p:cNvPr id="14" name="TextBox 13"/>
          <p:cNvSpPr txBox="1"/>
          <p:nvPr/>
        </p:nvSpPr>
        <p:spPr>
          <a:xfrm>
            <a:off x="4582160" y="3712464"/>
            <a:ext cx="3027680" cy="768096"/>
          </a:xfrm>
          <a:prstGeom prst="rect">
            <a:avLst/>
          </a:prstGeom>
          <a:noFill/>
        </p:spPr>
        <p:txBody>
          <a:bodyPr wrap="square" lIns="0" tIns="0" rIns="0" anchor="t">
            <a:noAutofit/>
          </a:bodyPr>
          <a:lstStyle/>
          <a:p>
            <a:pPr algn="l">
              <a:defRPr sz="1800" b="1">
                <a:solidFill>
                  <a:srgbClr val="17181C"/>
                </a:solidFill>
                <a:latin typeface="Aptos"/>
              </a:defRPr>
            </a:pPr>
            <a:r>
              <a:t>SQL FUNCTIONS</a:t>
            </a:r>
          </a:p>
        </p:txBody>
      </p:sp>
      <p:sp>
        <p:nvSpPr>
          <p:cNvPr id="15" name="Rounded Rectangle 14"/>
          <p:cNvSpPr/>
          <p:nvPr/>
        </p:nvSpPr>
        <p:spPr>
          <a:xfrm>
            <a:off x="8112760" y="3520440"/>
            <a:ext cx="3393440" cy="1143000"/>
          </a:xfrm>
          <a:prstGeom prst="rect">
            <a:avLst/>
          </a:prstGeom>
          <a:solidFill>
            <a:srgbClr val="FF655C"/>
          </a:solidFill>
          <a:ln>
            <a:noFill/>
          </a:ln>
        </p:spPr>
        <p:txBody>
          <a:bodyPr rtlCol="0" anchor="ctr"/>
          <a:lstStyle/>
          <a:p>
            <a:pPr algn="ctr"/>
            <a:endParaRPr>
              <a:solidFill>
                <a:srgbClr val="17181C"/>
              </a:solidFill>
            </a:endParaRPr>
          </a:p>
        </p:txBody>
      </p:sp>
      <p:sp>
        <p:nvSpPr>
          <p:cNvPr id="16" name="TextBox 15"/>
          <p:cNvSpPr txBox="1"/>
          <p:nvPr/>
        </p:nvSpPr>
        <p:spPr>
          <a:xfrm>
            <a:off x="8295640" y="3712464"/>
            <a:ext cx="3027680" cy="768096"/>
          </a:xfrm>
          <a:prstGeom prst="rect">
            <a:avLst/>
          </a:prstGeom>
          <a:noFill/>
        </p:spPr>
        <p:txBody>
          <a:bodyPr wrap="square" lIns="0" tIns="0" rIns="0" anchor="t">
            <a:noAutofit/>
          </a:bodyPr>
          <a:lstStyle/>
          <a:p>
            <a:pPr algn="l">
              <a:defRPr sz="1800" b="1">
                <a:solidFill>
                  <a:srgbClr val="17181C"/>
                </a:solidFill>
                <a:latin typeface="Aptos"/>
              </a:defRPr>
            </a:pPr>
            <a:r>
              <a:t>PREPARED STATEMENTS</a:t>
            </a:r>
          </a:p>
        </p:txBody>
      </p:sp>
      <p:sp>
        <p:nvSpPr>
          <p:cNvPr id="17" name="TextBox 16"/>
          <p:cNvSpPr txBox="1"/>
          <p:nvPr/>
        </p:nvSpPr>
        <p:spPr>
          <a:xfrm>
            <a:off x="594360" y="5074920"/>
            <a:ext cx="10515600" cy="640080"/>
          </a:xfrm>
          <a:prstGeom prst="rect">
            <a:avLst/>
          </a:prstGeom>
          <a:noFill/>
        </p:spPr>
        <p:txBody>
          <a:bodyPr wrap="square" anchor="t">
            <a:spAutoFit/>
          </a:bodyPr>
          <a:lstStyle/>
          <a:p>
            <a:pPr algn="l">
              <a:defRPr sz="2800" b="1">
                <a:solidFill>
                  <a:srgbClr val="F2F2F2"/>
                </a:solidFill>
                <a:latin typeface="Aptos"/>
              </a:defRPr>
            </a:pPr>
            <a:r>
              <a:rPr dirty="0">
                <a:solidFill>
                  <a:srgbClr val="F2F2F2"/>
                </a:solidFill>
              </a:rPr>
              <a:t>Mature. Boring. Production-grade machinery.</a:t>
            </a:r>
          </a:p>
        </p:txBody>
      </p:sp>
      <p:sp>
        <p:nvSpPr>
          <p:cNvPr id="18" name="TextBox 17"/>
          <p:cNvSpPr txBox="1"/>
          <p:nvPr/>
        </p:nvSpPr>
        <p:spPr>
          <a:xfrm>
            <a:off x="502920" y="6510528"/>
            <a:ext cx="2377440" cy="164592"/>
          </a:xfrm>
          <a:prstGeom prst="rect">
            <a:avLst/>
          </a:prstGeom>
          <a:noFill/>
        </p:spPr>
        <p:txBody>
          <a:bodyPr wrap="square" anchor="t">
            <a:spAutoFit/>
          </a:bodyPr>
          <a:lstStyle/>
          <a:p>
            <a:pPr algn="l">
              <a:defRPr sz="750" b="1">
                <a:solidFill>
                  <a:srgbClr val="BEBEBE"/>
                </a:solidFill>
                <a:latin typeface="Aptos"/>
              </a:defRPr>
            </a:pPr>
            <a:r>
              <a:t>MY DISHONEST BENCHMARK</a:t>
            </a:r>
          </a:p>
        </p:txBody>
      </p:sp>
      <p:sp>
        <p:nvSpPr>
          <p:cNvPr id="19" name="TextBox 18"/>
          <p:cNvSpPr txBox="1"/>
          <p:nvPr/>
        </p:nvSpPr>
        <p:spPr>
          <a:xfrm>
            <a:off x="11155680" y="6473952"/>
            <a:ext cx="502920" cy="182880"/>
          </a:xfrm>
          <a:prstGeom prst="rect">
            <a:avLst/>
          </a:prstGeom>
          <a:noFill/>
        </p:spPr>
        <p:txBody>
          <a:bodyPr wrap="square" anchor="t">
            <a:spAutoFit/>
          </a:bodyPr>
          <a:lstStyle/>
          <a:p>
            <a:pPr algn="r">
              <a:defRPr sz="800" b="1">
                <a:solidFill>
                  <a:srgbClr val="BEBEBE"/>
                </a:solidFill>
                <a:latin typeface="Aptos"/>
              </a:defRPr>
            </a:pPr>
            <a:r>
              <a:t>42</a:t>
            </a:r>
          </a:p>
        </p:txBody>
      </p:sp>
    </p:spTree>
    <p:extLst>
      <p:ext uri="{BB962C8B-B14F-4D97-AF65-F5344CB8AC3E}">
        <p14:creationId xmlns:p14="http://schemas.microsoft.com/office/powerpoint/2010/main" val="11861161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 name="TextBox 1"/>
          <p:cNvSpPr txBox="1"/>
          <p:nvPr/>
        </p:nvSpPr>
        <p:spPr>
          <a:xfrm>
            <a:off x="594360" y="429768"/>
            <a:ext cx="8162778" cy="584775"/>
          </a:xfrm>
          <a:prstGeom prst="rect">
            <a:avLst/>
          </a:prstGeom>
          <a:noFill/>
        </p:spPr>
        <p:txBody>
          <a:bodyPr wrap="square" anchor="t">
            <a:spAutoFit/>
          </a:bodyPr>
          <a:lstStyle/>
          <a:p>
            <a:pPr algn="l">
              <a:defRPr sz="1000" b="1">
                <a:solidFill>
                  <a:srgbClr val="FF655C"/>
                </a:solidFill>
                <a:latin typeface="Aptos"/>
              </a:defRPr>
            </a:pPr>
            <a:r>
              <a:rPr sz="3200" dirty="0">
                <a:solidFill>
                  <a:srgbClr val="F2F2F2"/>
                </a:solidFill>
              </a:rPr>
              <a:t>DATABASE WARS</a:t>
            </a:r>
          </a:p>
        </p:txBody>
      </p:sp>
      <p:sp>
        <p:nvSpPr>
          <p:cNvPr id="3" name="TextBox 2"/>
          <p:cNvSpPr txBox="1"/>
          <p:nvPr/>
        </p:nvSpPr>
        <p:spPr>
          <a:xfrm>
            <a:off x="594360" y="923546"/>
            <a:ext cx="10515600" cy="640080"/>
          </a:xfrm>
          <a:prstGeom prst="rect">
            <a:avLst/>
          </a:prstGeom>
          <a:noFill/>
        </p:spPr>
        <p:txBody>
          <a:bodyPr wrap="square" anchor="t">
            <a:spAutoFit/>
          </a:bodyPr>
          <a:lstStyle/>
          <a:p>
            <a:pPr algn="l">
              <a:defRPr sz="3600" b="1">
                <a:solidFill>
                  <a:srgbClr val="F2F2F2"/>
                </a:solidFill>
                <a:latin typeface="Aptos Display"/>
              </a:defRPr>
            </a:pPr>
            <a:r>
              <a:rPr dirty="0">
                <a:solidFill>
                  <a:srgbClr val="F2F2F2"/>
                </a:solidFill>
              </a:rPr>
              <a:t>The details change. The crime scene stays familiar.</a:t>
            </a:r>
          </a:p>
        </p:txBody>
      </p:sp>
      <p:sp>
        <p:nvSpPr>
          <p:cNvPr id="4" name="TextBox 3"/>
          <p:cNvSpPr txBox="1"/>
          <p:nvPr/>
        </p:nvSpPr>
        <p:spPr>
          <a:xfrm>
            <a:off x="594360" y="1600200"/>
            <a:ext cx="10515600" cy="400110"/>
          </a:xfrm>
          <a:prstGeom prst="rect">
            <a:avLst/>
          </a:prstGeom>
          <a:noFill/>
        </p:spPr>
        <p:txBody>
          <a:bodyPr wrap="square" anchor="t">
            <a:spAutoFit/>
          </a:bodyPr>
          <a:lstStyle/>
          <a:p>
            <a:pPr algn="l">
              <a:defRPr sz="2000" b="0">
                <a:solidFill>
                  <a:srgbClr val="BEBEBE"/>
                </a:solidFill>
                <a:latin typeface="Aptos"/>
              </a:defRPr>
            </a:pPr>
            <a:r>
              <a:rPr dirty="0">
                <a:solidFill>
                  <a:srgbClr val="F2F2F2"/>
                </a:solidFill>
              </a:rPr>
              <a:t>The same</a:t>
            </a:r>
            <a:r>
              <a:rPr lang="en-US" dirty="0">
                <a:solidFill>
                  <a:srgbClr val="F2F2F2"/>
                </a:solidFill>
              </a:rPr>
              <a:t> performance</a:t>
            </a:r>
            <a:r>
              <a:rPr dirty="0">
                <a:solidFill>
                  <a:srgbClr val="F2F2F2"/>
                </a:solidFill>
              </a:rPr>
              <a:t> ladder could be built with MySQL, MariaDB, or almost any database.</a:t>
            </a:r>
          </a:p>
        </p:txBody>
      </p:sp>
      <p:sp>
        <p:nvSpPr>
          <p:cNvPr id="5" name="Rounded Rectangle 4"/>
          <p:cNvSpPr/>
          <p:nvPr/>
        </p:nvSpPr>
        <p:spPr>
          <a:xfrm>
            <a:off x="685800" y="4846320"/>
            <a:ext cx="2017776" cy="1188720"/>
          </a:xfrm>
          <a:prstGeom prst="rect">
            <a:avLst/>
          </a:prstGeom>
          <a:solidFill>
            <a:srgbClr val="FF655C"/>
          </a:solidFill>
          <a:ln>
            <a:noFill/>
          </a:ln>
        </p:spPr>
        <p:txBody>
          <a:bodyPr rtlCol="0" anchor="ctr"/>
          <a:lstStyle/>
          <a:p>
            <a:pPr algn="ctr"/>
            <a:endParaRPr>
              <a:solidFill>
                <a:srgbClr val="17181C"/>
              </a:solidFill>
            </a:endParaRPr>
          </a:p>
        </p:txBody>
      </p:sp>
      <p:sp>
        <p:nvSpPr>
          <p:cNvPr id="6" name="TextBox 5"/>
          <p:cNvSpPr txBox="1"/>
          <p:nvPr/>
        </p:nvSpPr>
        <p:spPr>
          <a:xfrm>
            <a:off x="822960" y="4983480"/>
            <a:ext cx="1743456" cy="914400"/>
          </a:xfrm>
          <a:prstGeom prst="rect">
            <a:avLst/>
          </a:prstGeom>
          <a:noFill/>
        </p:spPr>
        <p:txBody>
          <a:bodyPr wrap="square" lIns="0" tIns="0" rIns="0" anchor="t">
            <a:noAutofit/>
          </a:bodyPr>
          <a:lstStyle/>
          <a:p>
            <a:pPr algn="l">
              <a:defRPr sz="1800" b="1">
                <a:solidFill>
                  <a:srgbClr val="17181C"/>
                </a:solidFill>
                <a:latin typeface="Aptos"/>
              </a:defRPr>
            </a:pPr>
            <a:r>
              <a:t>BAD BASELINE</a:t>
            </a:r>
          </a:p>
        </p:txBody>
      </p:sp>
      <p:sp>
        <p:nvSpPr>
          <p:cNvPr id="7" name="Rounded Rectangle 6"/>
          <p:cNvSpPr/>
          <p:nvPr/>
        </p:nvSpPr>
        <p:spPr>
          <a:xfrm>
            <a:off x="2886456" y="4297680"/>
            <a:ext cx="2017776" cy="1737360"/>
          </a:xfrm>
          <a:prstGeom prst="rect">
            <a:avLst/>
          </a:prstGeom>
          <a:solidFill>
            <a:srgbClr val="F7C548"/>
          </a:solidFill>
          <a:ln>
            <a:noFill/>
          </a:ln>
        </p:spPr>
        <p:txBody>
          <a:bodyPr rtlCol="0" anchor="ctr"/>
          <a:lstStyle/>
          <a:p>
            <a:pPr algn="ctr"/>
            <a:endParaRPr>
              <a:solidFill>
                <a:srgbClr val="17181C"/>
              </a:solidFill>
            </a:endParaRPr>
          </a:p>
        </p:txBody>
      </p:sp>
      <p:sp>
        <p:nvSpPr>
          <p:cNvPr id="8" name="TextBox 7"/>
          <p:cNvSpPr txBox="1"/>
          <p:nvPr/>
        </p:nvSpPr>
        <p:spPr>
          <a:xfrm>
            <a:off x="3023616" y="4434840"/>
            <a:ext cx="1743456" cy="1463040"/>
          </a:xfrm>
          <a:prstGeom prst="rect">
            <a:avLst/>
          </a:prstGeom>
          <a:noFill/>
        </p:spPr>
        <p:txBody>
          <a:bodyPr wrap="square" lIns="0" tIns="0" rIns="0" anchor="t">
            <a:noAutofit/>
          </a:bodyPr>
          <a:lstStyle/>
          <a:p>
            <a:pPr algn="l">
              <a:defRPr sz="1800" b="1">
                <a:solidFill>
                  <a:srgbClr val="17181C"/>
                </a:solidFill>
                <a:latin typeface="Aptos"/>
              </a:defRPr>
            </a:pPr>
            <a:r>
              <a:t>UNEQUAL SETTINGS</a:t>
            </a:r>
          </a:p>
        </p:txBody>
      </p:sp>
      <p:sp>
        <p:nvSpPr>
          <p:cNvPr id="9" name="Rounded Rectangle 8"/>
          <p:cNvSpPr/>
          <p:nvPr/>
        </p:nvSpPr>
        <p:spPr>
          <a:xfrm>
            <a:off x="5087112" y="3749040"/>
            <a:ext cx="2017776" cy="2286000"/>
          </a:xfrm>
          <a:prstGeom prst="rect">
            <a:avLst/>
          </a:prstGeom>
          <a:solidFill>
            <a:srgbClr val="00C2D6"/>
          </a:solidFill>
          <a:ln>
            <a:noFill/>
          </a:ln>
        </p:spPr>
        <p:txBody>
          <a:bodyPr rtlCol="0" anchor="ctr"/>
          <a:lstStyle/>
          <a:p>
            <a:pPr algn="ctr"/>
            <a:endParaRPr>
              <a:solidFill>
                <a:srgbClr val="17181C"/>
              </a:solidFill>
            </a:endParaRPr>
          </a:p>
        </p:txBody>
      </p:sp>
      <p:sp>
        <p:nvSpPr>
          <p:cNvPr id="10" name="TextBox 9"/>
          <p:cNvSpPr txBox="1"/>
          <p:nvPr/>
        </p:nvSpPr>
        <p:spPr>
          <a:xfrm>
            <a:off x="5224272" y="3886200"/>
            <a:ext cx="1743456" cy="2011680"/>
          </a:xfrm>
          <a:prstGeom prst="rect">
            <a:avLst/>
          </a:prstGeom>
          <a:noFill/>
        </p:spPr>
        <p:txBody>
          <a:bodyPr wrap="square" lIns="0" tIns="0" rIns="0" anchor="t">
            <a:noAutofit/>
          </a:bodyPr>
          <a:lstStyle/>
          <a:p>
            <a:pPr algn="l">
              <a:defRPr sz="1800" b="1">
                <a:solidFill>
                  <a:srgbClr val="17181C"/>
                </a:solidFill>
                <a:latin typeface="Aptos"/>
              </a:defRPr>
            </a:pPr>
            <a:r>
              <a:t>DIFFERENT GUARANTEES</a:t>
            </a:r>
          </a:p>
        </p:txBody>
      </p:sp>
      <p:sp>
        <p:nvSpPr>
          <p:cNvPr id="11" name="Rounded Rectangle 10"/>
          <p:cNvSpPr/>
          <p:nvPr/>
        </p:nvSpPr>
        <p:spPr>
          <a:xfrm>
            <a:off x="7287768" y="3200400"/>
            <a:ext cx="2017776" cy="2834640"/>
          </a:xfrm>
          <a:prstGeom prst="rect">
            <a:avLst/>
          </a:prstGeom>
          <a:solidFill>
            <a:srgbClr val="AEE057"/>
          </a:solidFill>
          <a:ln>
            <a:noFill/>
          </a:ln>
        </p:spPr>
        <p:txBody>
          <a:bodyPr rtlCol="0" anchor="ctr"/>
          <a:lstStyle/>
          <a:p>
            <a:pPr algn="ctr"/>
            <a:endParaRPr>
              <a:solidFill>
                <a:srgbClr val="17181C"/>
              </a:solidFill>
            </a:endParaRPr>
          </a:p>
        </p:txBody>
      </p:sp>
      <p:sp>
        <p:nvSpPr>
          <p:cNvPr id="12" name="TextBox 11"/>
          <p:cNvSpPr txBox="1"/>
          <p:nvPr/>
        </p:nvSpPr>
        <p:spPr>
          <a:xfrm>
            <a:off x="7424928" y="3337560"/>
            <a:ext cx="1743456" cy="2560320"/>
          </a:xfrm>
          <a:prstGeom prst="rect">
            <a:avLst/>
          </a:prstGeom>
          <a:noFill/>
        </p:spPr>
        <p:txBody>
          <a:bodyPr wrap="square" lIns="0" tIns="0" rIns="0" anchor="t">
            <a:noAutofit/>
          </a:bodyPr>
          <a:lstStyle/>
          <a:p>
            <a:pPr algn="l">
              <a:defRPr sz="1800" b="1">
                <a:solidFill>
                  <a:srgbClr val="17181C"/>
                </a:solidFill>
                <a:latin typeface="Aptos"/>
              </a:defRPr>
            </a:pPr>
            <a:r>
              <a:t>LESS WORK</a:t>
            </a:r>
          </a:p>
        </p:txBody>
      </p:sp>
      <p:sp>
        <p:nvSpPr>
          <p:cNvPr id="13" name="Rounded Rectangle 12"/>
          <p:cNvSpPr/>
          <p:nvPr/>
        </p:nvSpPr>
        <p:spPr>
          <a:xfrm>
            <a:off x="9488424" y="2651760"/>
            <a:ext cx="2017776" cy="3383280"/>
          </a:xfrm>
          <a:prstGeom prst="rect">
            <a:avLst/>
          </a:prstGeom>
          <a:solidFill>
            <a:srgbClr val="FF655C"/>
          </a:solidFill>
          <a:ln>
            <a:noFill/>
          </a:ln>
        </p:spPr>
        <p:txBody>
          <a:bodyPr rtlCol="0" anchor="ctr"/>
          <a:lstStyle/>
          <a:p>
            <a:pPr algn="ctr"/>
            <a:endParaRPr>
              <a:solidFill>
                <a:srgbClr val="17181C"/>
              </a:solidFill>
            </a:endParaRPr>
          </a:p>
        </p:txBody>
      </p:sp>
      <p:sp>
        <p:nvSpPr>
          <p:cNvPr id="14" name="TextBox 13"/>
          <p:cNvSpPr txBox="1"/>
          <p:nvPr/>
        </p:nvSpPr>
        <p:spPr>
          <a:xfrm>
            <a:off x="9625584" y="2788920"/>
            <a:ext cx="1743456" cy="3108960"/>
          </a:xfrm>
          <a:prstGeom prst="rect">
            <a:avLst/>
          </a:prstGeom>
          <a:noFill/>
        </p:spPr>
        <p:txBody>
          <a:bodyPr wrap="square" lIns="0" tIns="0" rIns="0" anchor="t">
            <a:noAutofit/>
          </a:bodyPr>
          <a:lstStyle/>
          <a:p>
            <a:pPr algn="l">
              <a:defRPr sz="1800" b="1">
                <a:solidFill>
                  <a:srgbClr val="17181C"/>
                </a:solidFill>
                <a:latin typeface="Aptos"/>
              </a:defRPr>
            </a:pPr>
            <a:r>
              <a:t>DIFFERENT METRIC</a:t>
            </a:r>
          </a:p>
        </p:txBody>
      </p:sp>
      <p:sp>
        <p:nvSpPr>
          <p:cNvPr id="30" name="Baseline"/>
          <p:cNvSpPr/>
          <p:nvPr/>
        </p:nvSpPr>
        <p:spPr>
          <a:xfrm>
            <a:off x="685800" y="6035040"/>
            <a:ext cx="10820400" cy="19050"/>
          </a:xfrm>
          <a:prstGeom prst="rect">
            <a:avLst/>
          </a:prstGeom>
          <a:solidFill>
            <a:srgbClr val="0F1013"/>
          </a:solidFill>
          <a:ln>
            <a:noFill/>
          </a:ln>
        </p:spPr>
        <p:txBody>
          <a:bodyPr/>
          <a:lstStyle/>
          <a:p>
            <a:endParaRPr lang="en-GB">
              <a:solidFill>
                <a:srgbClr val="F2F2F2"/>
              </a:solidFill>
            </a:endParaRPr>
          </a:p>
        </p:txBody>
      </p:sp>
      <p:sp>
        <p:nvSpPr>
          <p:cNvPr id="15" name="TextBox 14"/>
          <p:cNvSpPr txBox="1"/>
          <p:nvPr/>
        </p:nvSpPr>
        <p:spPr>
          <a:xfrm>
            <a:off x="502920" y="6510528"/>
            <a:ext cx="2377440" cy="164592"/>
          </a:xfrm>
          <a:prstGeom prst="rect">
            <a:avLst/>
          </a:prstGeom>
          <a:noFill/>
        </p:spPr>
        <p:txBody>
          <a:bodyPr wrap="square" anchor="t">
            <a:spAutoFit/>
          </a:bodyPr>
          <a:lstStyle/>
          <a:p>
            <a:pPr algn="l">
              <a:defRPr sz="750" b="1">
                <a:solidFill>
                  <a:srgbClr val="BEBEBE"/>
                </a:solidFill>
                <a:latin typeface="Aptos"/>
              </a:defRPr>
            </a:pPr>
            <a:r>
              <a:t>MY DISHONEST BENCHMARK</a:t>
            </a:r>
          </a:p>
        </p:txBody>
      </p:sp>
      <p:sp>
        <p:nvSpPr>
          <p:cNvPr id="16" name="TextBox 15"/>
          <p:cNvSpPr txBox="1"/>
          <p:nvPr/>
        </p:nvSpPr>
        <p:spPr>
          <a:xfrm>
            <a:off x="11155680" y="6473952"/>
            <a:ext cx="502920" cy="182880"/>
          </a:xfrm>
          <a:prstGeom prst="rect">
            <a:avLst/>
          </a:prstGeom>
          <a:noFill/>
        </p:spPr>
        <p:txBody>
          <a:bodyPr wrap="square" anchor="t">
            <a:spAutoFit/>
          </a:bodyPr>
          <a:lstStyle/>
          <a:p>
            <a:pPr algn="r">
              <a:defRPr sz="800" b="1">
                <a:solidFill>
                  <a:srgbClr val="BEBEBE"/>
                </a:solidFill>
                <a:latin typeface="Aptos"/>
              </a:defRPr>
            </a:pPr>
            <a:r>
              <a:t>44</a:t>
            </a:r>
          </a:p>
        </p:txBody>
      </p:sp>
    </p:spTree>
    <p:extLst>
      <p:ext uri="{BB962C8B-B14F-4D97-AF65-F5344CB8AC3E}">
        <p14:creationId xmlns:p14="http://schemas.microsoft.com/office/powerpoint/2010/main" val="40788996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0" name="Section Tag"/>
          <p:cNvSpPr/>
          <p:nvPr/>
        </p:nvSpPr>
        <p:spPr>
          <a:xfrm>
            <a:off x="640079" y="502920"/>
            <a:ext cx="2616200" cy="521208"/>
          </a:xfrm>
          <a:prstGeom prst="roundRect">
            <a:avLst/>
          </a:prstGeom>
          <a:solidFill>
            <a:srgbClr val="F6C548"/>
          </a:solidFill>
          <a:ln>
            <a:noFill/>
          </a:ln>
        </p:spPr>
        <p:txBody>
          <a:bodyPr wrap="none" lIns="64008" tIns="0" rIns="64008" bIns="0" anchor="ctr">
            <a:noAutofit/>
          </a:bodyPr>
          <a:lstStyle/>
          <a:p>
            <a:pPr algn="l"/>
            <a:r>
              <a:rPr lang="en-US" sz="3200" b="1" dirty="0">
                <a:solidFill>
                  <a:srgbClr val="17181C"/>
                </a:solidFill>
                <a:latin typeface="Aptos"/>
              </a:rPr>
              <a:t>REFERENCES</a:t>
            </a:r>
          </a:p>
        </p:txBody>
      </p:sp>
      <p:sp>
        <p:nvSpPr>
          <p:cNvPr id="21" name="Ref Card 1"/>
          <p:cNvSpPr/>
          <p:nvPr/>
        </p:nvSpPr>
        <p:spPr>
          <a:xfrm>
            <a:off x="635000" y="1422400"/>
            <a:ext cx="10922000" cy="1371600"/>
          </a:xfrm>
          <a:prstGeom prst="roundRect">
            <a:avLst>
              <a:gd name="adj" fmla="val 8000"/>
            </a:avLst>
          </a:prstGeom>
          <a:solidFill>
            <a:srgbClr val="22242A"/>
          </a:solidFill>
          <a:ln w="9525">
            <a:solidFill>
              <a:srgbClr val="33363D"/>
            </a:solidFill>
          </a:ln>
        </p:spPr>
        <p:txBody>
          <a:bodyPr/>
          <a:lstStyle/>
          <a:p>
            <a:endParaRPr lang="en-US"/>
          </a:p>
        </p:txBody>
      </p:sp>
      <p:sp>
        <p:nvSpPr>
          <p:cNvPr id="22" name="Ref Num 1"/>
          <p:cNvSpPr txBox="1"/>
          <p:nvPr/>
        </p:nvSpPr>
        <p:spPr>
          <a:xfrm>
            <a:off x="889000" y="1422400"/>
            <a:ext cx="889000" cy="1371600"/>
          </a:xfrm>
          <a:prstGeom prst="rect">
            <a:avLst/>
          </a:prstGeom>
          <a:noFill/>
        </p:spPr>
        <p:txBody>
          <a:bodyPr wrap="none" lIns="0" rIns="0" anchor="ctr">
            <a:noAutofit/>
          </a:bodyPr>
          <a:lstStyle/>
          <a:p>
            <a:r>
              <a:rPr lang="en-US" sz="3600" b="1" dirty="0">
                <a:solidFill>
                  <a:srgbClr val="F6C548"/>
                </a:solidFill>
                <a:latin typeface="Aptos"/>
              </a:rPr>
              <a:t>01</a:t>
            </a:r>
          </a:p>
        </p:txBody>
      </p:sp>
      <p:sp>
        <p:nvSpPr>
          <p:cNvPr id="23" name="Ref Text 1"/>
          <p:cNvSpPr txBox="1"/>
          <p:nvPr/>
        </p:nvSpPr>
        <p:spPr>
          <a:xfrm>
            <a:off x="1905000" y="1422400"/>
            <a:ext cx="9347200" cy="1371600"/>
          </a:xfrm>
          <a:prstGeom prst="rect">
            <a:avLst/>
          </a:prstGeom>
          <a:noFill/>
        </p:spPr>
        <p:txBody>
          <a:bodyPr wrap="square" lIns="0" rIns="0" anchor="ctr">
            <a:noAutofit/>
          </a:bodyPr>
          <a:lstStyle/>
          <a:p>
            <a:pPr>
              <a:spcAft>
                <a:spcPts val="200"/>
              </a:spcAft>
            </a:pPr>
            <a:r>
              <a:rPr lang="en-US" sz="1800" b="1" dirty="0">
                <a:solidFill>
                  <a:srgbClr val="F2F2F2"/>
                </a:solidFill>
                <a:latin typeface="Aptos"/>
              </a:rPr>
              <a:t>That time Oracle tried to have a professor fired for benchmarking their database</a:t>
            </a:r>
          </a:p>
          <a:p>
            <a:pPr>
              <a:spcAft>
                <a:spcPts val="400"/>
              </a:spcAft>
            </a:pPr>
            <a:r>
              <a:rPr lang="en-US" sz="1400" dirty="0">
                <a:solidFill>
                  <a:srgbClr val="A0A3AA"/>
                </a:solidFill>
                <a:latin typeface="Aptos"/>
              </a:rPr>
              <a:t>Dan Luu</a:t>
            </a:r>
          </a:p>
          <a:p>
            <a:r>
              <a:rPr lang="en-US" sz="1400" dirty="0">
                <a:solidFill>
                  <a:srgbClr val="F6C548"/>
                </a:solidFill>
                <a:latin typeface="Aptos"/>
                <a:hlinkClick r:id="rId2">
                  <a:extLst>
                    <a:ext uri="{A12FA001-AC4F-418D-AE19-62706E023703}">
                      <ahyp:hlinkClr xmlns:ahyp="http://schemas.microsoft.com/office/drawing/2018/hyperlinkcolor" val="tx"/>
                    </a:ext>
                  </a:extLst>
                </a:hlinkClick>
              </a:rPr>
              <a:t>danluu.com/anon-benchmark/</a:t>
            </a:r>
          </a:p>
        </p:txBody>
      </p:sp>
      <p:sp>
        <p:nvSpPr>
          <p:cNvPr id="24" name="Ref Card 2"/>
          <p:cNvSpPr/>
          <p:nvPr/>
        </p:nvSpPr>
        <p:spPr>
          <a:xfrm>
            <a:off x="635000" y="3098800"/>
            <a:ext cx="10922000" cy="1371600"/>
          </a:xfrm>
          <a:prstGeom prst="roundRect">
            <a:avLst>
              <a:gd name="adj" fmla="val 8000"/>
            </a:avLst>
          </a:prstGeom>
          <a:solidFill>
            <a:srgbClr val="22242A"/>
          </a:solidFill>
          <a:ln w="9525">
            <a:solidFill>
              <a:srgbClr val="33363D"/>
            </a:solidFill>
          </a:ln>
        </p:spPr>
        <p:txBody>
          <a:bodyPr/>
          <a:lstStyle/>
          <a:p>
            <a:endParaRPr lang="en-US"/>
          </a:p>
        </p:txBody>
      </p:sp>
      <p:sp>
        <p:nvSpPr>
          <p:cNvPr id="25" name="Ref Num 2"/>
          <p:cNvSpPr txBox="1"/>
          <p:nvPr/>
        </p:nvSpPr>
        <p:spPr>
          <a:xfrm>
            <a:off x="889000" y="3098800"/>
            <a:ext cx="889000" cy="1371600"/>
          </a:xfrm>
          <a:prstGeom prst="rect">
            <a:avLst/>
          </a:prstGeom>
          <a:noFill/>
        </p:spPr>
        <p:txBody>
          <a:bodyPr wrap="none" lIns="0" rIns="0" anchor="ctr">
            <a:noAutofit/>
          </a:bodyPr>
          <a:lstStyle/>
          <a:p>
            <a:r>
              <a:rPr lang="en-US" sz="3600" b="1" dirty="0">
                <a:solidFill>
                  <a:srgbClr val="F6C548"/>
                </a:solidFill>
                <a:latin typeface="Aptos"/>
              </a:rPr>
              <a:t>02</a:t>
            </a:r>
          </a:p>
        </p:txBody>
      </p:sp>
      <p:sp>
        <p:nvSpPr>
          <p:cNvPr id="26" name="Ref Text 2"/>
          <p:cNvSpPr txBox="1"/>
          <p:nvPr/>
        </p:nvSpPr>
        <p:spPr>
          <a:xfrm>
            <a:off x="1905000" y="3063630"/>
            <a:ext cx="9347200" cy="1371600"/>
          </a:xfrm>
          <a:prstGeom prst="rect">
            <a:avLst/>
          </a:prstGeom>
          <a:noFill/>
        </p:spPr>
        <p:txBody>
          <a:bodyPr wrap="square" lIns="0" rIns="0" anchor="ctr">
            <a:noAutofit/>
          </a:bodyPr>
          <a:lstStyle/>
          <a:p>
            <a:pPr>
              <a:spcAft>
                <a:spcPts val="200"/>
              </a:spcAft>
            </a:pPr>
            <a:r>
              <a:rPr lang="en-US" sz="1800" b="1" dirty="0">
                <a:solidFill>
                  <a:srgbClr val="F2F2F2"/>
                </a:solidFill>
                <a:latin typeface="Aptos"/>
              </a:rPr>
              <a:t>The DeWitt Clause: Why You Rarely See Database Benchmarks</a:t>
            </a:r>
          </a:p>
          <a:p>
            <a:pPr>
              <a:spcAft>
                <a:spcPts val="400"/>
              </a:spcAft>
            </a:pPr>
            <a:r>
              <a:rPr lang="en-US" sz="1400" dirty="0">
                <a:solidFill>
                  <a:srgbClr val="A0A3AA"/>
                </a:solidFill>
                <a:latin typeface="Aptos"/>
              </a:rPr>
              <a:t>Brent Ozar</a:t>
            </a:r>
          </a:p>
          <a:p>
            <a:r>
              <a:rPr lang="en-US" sz="1400" dirty="0">
                <a:solidFill>
                  <a:srgbClr val="F6C548"/>
                </a:solidFill>
                <a:latin typeface="Aptos"/>
                <a:hlinkClick r:id="rId3">
                  <a:extLst>
                    <a:ext uri="{A12FA001-AC4F-418D-AE19-62706E023703}">
                      <ahyp:hlinkClr xmlns:ahyp="http://schemas.microsoft.com/office/drawing/2018/hyperlinkcolor" val="tx"/>
                    </a:ext>
                  </a:extLst>
                </a:hlinkClick>
              </a:rPr>
              <a:t>www.brentozar.com/archive/2018/05/the-dewitt-clause-why-you-rarely-see-database-benchmarks/</a:t>
            </a:r>
          </a:p>
        </p:txBody>
      </p:sp>
      <p:sp>
        <p:nvSpPr>
          <p:cNvPr id="27" name="Ref Card 3"/>
          <p:cNvSpPr/>
          <p:nvPr/>
        </p:nvSpPr>
        <p:spPr>
          <a:xfrm>
            <a:off x="635000" y="4775200"/>
            <a:ext cx="10922000" cy="1371600"/>
          </a:xfrm>
          <a:prstGeom prst="roundRect">
            <a:avLst>
              <a:gd name="adj" fmla="val 8000"/>
            </a:avLst>
          </a:prstGeom>
          <a:solidFill>
            <a:srgbClr val="22242A"/>
          </a:solidFill>
          <a:ln w="9525">
            <a:solidFill>
              <a:srgbClr val="33363D"/>
            </a:solidFill>
          </a:ln>
        </p:spPr>
        <p:txBody>
          <a:bodyPr/>
          <a:lstStyle/>
          <a:p>
            <a:endParaRPr lang="en-US"/>
          </a:p>
        </p:txBody>
      </p:sp>
      <p:sp>
        <p:nvSpPr>
          <p:cNvPr id="28" name="Ref Num 3"/>
          <p:cNvSpPr txBox="1"/>
          <p:nvPr/>
        </p:nvSpPr>
        <p:spPr>
          <a:xfrm>
            <a:off x="889000" y="4775200"/>
            <a:ext cx="889000" cy="1371600"/>
          </a:xfrm>
          <a:prstGeom prst="rect">
            <a:avLst/>
          </a:prstGeom>
          <a:noFill/>
        </p:spPr>
        <p:txBody>
          <a:bodyPr wrap="none" lIns="0" rIns="0" anchor="ctr">
            <a:noAutofit/>
          </a:bodyPr>
          <a:lstStyle/>
          <a:p>
            <a:r>
              <a:rPr lang="en-US" sz="3600" b="1" dirty="0">
                <a:solidFill>
                  <a:srgbClr val="F6C548"/>
                </a:solidFill>
                <a:latin typeface="Aptos"/>
              </a:rPr>
              <a:t>03</a:t>
            </a:r>
          </a:p>
        </p:txBody>
      </p:sp>
      <p:sp>
        <p:nvSpPr>
          <p:cNvPr id="29" name="Ref Text 3"/>
          <p:cNvSpPr txBox="1"/>
          <p:nvPr/>
        </p:nvSpPr>
        <p:spPr>
          <a:xfrm>
            <a:off x="1905000" y="4775200"/>
            <a:ext cx="9347200" cy="1371600"/>
          </a:xfrm>
          <a:prstGeom prst="rect">
            <a:avLst/>
          </a:prstGeom>
          <a:noFill/>
        </p:spPr>
        <p:txBody>
          <a:bodyPr wrap="square" lIns="0" rIns="0" anchor="ctr">
            <a:noAutofit/>
          </a:bodyPr>
          <a:lstStyle/>
          <a:p>
            <a:pPr>
              <a:spcAft>
                <a:spcPts val="200"/>
              </a:spcAft>
            </a:pPr>
            <a:r>
              <a:rPr lang="en-US" sz="1800" b="1" dirty="0">
                <a:solidFill>
                  <a:srgbClr val="F2F2F2"/>
                </a:solidFill>
                <a:latin typeface="Aptos"/>
              </a:rPr>
              <a:t>The DeWitt clause censorship should be illegal</a:t>
            </a:r>
          </a:p>
          <a:p>
            <a:pPr>
              <a:spcAft>
                <a:spcPts val="400"/>
              </a:spcAft>
            </a:pPr>
            <a:r>
              <a:rPr lang="en-US" sz="1400" dirty="0">
                <a:solidFill>
                  <a:srgbClr val="A0A3AA"/>
                </a:solidFill>
                <a:latin typeface="Aptos"/>
              </a:rPr>
              <a:t>David A. Wheeler</a:t>
            </a:r>
          </a:p>
          <a:p>
            <a:r>
              <a:rPr lang="en-US" sz="1400" dirty="0">
                <a:solidFill>
                  <a:srgbClr val="F6C548"/>
                </a:solidFill>
                <a:latin typeface="Aptos"/>
                <a:hlinkClick r:id="rId4">
                  <a:extLst>
                    <a:ext uri="{A12FA001-AC4F-418D-AE19-62706E023703}">
                      <ahyp:hlinkClr xmlns:ahyp="http://schemas.microsoft.com/office/drawing/2018/hyperlinkcolor" val="tx"/>
                    </a:ext>
                  </a:extLst>
                </a:hlinkClick>
              </a:rPr>
              <a:t>dwheeler.com/essays/dewitt-clause.html</a:t>
            </a:r>
          </a:p>
        </p:txBody>
      </p:sp>
      <p:sp>
        <p:nvSpPr>
          <p:cNvPr id="30" name="Footer"/>
          <p:cNvSpPr txBox="1"/>
          <p:nvPr/>
        </p:nvSpPr>
        <p:spPr>
          <a:xfrm>
            <a:off x="502920" y="6510528"/>
            <a:ext cx="2377440" cy="164592"/>
          </a:xfrm>
          <a:prstGeom prst="rect">
            <a:avLst/>
          </a:prstGeom>
          <a:noFill/>
        </p:spPr>
        <p:txBody>
          <a:bodyPr wrap="square" anchor="t">
            <a:spAutoFit/>
          </a:bodyPr>
          <a:lstStyle/>
          <a:p>
            <a:r>
              <a:rPr lang="en-US" sz="750" b="1" dirty="0">
                <a:solidFill>
                  <a:srgbClr val="AAAAAA"/>
                </a:solidFill>
                <a:latin typeface="Aptos"/>
              </a:rPr>
              <a:t>MY DISHONEST BENCHMARK</a:t>
            </a:r>
          </a:p>
        </p:txBody>
      </p:sp>
    </p:spTree>
    <p:extLst>
      <p:ext uri="{BB962C8B-B14F-4D97-AF65-F5344CB8AC3E}">
        <p14:creationId xmlns:p14="http://schemas.microsoft.com/office/powerpoint/2010/main" val="10512893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sp>
        <p:nvSpPr>
          <p:cNvPr id="2" name="Rounded Rectangle 1"/>
          <p:cNvSpPr/>
          <p:nvPr/>
        </p:nvSpPr>
        <p:spPr>
          <a:xfrm>
            <a:off x="498347" y="594359"/>
            <a:ext cx="2834640" cy="460717"/>
          </a:xfrm>
          <a:prstGeom prst="roundRect">
            <a:avLst/>
          </a:prstGeom>
          <a:solidFill>
            <a:srgbClr val="00C2D6"/>
          </a:solidFill>
          <a:ln>
            <a:noFill/>
          </a:ln>
        </p:spPr>
        <p:txBody>
          <a:bodyPr wrap="none" lIns="0" tIns="0" rIns="0" bIns="0" rtlCol="0" anchor="ctr">
            <a:noAutofit/>
          </a:bodyPr>
          <a:lstStyle/>
          <a:p>
            <a:pPr algn="ctr"/>
            <a:r>
              <a:rPr lang="en-US" sz="3200" b="1" dirty="0">
                <a:solidFill>
                  <a:srgbClr val="17181C"/>
                </a:solidFill>
                <a:latin typeface="Aptos"/>
              </a:rPr>
              <a:t>THANK YOU</a:t>
            </a:r>
          </a:p>
        </p:txBody>
      </p:sp>
      <p:sp>
        <p:nvSpPr>
          <p:cNvPr id="4" name="TextBox 3"/>
          <p:cNvSpPr txBox="1"/>
          <p:nvPr/>
        </p:nvSpPr>
        <p:spPr>
          <a:xfrm>
            <a:off x="498347" y="2159000"/>
            <a:ext cx="6400800" cy="1463040"/>
          </a:xfrm>
          <a:prstGeom prst="rect">
            <a:avLst/>
          </a:prstGeom>
          <a:noFill/>
        </p:spPr>
        <p:txBody>
          <a:bodyPr wrap="square" lIns="0" tIns="0" rIns="0" bIns="0" rtlCol="0" anchor="t">
            <a:noAutofit/>
          </a:bodyPr>
          <a:lstStyle/>
          <a:p>
            <a:pPr algn="l">
              <a:lnSpc>
                <a:spcPct val="95000"/>
              </a:lnSpc>
            </a:pPr>
            <a:r>
              <a:rPr lang="en-US" sz="5400" b="1" dirty="0">
                <a:solidFill>
                  <a:srgbClr val="FFFFFF"/>
                </a:solidFill>
                <a:latin typeface="Aptos Display"/>
              </a:rPr>
              <a:t>Now go distrust</a:t>
            </a:r>
            <a:br>
              <a:rPr lang="en-US" sz="5400" b="1" dirty="0"/>
            </a:br>
            <a:r>
              <a:rPr lang="en-US" sz="5400" b="1" dirty="0">
                <a:solidFill>
                  <a:srgbClr val="FFFFFF"/>
                </a:solidFill>
                <a:latin typeface="Aptos Display"/>
              </a:rPr>
              <a:t>some </a:t>
            </a:r>
            <a:r>
              <a:rPr lang="en-US" sz="5400" b="1" dirty="0">
                <a:solidFill>
                  <a:srgbClr val="FF655C"/>
                </a:solidFill>
                <a:latin typeface="Aptos Display"/>
              </a:rPr>
              <a:t>graphs.</a:t>
            </a:r>
          </a:p>
        </p:txBody>
      </p:sp>
      <p:sp>
        <p:nvSpPr>
          <p:cNvPr id="5" name="TextBox 4"/>
          <p:cNvSpPr txBox="1"/>
          <p:nvPr/>
        </p:nvSpPr>
        <p:spPr>
          <a:xfrm>
            <a:off x="498347" y="4191000"/>
            <a:ext cx="6400800" cy="548640"/>
          </a:xfrm>
          <a:prstGeom prst="rect">
            <a:avLst/>
          </a:prstGeom>
          <a:noFill/>
        </p:spPr>
        <p:txBody>
          <a:bodyPr wrap="square" lIns="0" tIns="0" rIns="0" bIns="0" rtlCol="0" anchor="t">
            <a:noAutofit/>
          </a:bodyPr>
          <a:lstStyle/>
          <a:p>
            <a:pPr algn="l"/>
            <a:r>
              <a:rPr lang="en-US" sz="3200" b="1" dirty="0">
                <a:solidFill>
                  <a:srgbClr val="00C2D6"/>
                </a:solidFill>
                <a:latin typeface="Aptos"/>
              </a:rPr>
              <a:t>Questions?</a:t>
            </a:r>
          </a:p>
        </p:txBody>
      </p:sp>
      <p:sp>
        <p:nvSpPr>
          <p:cNvPr id="13" name="TextBox 12"/>
          <p:cNvSpPr txBox="1"/>
          <p:nvPr/>
        </p:nvSpPr>
        <p:spPr>
          <a:xfrm>
            <a:off x="502920" y="6510528"/>
            <a:ext cx="2377440" cy="164592"/>
          </a:xfrm>
          <a:prstGeom prst="rect">
            <a:avLst/>
          </a:prstGeom>
          <a:noFill/>
        </p:spPr>
        <p:txBody>
          <a:bodyPr wrap="square" anchor="t">
            <a:spAutoFit/>
          </a:bodyPr>
          <a:lstStyle/>
          <a:p>
            <a:pPr algn="l">
              <a:defRPr sz="750" b="1">
                <a:solidFill>
                  <a:srgbClr val="AAAAAA"/>
                </a:solidFill>
                <a:latin typeface="Aptos"/>
              </a:defRPr>
            </a:pPr>
            <a:r>
              <a:t>MY DISHONEST BENCHMARK</a:t>
            </a:r>
          </a:p>
        </p:txBody>
      </p:sp>
      <p:sp>
        <p:nvSpPr>
          <p:cNvPr id="14" name="TextBox 13"/>
          <p:cNvSpPr txBox="1"/>
          <p:nvPr/>
        </p:nvSpPr>
        <p:spPr>
          <a:xfrm>
            <a:off x="11155680" y="6473952"/>
            <a:ext cx="502920" cy="182880"/>
          </a:xfrm>
          <a:prstGeom prst="rect">
            <a:avLst/>
          </a:prstGeom>
          <a:noFill/>
        </p:spPr>
        <p:txBody>
          <a:bodyPr wrap="square" anchor="t">
            <a:spAutoFit/>
          </a:bodyPr>
          <a:lstStyle/>
          <a:p>
            <a:pPr algn="r">
              <a:defRPr sz="800" b="1">
                <a:solidFill>
                  <a:srgbClr val="AAAAAA"/>
                </a:solidFill>
                <a:latin typeface="Aptos"/>
              </a:defRPr>
            </a:pPr>
            <a:r>
              <a:t>45</a:t>
            </a:r>
          </a:p>
        </p:txBody>
      </p:sp>
      <p:sp>
        <p:nvSpPr>
          <p:cNvPr id="20" name="QR Card"/>
          <p:cNvSpPr/>
          <p:nvPr/>
        </p:nvSpPr>
        <p:spPr>
          <a:xfrm>
            <a:off x="7315200" y="914400"/>
            <a:ext cx="4368800" cy="5029200"/>
          </a:xfrm>
          <a:prstGeom prst="roundRect">
            <a:avLst>
              <a:gd name="adj" fmla="val 6000"/>
            </a:avLst>
          </a:prstGeom>
          <a:solidFill>
            <a:srgbClr val="22242A"/>
          </a:solidFill>
          <a:ln w="12700">
            <a:solidFill>
              <a:srgbClr val="00C2D6">
                <a:alpha val="45000"/>
              </a:srgbClr>
            </a:solidFill>
          </a:ln>
          <a:effectLst>
            <a:glow rad="152400">
              <a:srgbClr val="00C2D6">
                <a:alpha val="14000"/>
              </a:srgbClr>
            </a:glow>
          </a:effectLst>
        </p:spPr>
        <p:txBody>
          <a:bodyPr rtlCol="0" anchor="ctr"/>
          <a:lstStyle/>
          <a:p>
            <a:endParaRPr lang="en-US"/>
          </a:p>
        </p:txBody>
      </p:sp>
      <p:sp>
        <p:nvSpPr>
          <p:cNvPr id="21" name="QR Caption"/>
          <p:cNvSpPr txBox="1"/>
          <p:nvPr/>
        </p:nvSpPr>
        <p:spPr>
          <a:xfrm>
            <a:off x="7518400" y="5029200"/>
            <a:ext cx="3962400" cy="711200"/>
          </a:xfrm>
          <a:prstGeom prst="rect">
            <a:avLst/>
          </a:prstGeom>
          <a:noFill/>
        </p:spPr>
        <p:txBody>
          <a:bodyPr wrap="square" lIns="0" tIns="0" rIns="0" bIns="0" rtlCol="0" anchor="t">
            <a:noAutofit/>
          </a:bodyPr>
          <a:lstStyle/>
          <a:p>
            <a:pPr algn="ctr"/>
            <a:r>
              <a:rPr lang="en-US" sz="2000" b="1" dirty="0">
                <a:solidFill>
                  <a:srgbClr val="FFFFFF"/>
                </a:solidFill>
                <a:latin typeface="Aptos"/>
              </a:rPr>
              <a:t>Talk and scripts on </a:t>
            </a:r>
            <a:r>
              <a:rPr lang="en-US" sz="2000" b="1" dirty="0" err="1">
                <a:solidFill>
                  <a:srgbClr val="FFFFFF"/>
                </a:solidFill>
                <a:latin typeface="Aptos"/>
              </a:rPr>
              <a:t>GitHub</a:t>
            </a:r>
            <a:endParaRPr lang="en-US" sz="2000" b="1" dirty="0">
              <a:solidFill>
                <a:srgbClr val="F7C548"/>
              </a:solidFill>
              <a:latin typeface="Aptos"/>
            </a:endParaRPr>
          </a:p>
        </p:txBody>
      </p:sp>
      <p:pic>
        <p:nvPicPr>
          <p:cNvPr id="6" name="Picture 5">
            <a:extLst>
              <a:ext uri="{FF2B5EF4-FFF2-40B4-BE49-F238E27FC236}">
                <a16:creationId xmlns:a16="http://schemas.microsoft.com/office/drawing/2014/main" id="{481A4B65-A04B-35F7-820B-DE39B097284E}"/>
              </a:ext>
            </a:extLst>
          </p:cNvPr>
          <p:cNvPicPr>
            <a:picLocks noChangeAspect="1"/>
          </p:cNvPicPr>
          <p:nvPr/>
        </p:nvPicPr>
        <p:blipFill>
          <a:blip r:embed="rId3"/>
          <a:stretch>
            <a:fillRect/>
          </a:stretch>
        </p:blipFill>
        <p:spPr>
          <a:xfrm>
            <a:off x="7721600" y="1270000"/>
            <a:ext cx="3556000" cy="3556000"/>
          </a:xfrm>
          <a:prstGeom prst="rect">
            <a:avLst/>
          </a:prstGeom>
        </p:spPr>
      </p:pic>
    </p:spTree>
    <p:extLst>
      <p:ext uri="{BB962C8B-B14F-4D97-AF65-F5344CB8AC3E}">
        <p14:creationId xmlns:p14="http://schemas.microsoft.com/office/powerpoint/2010/main" val="38691874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17181C"/>
        </a:solidFill>
        <a:effectLst/>
      </p:bgPr>
    </p:bg>
    <p:spTree>
      <p:nvGrpSpPr>
        <p:cNvPr id="1" name=""/>
        <p:cNvGrpSpPr/>
        <p:nvPr/>
      </p:nvGrpSpPr>
      <p:grpSpPr>
        <a:xfrm>
          <a:off x="0" y="0"/>
          <a:ext cx="0" cy="0"/>
          <a:chOff x="0" y="0"/>
          <a:chExt cx="0" cy="0"/>
        </a:xfrm>
      </p:grpSpPr>
      <p:pic>
        <p:nvPicPr>
          <p:cNvPr id="2" name="Picture 1" descr="Prague PostgreSQL Meetup #7">
            <a:extLst>
              <a:ext uri="{FF2B5EF4-FFF2-40B4-BE49-F238E27FC236}">
                <a16:creationId xmlns:a16="http://schemas.microsoft.com/office/drawing/2014/main" id="{438E2C3F-DC72-CF3D-A5EA-C3A59E88FB85}"/>
              </a:ext>
            </a:extLst>
          </p:cNvPr>
          <p:cNvPicPr>
            <a:picLocks noChangeAspect="1"/>
          </p:cNvPicPr>
          <p:nvPr/>
        </p:nvPicPr>
        <p:blipFill>
          <a:blip r:embed="rId2"/>
          <a:stretch>
            <a:fillRect/>
          </a:stretch>
        </p:blipFill>
        <p:spPr>
          <a:xfrm>
            <a:off x="508000" y="1524000"/>
            <a:ext cx="4572000" cy="4572000"/>
          </a:xfrm>
          <a:prstGeom prst="roundRect">
            <a:avLst>
              <a:gd name="adj" fmla="val 3500"/>
            </a:avLst>
          </a:prstGeom>
          <a:effectLst>
            <a:glow rad="190500">
              <a:srgbClr val="FF8A3D">
                <a:alpha val="20000"/>
              </a:srgbClr>
            </a:glow>
          </a:effectLst>
        </p:spPr>
      </p:pic>
      <p:sp>
        <p:nvSpPr>
          <p:cNvPr id="12" name="RSVP Card"/>
          <p:cNvSpPr/>
          <p:nvPr/>
        </p:nvSpPr>
        <p:spPr>
          <a:xfrm>
            <a:off x="5334000" y="1524000"/>
            <a:ext cx="6350000" cy="4572000"/>
          </a:xfrm>
          <a:prstGeom prst="roundRect">
            <a:avLst>
              <a:gd name="adj" fmla="val 7000"/>
            </a:avLst>
          </a:prstGeom>
          <a:solidFill>
            <a:srgbClr val="22242A"/>
          </a:solidFill>
          <a:ln w="12700">
            <a:solidFill>
              <a:srgbClr val="F7C548">
                <a:alpha val="45000"/>
              </a:srgbClr>
            </a:solidFill>
          </a:ln>
          <a:effectLst>
            <a:glow rad="152400">
              <a:srgbClr val="F7C548">
                <a:alpha val="12000"/>
              </a:srgbClr>
            </a:glow>
          </a:effectLst>
        </p:spPr>
        <p:txBody>
          <a:bodyPr rtlCol="0" anchor="ctr"/>
          <a:lstStyle/>
          <a:p>
            <a:endParaRPr lang="en-US"/>
          </a:p>
        </p:txBody>
      </p:sp>
      <p:pic>
        <p:nvPicPr>
          <p:cNvPr id="4" name="Picture 3">
            <a:extLst>
              <a:ext uri="{FF2B5EF4-FFF2-40B4-BE49-F238E27FC236}">
                <a16:creationId xmlns:a16="http://schemas.microsoft.com/office/drawing/2014/main" id="{97807637-BDA9-DF6E-C38C-CBC4EF2A0A57}"/>
              </a:ext>
            </a:extLst>
          </p:cNvPr>
          <p:cNvPicPr>
            <a:picLocks noChangeAspect="1"/>
          </p:cNvPicPr>
          <p:nvPr/>
        </p:nvPicPr>
        <p:blipFill>
          <a:blip r:embed="rId3"/>
          <a:stretch>
            <a:fillRect/>
          </a:stretch>
        </p:blipFill>
        <p:spPr>
          <a:xfrm>
            <a:off x="5638800" y="1828800"/>
            <a:ext cx="3962400" cy="3952898"/>
          </a:xfrm>
          <a:prstGeom prst="roundRect">
            <a:avLst>
              <a:gd name="adj" fmla="val 2500"/>
            </a:avLst>
          </a:prstGeom>
        </p:spPr>
      </p:pic>
      <p:sp>
        <p:nvSpPr>
          <p:cNvPr id="11" name="Statement"/>
          <p:cNvSpPr txBox="1"/>
          <p:nvPr/>
        </p:nvSpPr>
        <p:spPr>
          <a:xfrm>
            <a:off x="508000" y="609600"/>
            <a:ext cx="11176000" cy="609600"/>
          </a:xfrm>
          <a:prstGeom prst="rect">
            <a:avLst/>
          </a:prstGeom>
          <a:noFill/>
        </p:spPr>
        <p:txBody>
          <a:bodyPr wrap="square" lIns="0" tIns="0" rIns="0" bIns="0" rtlCol="0" anchor="t">
            <a:noAutofit/>
          </a:bodyPr>
          <a:lstStyle/>
          <a:p>
            <a:pPr algn="l">
              <a:lnSpc>
                <a:spcPct val="95000"/>
              </a:lnSpc>
            </a:pPr>
            <a:r>
              <a:rPr lang="en-US" sz="3600" b="1" dirty="0">
                <a:solidFill>
                  <a:srgbClr val="FFFFFF"/>
                </a:solidFill>
                <a:latin typeface="Aptos Display"/>
              </a:rPr>
              <a:t>See you at the </a:t>
            </a:r>
            <a:r>
              <a:rPr lang="en-US" sz="3600" b="1" dirty="0">
                <a:solidFill>
                  <a:srgbClr val="FF8A3D"/>
                </a:solidFill>
                <a:latin typeface="Aptos Display"/>
              </a:rPr>
              <a:t>Prague PostgreSQL Meetup</a:t>
            </a:r>
          </a:p>
        </p:txBody>
      </p:sp>
      <p:sp>
        <p:nvSpPr>
          <p:cNvPr id="13" name="RSVP Text"/>
          <p:cNvSpPr txBox="1"/>
          <p:nvPr/>
        </p:nvSpPr>
        <p:spPr>
          <a:xfrm>
            <a:off x="9855200" y="1828800"/>
            <a:ext cx="1625600" cy="3962400"/>
          </a:xfrm>
          <a:prstGeom prst="rect">
            <a:avLst/>
          </a:prstGeom>
          <a:noFill/>
        </p:spPr>
        <p:txBody>
          <a:bodyPr wrap="square" lIns="0" tIns="0" rIns="0" bIns="0" rtlCol="0" anchor="ctr">
            <a:noAutofit/>
          </a:bodyPr>
          <a:lstStyle/>
          <a:p>
            <a:pPr algn="l"/>
            <a:r>
              <a:rPr lang="en-US" sz="4400" b="1" dirty="0">
                <a:solidFill>
                  <a:srgbClr val="F7C548"/>
                </a:solidFill>
                <a:latin typeface="Aptos Display"/>
              </a:rPr>
              <a:t>RSVP</a:t>
            </a:r>
          </a:p>
          <a:p>
            <a:pPr algn="l">
              <a:spcBef>
                <a:spcPts val="600"/>
              </a:spcBef>
            </a:pPr>
            <a:r>
              <a:rPr lang="en-US" sz="1800" dirty="0">
                <a:solidFill>
                  <a:srgbClr val="BEBEBE"/>
                </a:solidFill>
                <a:latin typeface="Aptos"/>
              </a:rPr>
              <a:t>Scan to</a:t>
            </a:r>
            <a:br>
              <a:rPr lang="en-US" sz="1800" dirty="0"/>
            </a:br>
            <a:r>
              <a:rPr lang="en-US" sz="1800" dirty="0">
                <a:solidFill>
                  <a:srgbClr val="BEBEBE"/>
                </a:solidFill>
                <a:latin typeface="Aptos"/>
              </a:rPr>
              <a:t>grab a spot</a:t>
            </a:r>
          </a:p>
        </p:txBody>
      </p:sp>
      <p:sp>
        <p:nvSpPr>
          <p:cNvPr id="14" name="Footer"/>
          <p:cNvSpPr txBox="1"/>
          <p:nvPr/>
        </p:nvSpPr>
        <p:spPr>
          <a:xfrm>
            <a:off x="502920" y="6510020"/>
            <a:ext cx="2377440" cy="165100"/>
          </a:xfrm>
          <a:prstGeom prst="rect">
            <a:avLst/>
          </a:prstGeom>
          <a:noFill/>
        </p:spPr>
        <p:txBody>
          <a:bodyPr wrap="square" lIns="0" tIns="0" rIns="0" bIns="0" rtlCol="0" anchor="t">
            <a:noAutofit/>
          </a:bodyPr>
          <a:lstStyle/>
          <a:p>
            <a:pPr algn="l"/>
            <a:r>
              <a:rPr lang="en-US" sz="750" b="1" dirty="0">
                <a:solidFill>
                  <a:srgbClr val="AAAAAA"/>
                </a:solidFill>
                <a:latin typeface="Aptos"/>
              </a:rPr>
              <a:t>MY DISHONEST BENCHMARK</a:t>
            </a:r>
          </a:p>
        </p:txBody>
      </p:sp>
      <p:sp>
        <p:nvSpPr>
          <p:cNvPr id="15" name="Page"/>
          <p:cNvSpPr txBox="1"/>
          <p:nvPr/>
        </p:nvSpPr>
        <p:spPr>
          <a:xfrm>
            <a:off x="11155680" y="6474460"/>
            <a:ext cx="502920" cy="177800"/>
          </a:xfrm>
          <a:prstGeom prst="rect">
            <a:avLst/>
          </a:prstGeom>
          <a:noFill/>
        </p:spPr>
        <p:txBody>
          <a:bodyPr wrap="square" lIns="0" tIns="0" rIns="0" bIns="0" rtlCol="0" anchor="t">
            <a:noAutofit/>
          </a:bodyPr>
          <a:lstStyle/>
          <a:p>
            <a:pPr algn="r"/>
            <a:r>
              <a:rPr lang="en-US" sz="800" b="1" dirty="0">
                <a:solidFill>
                  <a:srgbClr val="AAAAAA"/>
                </a:solidFill>
                <a:latin typeface="Aptos"/>
              </a:rPr>
              <a:t>46</a:t>
            </a:r>
          </a:p>
        </p:txBody>
      </p:sp>
    </p:spTree>
    <p:extLst>
      <p:ext uri="{BB962C8B-B14F-4D97-AF65-F5344CB8AC3E}">
        <p14:creationId xmlns:p14="http://schemas.microsoft.com/office/powerpoint/2010/main" val="12215508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 dockstate="right" visibility="0" width="438"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9D5F331A-958B-428C-A01E-26662B22EE17}">
  <we:reference id="f5f369e5-aa35-49d7-ad7b-638152ddb008" version="1.0.0.1" store="EXCatalog" storeType="EXCatalog"/>
  <we:alternateReferences>
    <we:reference id="WA200010001" version="1.0.0.1" store="en-US" storeType="OMEX"/>
  </we:alternateReferences>
  <we:properties>
    <we:property name="claude.fileId" value="&quot;cea4c147-deed-4226-844c-7abb5a636a8a&quot;"/>
  </we:properties>
  <we:bindings/>
  <we:snapshot xmlns:r="http://schemas.openxmlformats.org/officeDocument/2006/relationships"/>
</we:webextension>
</file>

<file path=ppt/webextensions/webextension2.xml><?xml version="1.0" encoding="utf-8"?>
<we:webextension xmlns:we="http://schemas.microsoft.com/office/webextensions/webextension/2010/11" id="{E2CA7974-FCC7-4CDF-805B-69794A9DD87B}">
  <we:reference id="11d7cf85-ae5a-43b8-bc58-1e1a151cce24" version="1.0.0.1" store="EXCatalog" storeType="EXCatalog"/>
  <we:alternateReferences>
    <we:reference id="WA200010725" version="1.0.0.1" store="en-US" storeType="OMEX"/>
  </we:alternateReferences>
  <we:properties>
    <we:property name="claude.fileId" value="&quot;693bc343-9f9b-49b7-8014-7903ee9f058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2023</TotalTime>
  <Words>3269</Words>
  <Application>Microsoft Office PowerPoint</Application>
  <PresentationFormat>Widescreen</PresentationFormat>
  <Paragraphs>854</Paragraphs>
  <Slides>64</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64</vt:i4>
      </vt:variant>
    </vt:vector>
  </HeadingPairs>
  <TitlesOfParts>
    <vt:vector size="70" baseType="lpstr">
      <vt:lpstr>Aptos</vt:lpstr>
      <vt:lpstr>Aptos Display</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 Dishonest Benchmark — Cinematic Edition</dc:title>
  <dc:subject>PGConf.Asia 2026</dc:subject>
  <dc:creator>Mayur</dc:creator>
  <cp:keywords/>
  <dc:description>generated using python-pptx</dc:description>
  <cp:lastModifiedBy>Mayuresh Bagayatkar</cp:lastModifiedBy>
  <cp:revision>171</cp:revision>
  <dcterms:created xsi:type="dcterms:W3CDTF">2013-01-27T09:14:16Z</dcterms:created>
  <dcterms:modified xsi:type="dcterms:W3CDTF">2026-10-14T19:41:13Z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fdead9d-6649-4fa7-9fb6-2bb11cac21bf_Enabled">
    <vt:lpwstr>true</vt:lpwstr>
  </property>
  <property fmtid="{D5CDD505-2E9C-101B-9397-08002B2CF9AE}" pid="3" name="MSIP_Label_2fdead9d-6649-4fa7-9fb6-2bb11cac21bf_SetDate">
    <vt:lpwstr>2026-10-04T17:02:37Z</vt:lpwstr>
  </property>
  <property fmtid="{D5CDD505-2E9C-101B-9397-08002B2CF9AE}" pid="4" name="MSIP_Label_2fdead9d-6649-4fa7-9fb6-2bb11cac21bf_Method">
    <vt:lpwstr>Privileged</vt:lpwstr>
  </property>
  <property fmtid="{D5CDD505-2E9C-101B-9397-08002B2CF9AE}" pid="5" name="MSIP_Label_2fdead9d-6649-4fa7-9fb6-2bb11cac21bf_Name">
    <vt:lpwstr>Public</vt:lpwstr>
  </property>
  <property fmtid="{D5CDD505-2E9C-101B-9397-08002B2CF9AE}" pid="6" name="MSIP_Label_2fdead9d-6649-4fa7-9fb6-2bb11cac21bf_SiteId">
    <vt:lpwstr>ba07baab-431b-49ed-add7-cbc3542f5140</vt:lpwstr>
  </property>
  <property fmtid="{D5CDD505-2E9C-101B-9397-08002B2CF9AE}" pid="7" name="MSIP_Label_2fdead9d-6649-4fa7-9fb6-2bb11cac21bf_ActionId">
    <vt:lpwstr>9b88bb74-6520-4872-aebc-ebb5a421b11f</vt:lpwstr>
  </property>
  <property fmtid="{D5CDD505-2E9C-101B-9397-08002B2CF9AE}" pid="8" name="MSIP_Label_2fdead9d-6649-4fa7-9fb6-2bb11cac21bf_ContentBits">
    <vt:lpwstr>0</vt:lpwstr>
  </property>
  <property fmtid="{D5CDD505-2E9C-101B-9397-08002B2CF9AE}" pid="9" name="MSIP_Label_2fdead9d-6649-4fa7-9fb6-2bb11cac21bf_Tag">
    <vt:lpwstr>10, 0, 1, 1</vt:lpwstr>
  </property>
</Properties>
</file>